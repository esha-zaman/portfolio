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310" r:id="rId2"/>
    <p:sldId id="321" r:id="rId3"/>
    <p:sldId id="322" r:id="rId4"/>
    <p:sldId id="312" r:id="rId5"/>
    <p:sldId id="313" r:id="rId6"/>
    <p:sldId id="314" r:id="rId7"/>
    <p:sldId id="315" r:id="rId8"/>
    <p:sldId id="323" r:id="rId9"/>
    <p:sldId id="316" r:id="rId10"/>
    <p:sldId id="317" r:id="rId11"/>
    <p:sldId id="318" r:id="rId12"/>
    <p:sldId id="319" r:id="rId13"/>
    <p:sldId id="320" r:id="rId14"/>
    <p:sldId id="289" r:id="rId15"/>
    <p:sldId id="324" r:id="rId16"/>
    <p:sldId id="351" r:id="rId17"/>
    <p:sldId id="325" r:id="rId18"/>
    <p:sldId id="290" r:id="rId19"/>
    <p:sldId id="326" r:id="rId20"/>
    <p:sldId id="256" r:id="rId21"/>
    <p:sldId id="327" r:id="rId22"/>
    <p:sldId id="328" r:id="rId23"/>
    <p:sldId id="329" r:id="rId24"/>
    <p:sldId id="330" r:id="rId25"/>
    <p:sldId id="307" r:id="rId26"/>
    <p:sldId id="331" r:id="rId27"/>
    <p:sldId id="291" r:id="rId28"/>
  </p:sldIdLst>
  <p:sldSz cx="18288000" cy="10287000"/>
  <p:notesSz cx="6858000" cy="9144000"/>
  <p:embeddedFontLst>
    <p:embeddedFont>
      <p:font typeface="Calibri" panose="020F0502020204030204" pitchFamily="34" charset="0"/>
      <p:regular r:id="rId30"/>
      <p:bold r:id="rId31"/>
      <p:italic r:id="rId32"/>
      <p:boldItalic r:id="rId33"/>
    </p:embeddedFont>
    <p:embeddedFont>
      <p:font typeface="Nourd" panose="020B0604020202020204" charset="0"/>
      <p:regular r:id="rId34"/>
    </p:embeddedFont>
    <p:embeddedFont>
      <p:font typeface="Nourd Bold" panose="020B0604020202020204" charset="0"/>
      <p:regular r:id="rId35"/>
    </p:embeddedFont>
    <p:embeddedFont>
      <p:font typeface="One Little Font" panose="020B0604020202020204" charset="0"/>
      <p:regular r:id="rId36"/>
    </p:embeddedFont>
    <p:embeddedFont>
      <p:font typeface="One Little Font Bold" panose="020B0604020202020204" charset="0"/>
      <p:regular r:id="rId37"/>
    </p:embeddedFont>
    <p:embeddedFont>
      <p:font typeface="Palatino Linotype" panose="02040502050505030304" pitchFamily="18" charset="0"/>
      <p:regular r:id="rId38"/>
      <p:bold r:id="rId39"/>
      <p:italic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C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1028"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BD90C9-C19F-4481-BD81-37F64242DE5D}" type="datetimeFigureOut">
              <a:rPr lang="en-US" smtClean="0"/>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19A5E0-1291-4AA2-B408-2E5978465BBB}" type="slidenum">
              <a:rPr lang="en-US" smtClean="0"/>
              <a:t>‹#›</a:t>
            </a:fld>
            <a:endParaRPr lang="en-US"/>
          </a:p>
        </p:txBody>
      </p:sp>
    </p:spTree>
    <p:extLst>
      <p:ext uri="{BB962C8B-B14F-4D97-AF65-F5344CB8AC3E}">
        <p14:creationId xmlns:p14="http://schemas.microsoft.com/office/powerpoint/2010/main" val="933039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F9DD43-D3BF-4C8B-B123-BE68B2E2CC1E}" type="slidenum">
              <a:rPr lang="en-US" smtClean="0"/>
              <a:t>18</a:t>
            </a:fld>
            <a:endParaRPr lang="en-US"/>
          </a:p>
        </p:txBody>
      </p:sp>
    </p:spTree>
    <p:extLst>
      <p:ext uri="{BB962C8B-B14F-4D97-AF65-F5344CB8AC3E}">
        <p14:creationId xmlns:p14="http://schemas.microsoft.com/office/powerpoint/2010/main" val="2761332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F9DD43-D3BF-4C8B-B123-BE68B2E2CC1E}" type="slidenum">
              <a:rPr lang="en-US" smtClean="0"/>
              <a:t>23</a:t>
            </a:fld>
            <a:endParaRPr lang="en-US"/>
          </a:p>
        </p:txBody>
      </p:sp>
    </p:spTree>
    <p:extLst>
      <p:ext uri="{BB962C8B-B14F-4D97-AF65-F5344CB8AC3E}">
        <p14:creationId xmlns:p14="http://schemas.microsoft.com/office/powerpoint/2010/main" val="214857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Kuo</a:t>
            </a:r>
            <a:r>
              <a:rPr lang="en-US" sz="1200" b="0" i="0" kern="1200" dirty="0">
                <a:solidFill>
                  <a:schemeClr val="tx1"/>
                </a:solidFill>
                <a:effectLst/>
                <a:latin typeface="+mn-lt"/>
                <a:ea typeface="+mn-ea"/>
                <a:cs typeface="+mn-cs"/>
              </a:rPr>
              <a:t>, C. W., Chiu, Y. F., Wu, M. H., Li, M. H., Wu, C. N., Chen, W. S., &amp; Huang, C. H. (2021). Gelatin/chitosan bilayer patches loaded with cortex </a:t>
            </a:r>
            <a:r>
              <a:rPr lang="en-US" sz="1200" b="0" i="0" kern="1200" dirty="0" err="1">
                <a:solidFill>
                  <a:schemeClr val="tx1"/>
                </a:solidFill>
                <a:effectLst/>
                <a:latin typeface="+mn-lt"/>
                <a:ea typeface="+mn-ea"/>
                <a:cs typeface="+mn-cs"/>
              </a:rPr>
              <a:t>Phellodendron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amurense</a:t>
            </a:r>
            <a:r>
              <a:rPr lang="en-US" sz="1200" b="0" i="0" kern="1200" dirty="0">
                <a:solidFill>
                  <a:schemeClr val="tx1"/>
                </a:solidFill>
                <a:effectLst/>
                <a:latin typeface="+mn-lt"/>
                <a:ea typeface="+mn-ea"/>
                <a:cs typeface="+mn-cs"/>
              </a:rPr>
              <a:t>/Centella asiatica extracts for anti-acne application. </a:t>
            </a:r>
            <a:r>
              <a:rPr lang="en-US" sz="1200" b="0" i="1" kern="1200" dirty="0">
                <a:solidFill>
                  <a:schemeClr val="tx1"/>
                </a:solidFill>
                <a:effectLst/>
                <a:latin typeface="+mn-lt"/>
                <a:ea typeface="+mn-ea"/>
                <a:cs typeface="+mn-cs"/>
              </a:rPr>
              <a:t>Polymers</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13</a:t>
            </a:r>
            <a:r>
              <a:rPr lang="en-US" sz="1200" b="0" i="0" kern="1200" dirty="0">
                <a:solidFill>
                  <a:schemeClr val="tx1"/>
                </a:solidFill>
                <a:effectLst/>
                <a:latin typeface="+mn-lt"/>
                <a:ea typeface="+mn-ea"/>
                <a:cs typeface="+mn-cs"/>
              </a:rPr>
              <a:t>(4), 579.</a:t>
            </a:r>
          </a:p>
        </p:txBody>
      </p:sp>
      <p:sp>
        <p:nvSpPr>
          <p:cNvPr id="4" name="Slide Number Placeholder 3"/>
          <p:cNvSpPr>
            <a:spLocks noGrp="1"/>
          </p:cNvSpPr>
          <p:nvPr>
            <p:ph type="sldNum" sz="quarter" idx="5"/>
          </p:nvPr>
        </p:nvSpPr>
        <p:spPr/>
        <p:txBody>
          <a:bodyPr/>
          <a:lstStyle/>
          <a:p>
            <a:fld id="{7A19A5E0-1291-4AA2-B408-2E5978465BBB}" type="slidenum">
              <a:rPr lang="en-US" smtClean="0"/>
              <a:t>24</a:t>
            </a:fld>
            <a:endParaRPr lang="en-US"/>
          </a:p>
        </p:txBody>
      </p:sp>
    </p:spTree>
    <p:extLst>
      <p:ext uri="{BB962C8B-B14F-4D97-AF65-F5344CB8AC3E}">
        <p14:creationId xmlns:p14="http://schemas.microsoft.com/office/powerpoint/2010/main" val="747154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1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png"/><Relationship Id="rId7" Type="http://schemas.openxmlformats.org/officeDocument/2006/relationships/image" Target="../media/image21.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11.svg"/><Relationship Id="rId7" Type="http://schemas.openxmlformats.org/officeDocument/2006/relationships/image" Target="../media/image33.png"/><Relationship Id="rId12"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2.jpg"/><Relationship Id="rId11" Type="http://schemas.openxmlformats.org/officeDocument/2006/relationships/image" Target="../media/image3.png"/><Relationship Id="rId5" Type="http://schemas.openxmlformats.org/officeDocument/2006/relationships/image" Target="../media/image31.svg"/><Relationship Id="rId10" Type="http://schemas.openxmlformats.org/officeDocument/2006/relationships/image" Target="../media/image36.svg"/><Relationship Id="rId4" Type="http://schemas.openxmlformats.org/officeDocument/2006/relationships/image" Target="../media/image30.png"/><Relationship Id="rId9"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slideLayout" Target="../slideLayouts/slideLayout7.xml"/><Relationship Id="rId7" Type="http://schemas.openxmlformats.org/officeDocument/2006/relationships/image" Target="../media/image40.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9.png"/><Relationship Id="rId5" Type="http://schemas.openxmlformats.org/officeDocument/2006/relationships/image" Target="../media/image38.sv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svg"/></Relationships>
</file>

<file path=ppt/slides/_rels/slide1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7.png"/><Relationship Id="rId7" Type="http://schemas.openxmlformats.org/officeDocument/2006/relationships/image" Target="../media/image49.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8.jpg"/><Relationship Id="rId5" Type="http://schemas.openxmlformats.org/officeDocument/2006/relationships/image" Target="../media/image45.svg"/><Relationship Id="rId4" Type="http://schemas.openxmlformats.org/officeDocument/2006/relationships/image" Target="../media/image44.png"/><Relationship Id="rId9" Type="http://schemas.openxmlformats.org/officeDocument/2006/relationships/image" Target="../media/image4.svg"/></Relationships>
</file>

<file path=ppt/slides/_rels/slide19.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40.svg"/><Relationship Id="rId4" Type="http://schemas.openxmlformats.org/officeDocument/2006/relationships/image" Target="../media/image51.png"/><Relationship Id="rId9" Type="http://schemas.openxmlformats.org/officeDocument/2006/relationships/image" Target="../media/image54.jpeg"/></Relationships>
</file>

<file path=ppt/slides/_rels/slide20.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5.png"/><Relationship Id="rId7" Type="http://schemas.openxmlformats.org/officeDocument/2006/relationships/image" Target="../media/image57.png"/><Relationship Id="rId2" Type="http://schemas.openxmlformats.org/officeDocument/2006/relationships/image" Target="../media/image62.jpeg"/><Relationship Id="rId1" Type="http://schemas.openxmlformats.org/officeDocument/2006/relationships/slideLayout" Target="../slideLayouts/slideLayout7.xml"/><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6.svg"/><Relationship Id="rId9" Type="http://schemas.openxmlformats.org/officeDocument/2006/relationships/image" Target="../media/image61.jpeg"/></Relationships>
</file>

<file path=ppt/slides/_rels/slide22.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image" Target="../media/image56.svg"/><Relationship Id="rId7" Type="http://schemas.openxmlformats.org/officeDocument/2006/relationships/image" Target="../media/image58.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60.svg"/><Relationship Id="rId4" Type="http://schemas.openxmlformats.org/officeDocument/2006/relationships/image" Target="../media/image59.png"/><Relationship Id="rId9" Type="http://schemas.openxmlformats.org/officeDocument/2006/relationships/image" Target="../media/image62.jpeg"/></Relationships>
</file>

<file path=ppt/slides/_rels/slide2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5.png"/><Relationship Id="rId7" Type="http://schemas.openxmlformats.org/officeDocument/2006/relationships/image" Target="../media/image5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0.svg"/><Relationship Id="rId11" Type="http://schemas.openxmlformats.org/officeDocument/2006/relationships/image" Target="../media/image63.jpeg"/><Relationship Id="rId5" Type="http://schemas.openxmlformats.org/officeDocument/2006/relationships/image" Target="../media/image59.png"/><Relationship Id="rId10" Type="http://schemas.openxmlformats.org/officeDocument/2006/relationships/image" Target="../media/image62.jpeg"/><Relationship Id="rId4" Type="http://schemas.openxmlformats.org/officeDocument/2006/relationships/image" Target="../media/image56.svg"/><Relationship Id="rId9" Type="http://schemas.openxmlformats.org/officeDocument/2006/relationships/image" Target="../media/image61.jpeg"/></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5.svg"/></Relationships>
</file>

<file path=ppt/slides/_rels/slide2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svg"/><Relationship Id="rId4" Type="http://schemas.openxmlformats.org/officeDocument/2006/relationships/image" Target="../media/image66.png"/></Relationships>
</file>

<file path=ppt/slides/_rels/slide26.xml.rels><?xml version="1.0" encoding="UTF-8" standalone="yes"?>
<Relationships xmlns="http://schemas.openxmlformats.org/package/2006/relationships"><Relationship Id="rId8" Type="http://schemas.openxmlformats.org/officeDocument/2006/relationships/hyperlink" Target="https://www.researchgate.net/publication/359151917_Nanotechnology_in_Cosmetics_and_Cosmeceuticals-A_Review_of_Latest_Advancements" TargetMode="External"/><Relationship Id="rId3" Type="http://schemas.openxmlformats.org/officeDocument/2006/relationships/image" Target="../media/image70.svg"/><Relationship Id="rId7" Type="http://schemas.openxmlformats.org/officeDocument/2006/relationships/hyperlink" Target="https://www.ncbi.nlm.nih.gov/pmc/articles/PMC7279536/" TargetMode="External"/><Relationship Id="rId12" Type="http://schemas.openxmlformats.org/officeDocument/2006/relationships/hyperlink" Target="https://www.linkedin.com/feed/update/urn:li:activity:7163510384291749888/" TargetMode="External"/><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hyperlink" Target="https://www.mdpi.com/1660-4601/17/17/6088" TargetMode="External"/><Relationship Id="rId11" Type="http://schemas.openxmlformats.org/officeDocument/2006/relationships/hyperlink" Target="https://www.cosmeticsdesign.com/Article/2007/10/11/TRI-K-launches-nano-emulsion-in-a-gel" TargetMode="External"/><Relationship Id="rId5" Type="http://schemas.openxmlformats.org/officeDocument/2006/relationships/hyperlink" Target="https://www.sciencedirect.com/science/article/abs/pii/S2468519421002895" TargetMode="External"/><Relationship Id="rId10" Type="http://schemas.openxmlformats.org/officeDocument/2006/relationships/hyperlink" Target="https://chaileedo.com/koreas-kolmar-to-develop-first-gold-nano-sunscreen-product/" TargetMode="External"/><Relationship Id="rId4" Type="http://schemas.openxmlformats.org/officeDocument/2006/relationships/hyperlink" Target="https://breylee.com/products/acne-pimple-patch-for-night" TargetMode="External"/><Relationship Id="rId9" Type="http://schemas.openxmlformats.org/officeDocument/2006/relationships/hyperlink" Target="https://www.youtube.com/watch?v=zu499ocrEHo"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jpeg"/><Relationship Id="rId1" Type="http://schemas.openxmlformats.org/officeDocument/2006/relationships/slideLayout" Target="../slideLayouts/slideLayout7.xml"/><Relationship Id="rId6" Type="http://schemas.openxmlformats.org/officeDocument/2006/relationships/image" Target="../media/image75.svg"/><Relationship Id="rId5" Type="http://schemas.openxmlformats.org/officeDocument/2006/relationships/image" Target="../media/image74.png"/><Relationship Id="rId10" Type="http://schemas.openxmlformats.org/officeDocument/2006/relationships/image" Target="../media/image79.svg"/><Relationship Id="rId4" Type="http://schemas.openxmlformats.org/officeDocument/2006/relationships/image" Target="../media/image73.svg"/><Relationship Id="rId9"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0428" y="-6310453"/>
            <a:ext cx="19268855" cy="10838731"/>
          </a:xfrm>
          <a:custGeom>
            <a:avLst/>
            <a:gdLst/>
            <a:ahLst/>
            <a:cxnLst/>
            <a:rect l="l" t="t" r="r" b="b"/>
            <a:pathLst>
              <a:path w="19268855" h="10838731">
                <a:moveTo>
                  <a:pt x="0" y="0"/>
                </a:moveTo>
                <a:lnTo>
                  <a:pt x="19268856" y="0"/>
                </a:lnTo>
                <a:lnTo>
                  <a:pt x="19268856" y="10838731"/>
                </a:lnTo>
                <a:lnTo>
                  <a:pt x="0" y="10838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42530" y="4047696"/>
            <a:ext cx="18288000" cy="6334554"/>
            <a:chOff x="0" y="0"/>
            <a:chExt cx="4816593" cy="1668360"/>
          </a:xfrm>
        </p:grpSpPr>
        <p:sp>
          <p:nvSpPr>
            <p:cNvPr id="4" name="Freeform 4"/>
            <p:cNvSpPr/>
            <p:nvPr/>
          </p:nvSpPr>
          <p:spPr>
            <a:xfrm>
              <a:off x="0" y="0"/>
              <a:ext cx="4816592" cy="1668360"/>
            </a:xfrm>
            <a:custGeom>
              <a:avLst/>
              <a:gdLst/>
              <a:ahLst/>
              <a:cxnLst/>
              <a:rect l="l" t="t" r="r" b="b"/>
              <a:pathLst>
                <a:path w="4816592" h="1668360">
                  <a:moveTo>
                    <a:pt x="0" y="0"/>
                  </a:moveTo>
                  <a:lnTo>
                    <a:pt x="4816592" y="0"/>
                  </a:lnTo>
                  <a:lnTo>
                    <a:pt x="4816592" y="1668360"/>
                  </a:lnTo>
                  <a:lnTo>
                    <a:pt x="0" y="1668360"/>
                  </a:lnTo>
                  <a:close/>
                </a:path>
              </a:pathLst>
            </a:custGeom>
            <a:solidFill>
              <a:srgbClr val="A9B7ED"/>
            </a:solidFill>
            <a:ln cap="sq">
              <a:noFill/>
              <a:prstDash val="solid"/>
              <a:miter/>
            </a:ln>
          </p:spPr>
        </p:sp>
        <p:sp>
          <p:nvSpPr>
            <p:cNvPr id="5" name="TextBox 5"/>
            <p:cNvSpPr txBox="1"/>
            <p:nvPr/>
          </p:nvSpPr>
          <p:spPr>
            <a:xfrm>
              <a:off x="0" y="-28575"/>
              <a:ext cx="4816593" cy="1696935"/>
            </a:xfrm>
            <a:prstGeom prst="rect">
              <a:avLst/>
            </a:prstGeom>
          </p:spPr>
          <p:txBody>
            <a:bodyPr lIns="50800" tIns="50800" rIns="50800" bIns="50800" rtlCol="0" anchor="ctr"/>
            <a:lstStyle/>
            <a:p>
              <a:pPr marL="0" lvl="0" indent="0" algn="ctr">
                <a:lnSpc>
                  <a:spcPts val="3249"/>
                </a:lnSpc>
                <a:spcBef>
                  <a:spcPct val="0"/>
                </a:spcBef>
              </a:pPr>
              <a:endParaRPr/>
            </a:p>
          </p:txBody>
        </p:sp>
      </p:grpSp>
      <p:grpSp>
        <p:nvGrpSpPr>
          <p:cNvPr id="6" name="Group 6"/>
          <p:cNvGrpSpPr/>
          <p:nvPr/>
        </p:nvGrpSpPr>
        <p:grpSpPr>
          <a:xfrm>
            <a:off x="0" y="0"/>
            <a:ext cx="18288000" cy="6334554"/>
            <a:chOff x="0" y="0"/>
            <a:chExt cx="4816593" cy="1668360"/>
          </a:xfrm>
        </p:grpSpPr>
        <p:sp>
          <p:nvSpPr>
            <p:cNvPr id="7" name="Freeform 7"/>
            <p:cNvSpPr/>
            <p:nvPr/>
          </p:nvSpPr>
          <p:spPr>
            <a:xfrm>
              <a:off x="0" y="0"/>
              <a:ext cx="4816592" cy="1668360"/>
            </a:xfrm>
            <a:custGeom>
              <a:avLst/>
              <a:gdLst/>
              <a:ahLst/>
              <a:cxnLst/>
              <a:rect l="l" t="t" r="r" b="b"/>
              <a:pathLst>
                <a:path w="4816592" h="1668360">
                  <a:moveTo>
                    <a:pt x="0" y="0"/>
                  </a:moveTo>
                  <a:lnTo>
                    <a:pt x="4816592" y="0"/>
                  </a:lnTo>
                  <a:lnTo>
                    <a:pt x="4816592" y="1668360"/>
                  </a:lnTo>
                  <a:lnTo>
                    <a:pt x="0" y="1668360"/>
                  </a:lnTo>
                  <a:close/>
                </a:path>
              </a:pathLst>
            </a:custGeom>
            <a:solidFill>
              <a:srgbClr val="A9B7ED"/>
            </a:solidFill>
            <a:ln cap="sq">
              <a:noFill/>
              <a:prstDash val="solid"/>
              <a:miter/>
            </a:ln>
          </p:spPr>
        </p:sp>
        <p:sp>
          <p:nvSpPr>
            <p:cNvPr id="8" name="TextBox 8"/>
            <p:cNvSpPr txBox="1"/>
            <p:nvPr/>
          </p:nvSpPr>
          <p:spPr>
            <a:xfrm>
              <a:off x="0" y="-28575"/>
              <a:ext cx="4816593" cy="1696935"/>
            </a:xfrm>
            <a:prstGeom prst="rect">
              <a:avLst/>
            </a:prstGeom>
          </p:spPr>
          <p:txBody>
            <a:bodyPr lIns="50800" tIns="50800" rIns="50800" bIns="50800" rtlCol="0" anchor="ctr"/>
            <a:lstStyle/>
            <a:p>
              <a:pPr marL="0" lvl="0" indent="0" algn="ctr">
                <a:lnSpc>
                  <a:spcPts val="3249"/>
                </a:lnSpc>
                <a:spcBef>
                  <a:spcPct val="0"/>
                </a:spcBef>
              </a:pPr>
              <a:endParaRPr/>
            </a:p>
          </p:txBody>
        </p:sp>
      </p:grpSp>
      <p:sp>
        <p:nvSpPr>
          <p:cNvPr id="9" name="Freeform 9"/>
          <p:cNvSpPr/>
          <p:nvPr/>
        </p:nvSpPr>
        <p:spPr>
          <a:xfrm rot="-9396796">
            <a:off x="3409993" y="8500136"/>
            <a:ext cx="2640152" cy="2443341"/>
          </a:xfrm>
          <a:custGeom>
            <a:avLst/>
            <a:gdLst/>
            <a:ahLst/>
            <a:cxnLst/>
            <a:rect l="l" t="t" r="r" b="b"/>
            <a:pathLst>
              <a:path w="2640152" h="2443341">
                <a:moveTo>
                  <a:pt x="0" y="0"/>
                </a:moveTo>
                <a:lnTo>
                  <a:pt x="2640152" y="0"/>
                </a:lnTo>
                <a:lnTo>
                  <a:pt x="2640152" y="2443341"/>
                </a:lnTo>
                <a:lnTo>
                  <a:pt x="0" y="24433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8224490" y="-7712447"/>
            <a:ext cx="1655421" cy="5324454"/>
          </a:xfrm>
          <a:custGeom>
            <a:avLst/>
            <a:gdLst/>
            <a:ahLst/>
            <a:cxnLst/>
            <a:rect l="l" t="t" r="r" b="b"/>
            <a:pathLst>
              <a:path w="1655421" h="5324454">
                <a:moveTo>
                  <a:pt x="0" y="0"/>
                </a:moveTo>
                <a:lnTo>
                  <a:pt x="1655421" y="0"/>
                </a:lnTo>
                <a:lnTo>
                  <a:pt x="1655421" y="5324454"/>
                </a:lnTo>
                <a:lnTo>
                  <a:pt x="0" y="53244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5377759" y="-388162"/>
            <a:ext cx="4325036" cy="2374838"/>
          </a:xfrm>
          <a:custGeom>
            <a:avLst/>
            <a:gdLst/>
            <a:ahLst/>
            <a:cxnLst/>
            <a:rect l="l" t="t" r="r" b="b"/>
            <a:pathLst>
              <a:path w="4325036" h="2374838">
                <a:moveTo>
                  <a:pt x="0" y="0"/>
                </a:moveTo>
                <a:lnTo>
                  <a:pt x="4325036" y="0"/>
                </a:lnTo>
                <a:lnTo>
                  <a:pt x="4325036" y="2374838"/>
                </a:lnTo>
                <a:lnTo>
                  <a:pt x="0" y="237483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4114800" y="0"/>
            <a:ext cx="10898896" cy="10898896"/>
          </a:xfrm>
          <a:custGeom>
            <a:avLst/>
            <a:gdLst/>
            <a:ahLst/>
            <a:cxnLst/>
            <a:rect l="l" t="t" r="r" b="b"/>
            <a:pathLst>
              <a:path w="10898896" h="10898896">
                <a:moveTo>
                  <a:pt x="0" y="0"/>
                </a:moveTo>
                <a:lnTo>
                  <a:pt x="10898896" y="0"/>
                </a:lnTo>
                <a:lnTo>
                  <a:pt x="10898896" y="10898896"/>
                </a:lnTo>
                <a:lnTo>
                  <a:pt x="0" y="10898896"/>
                </a:lnTo>
                <a:lnTo>
                  <a:pt x="0" y="0"/>
                </a:lnTo>
                <a:close/>
              </a:path>
            </a:pathLst>
          </a:custGeom>
          <a:blipFill>
            <a:blip r:embed="rId10"/>
            <a:stretch>
              <a:fillRect/>
            </a:stretch>
          </a:blipFill>
        </p:spPr>
      </p:sp>
      <p:sp>
        <p:nvSpPr>
          <p:cNvPr id="13" name="TextBox 13"/>
          <p:cNvSpPr txBox="1"/>
          <p:nvPr/>
        </p:nvSpPr>
        <p:spPr>
          <a:xfrm>
            <a:off x="3403694" y="1490918"/>
            <a:ext cx="14990403" cy="3529186"/>
          </a:xfrm>
          <a:prstGeom prst="rect">
            <a:avLst/>
          </a:prstGeom>
        </p:spPr>
        <p:txBody>
          <a:bodyPr lIns="0" tIns="0" rIns="0" bIns="0" rtlCol="0" anchor="t">
            <a:spAutoFit/>
          </a:bodyPr>
          <a:lstStyle/>
          <a:p>
            <a:pPr algn="ctr">
              <a:lnSpc>
                <a:spcPts val="13762"/>
              </a:lnSpc>
            </a:pPr>
            <a:r>
              <a:rPr lang="en-US" sz="12626" spc="-252" dirty="0">
                <a:solidFill>
                  <a:srgbClr val="FFFFFF"/>
                </a:solidFill>
                <a:latin typeface="One Little Font Bold"/>
              </a:rPr>
              <a:t>Nanotechnology in cosmetics</a:t>
            </a:r>
          </a:p>
        </p:txBody>
      </p:sp>
      <p:sp>
        <p:nvSpPr>
          <p:cNvPr id="14" name="TextBox 14"/>
          <p:cNvSpPr txBox="1"/>
          <p:nvPr/>
        </p:nvSpPr>
        <p:spPr>
          <a:xfrm>
            <a:off x="5576851" y="5646193"/>
            <a:ext cx="11054270" cy="2821285"/>
          </a:xfrm>
          <a:prstGeom prst="rect">
            <a:avLst/>
          </a:prstGeom>
        </p:spPr>
        <p:txBody>
          <a:bodyPr wrap="square" lIns="0" tIns="0" rIns="0" bIns="0" rtlCol="0" anchor="t">
            <a:spAutoFit/>
          </a:bodyPr>
          <a:lstStyle/>
          <a:p>
            <a:pPr algn="just">
              <a:lnSpc>
                <a:spcPts val="4439"/>
              </a:lnSpc>
            </a:pPr>
            <a:endParaRPr dirty="0"/>
          </a:p>
          <a:p>
            <a:pPr algn="ctr">
              <a:lnSpc>
                <a:spcPts val="4439"/>
              </a:lnSpc>
            </a:pPr>
            <a:r>
              <a:rPr lang="en-US" sz="3699" b="1" spc="-73" dirty="0">
                <a:solidFill>
                  <a:srgbClr val="FFF5AC"/>
                </a:solidFill>
                <a:latin typeface="Nourd Bold"/>
              </a:rPr>
              <a:t>DBS BIOTECHNOLOGY</a:t>
            </a:r>
          </a:p>
          <a:p>
            <a:pPr algn="ctr">
              <a:lnSpc>
                <a:spcPts val="4439"/>
              </a:lnSpc>
            </a:pPr>
            <a:endParaRPr lang="en-US" sz="3699" b="1" spc="-73" dirty="0">
              <a:solidFill>
                <a:srgbClr val="FFF5AC"/>
              </a:solidFill>
              <a:latin typeface="Nourd Bold"/>
            </a:endParaRPr>
          </a:p>
          <a:p>
            <a:pPr algn="ctr">
              <a:lnSpc>
                <a:spcPts val="4439"/>
              </a:lnSpc>
            </a:pPr>
            <a:r>
              <a:rPr lang="en-US" sz="3699" b="1" spc="-73" dirty="0">
                <a:solidFill>
                  <a:srgbClr val="FFF5AC"/>
                </a:solidFill>
                <a:latin typeface="Nourd Bold"/>
              </a:rPr>
              <a:t>5TH SEMESTER</a:t>
            </a:r>
          </a:p>
          <a:p>
            <a:pPr algn="just">
              <a:lnSpc>
                <a:spcPts val="4439"/>
              </a:lnSpc>
            </a:pPr>
            <a:endParaRPr lang="en-US" sz="3699" spc="-73" dirty="0">
              <a:solidFill>
                <a:srgbClr val="FFF5AC"/>
              </a:solidFill>
              <a:latin typeface="Nourd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7175" y="0"/>
            <a:ext cx="19268855" cy="10838731"/>
          </a:xfrm>
          <a:custGeom>
            <a:avLst/>
            <a:gdLst/>
            <a:ahLst/>
            <a:cxnLst/>
            <a:rect l="l" t="t" r="r" b="b"/>
            <a:pathLst>
              <a:path w="19268855" h="10838731">
                <a:moveTo>
                  <a:pt x="0" y="0"/>
                </a:moveTo>
                <a:lnTo>
                  <a:pt x="19268855" y="0"/>
                </a:lnTo>
                <a:lnTo>
                  <a:pt x="19268855" y="10838731"/>
                </a:lnTo>
                <a:lnTo>
                  <a:pt x="0" y="108387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3">
            <a:extLst>
              <a:ext uri="{FF2B5EF4-FFF2-40B4-BE49-F238E27FC236}">
                <a16:creationId xmlns:a16="http://schemas.microsoft.com/office/drawing/2014/main" id="{2D1C4ADD-5DC8-4CC6-84EA-F3B6DE226717}"/>
              </a:ext>
            </a:extLst>
          </p:cNvPr>
          <p:cNvGrpSpPr/>
          <p:nvPr/>
        </p:nvGrpSpPr>
        <p:grpSpPr>
          <a:xfrm>
            <a:off x="9143999" y="-6016"/>
            <a:ext cx="9778923" cy="10927670"/>
            <a:chOff x="0" y="0"/>
            <a:chExt cx="2575519" cy="2878069"/>
          </a:xfrm>
        </p:grpSpPr>
        <p:sp>
          <p:nvSpPr>
            <p:cNvPr id="15" name="Freeform 4">
              <a:extLst>
                <a:ext uri="{FF2B5EF4-FFF2-40B4-BE49-F238E27FC236}">
                  <a16:creationId xmlns:a16="http://schemas.microsoft.com/office/drawing/2014/main" id="{E470FFFD-E6B4-400D-A39A-F9B332E81B4F}"/>
                </a:ext>
              </a:extLst>
            </p:cNvPr>
            <p:cNvSpPr/>
            <p:nvPr/>
          </p:nvSpPr>
          <p:spPr>
            <a:xfrm>
              <a:off x="0" y="0"/>
              <a:ext cx="2575519" cy="2878069"/>
            </a:xfrm>
            <a:custGeom>
              <a:avLst/>
              <a:gdLst/>
              <a:ahLst/>
              <a:cxnLst/>
              <a:rect l="l" t="t" r="r" b="b"/>
              <a:pathLst>
                <a:path w="2575519" h="2878069">
                  <a:moveTo>
                    <a:pt x="40376" y="0"/>
                  </a:moveTo>
                  <a:lnTo>
                    <a:pt x="2535142" y="0"/>
                  </a:lnTo>
                  <a:cubicBezTo>
                    <a:pt x="2545851" y="0"/>
                    <a:pt x="2556121" y="4254"/>
                    <a:pt x="2563693" y="11826"/>
                  </a:cubicBezTo>
                  <a:cubicBezTo>
                    <a:pt x="2571265" y="19398"/>
                    <a:pt x="2575519" y="29668"/>
                    <a:pt x="2575519" y="40376"/>
                  </a:cubicBezTo>
                  <a:lnTo>
                    <a:pt x="2575519" y="2837693"/>
                  </a:lnTo>
                  <a:cubicBezTo>
                    <a:pt x="2575519" y="2848401"/>
                    <a:pt x="2571265" y="2858671"/>
                    <a:pt x="2563693" y="2866243"/>
                  </a:cubicBezTo>
                  <a:cubicBezTo>
                    <a:pt x="2556121" y="2873815"/>
                    <a:pt x="2545851" y="2878069"/>
                    <a:pt x="2535142" y="2878069"/>
                  </a:cubicBezTo>
                  <a:lnTo>
                    <a:pt x="40376" y="2878069"/>
                  </a:lnTo>
                  <a:cubicBezTo>
                    <a:pt x="18077" y="2878069"/>
                    <a:pt x="0" y="2859992"/>
                    <a:pt x="0" y="2837693"/>
                  </a:cubicBezTo>
                  <a:lnTo>
                    <a:pt x="0" y="40376"/>
                  </a:lnTo>
                  <a:cubicBezTo>
                    <a:pt x="0" y="18077"/>
                    <a:pt x="18077" y="0"/>
                    <a:pt x="40376" y="0"/>
                  </a:cubicBezTo>
                  <a:close/>
                </a:path>
              </a:pathLst>
            </a:custGeom>
            <a:solidFill>
              <a:srgbClr val="D0E4E3"/>
            </a:solidFill>
            <a:ln cap="rnd">
              <a:noFill/>
              <a:prstDash val="solid"/>
              <a:round/>
            </a:ln>
          </p:spPr>
        </p:sp>
        <p:sp>
          <p:nvSpPr>
            <p:cNvPr id="16" name="TextBox 5">
              <a:extLst>
                <a:ext uri="{FF2B5EF4-FFF2-40B4-BE49-F238E27FC236}">
                  <a16:creationId xmlns:a16="http://schemas.microsoft.com/office/drawing/2014/main" id="{7BB4488B-9B1F-4C49-91CB-11C66A644EE6}"/>
                </a:ext>
              </a:extLst>
            </p:cNvPr>
            <p:cNvSpPr txBox="1"/>
            <p:nvPr/>
          </p:nvSpPr>
          <p:spPr>
            <a:xfrm>
              <a:off x="0" y="-28575"/>
              <a:ext cx="2575519" cy="2906644"/>
            </a:xfrm>
            <a:prstGeom prst="rect">
              <a:avLst/>
            </a:prstGeom>
          </p:spPr>
          <p:txBody>
            <a:bodyPr lIns="50800" tIns="50800" rIns="50800" bIns="50800" rtlCol="0" anchor="ctr"/>
            <a:lstStyle/>
            <a:p>
              <a:pPr marL="0" lvl="0" indent="0" algn="ctr">
                <a:lnSpc>
                  <a:spcPts val="3249"/>
                </a:lnSpc>
                <a:spcBef>
                  <a:spcPct val="0"/>
                </a:spcBef>
              </a:pPr>
              <a:endParaRPr/>
            </a:p>
          </p:txBody>
        </p:sp>
      </p:grpSp>
      <p:grpSp>
        <p:nvGrpSpPr>
          <p:cNvPr id="3" name="Group 3"/>
          <p:cNvGrpSpPr/>
          <p:nvPr/>
        </p:nvGrpSpPr>
        <p:grpSpPr>
          <a:xfrm>
            <a:off x="4254539" y="-440651"/>
            <a:ext cx="9778923" cy="10927670"/>
            <a:chOff x="0" y="0"/>
            <a:chExt cx="2575519" cy="2878069"/>
          </a:xfrm>
        </p:grpSpPr>
        <p:sp>
          <p:nvSpPr>
            <p:cNvPr id="4" name="Freeform 4"/>
            <p:cNvSpPr/>
            <p:nvPr/>
          </p:nvSpPr>
          <p:spPr>
            <a:xfrm>
              <a:off x="0" y="0"/>
              <a:ext cx="2575519" cy="2878069"/>
            </a:xfrm>
            <a:custGeom>
              <a:avLst/>
              <a:gdLst/>
              <a:ahLst/>
              <a:cxnLst/>
              <a:rect l="l" t="t" r="r" b="b"/>
              <a:pathLst>
                <a:path w="2575519" h="2878069">
                  <a:moveTo>
                    <a:pt x="40376" y="0"/>
                  </a:moveTo>
                  <a:lnTo>
                    <a:pt x="2535142" y="0"/>
                  </a:lnTo>
                  <a:cubicBezTo>
                    <a:pt x="2545851" y="0"/>
                    <a:pt x="2556121" y="4254"/>
                    <a:pt x="2563693" y="11826"/>
                  </a:cubicBezTo>
                  <a:cubicBezTo>
                    <a:pt x="2571265" y="19398"/>
                    <a:pt x="2575519" y="29668"/>
                    <a:pt x="2575519" y="40376"/>
                  </a:cubicBezTo>
                  <a:lnTo>
                    <a:pt x="2575519" y="2837693"/>
                  </a:lnTo>
                  <a:cubicBezTo>
                    <a:pt x="2575519" y="2848401"/>
                    <a:pt x="2571265" y="2858671"/>
                    <a:pt x="2563693" y="2866243"/>
                  </a:cubicBezTo>
                  <a:cubicBezTo>
                    <a:pt x="2556121" y="2873815"/>
                    <a:pt x="2545851" y="2878069"/>
                    <a:pt x="2535142" y="2878069"/>
                  </a:cubicBezTo>
                  <a:lnTo>
                    <a:pt x="40376" y="2878069"/>
                  </a:lnTo>
                  <a:cubicBezTo>
                    <a:pt x="18077" y="2878069"/>
                    <a:pt x="0" y="2859992"/>
                    <a:pt x="0" y="2837693"/>
                  </a:cubicBezTo>
                  <a:lnTo>
                    <a:pt x="0" y="40376"/>
                  </a:lnTo>
                  <a:cubicBezTo>
                    <a:pt x="0" y="18077"/>
                    <a:pt x="18077" y="0"/>
                    <a:pt x="40376" y="0"/>
                  </a:cubicBezTo>
                  <a:close/>
                </a:path>
              </a:pathLst>
            </a:custGeom>
            <a:solidFill>
              <a:srgbClr val="D0E4E3"/>
            </a:solidFill>
            <a:ln cap="rnd">
              <a:noFill/>
              <a:prstDash val="solid"/>
              <a:round/>
            </a:ln>
          </p:spPr>
        </p:sp>
        <p:sp>
          <p:nvSpPr>
            <p:cNvPr id="5" name="TextBox 5"/>
            <p:cNvSpPr txBox="1"/>
            <p:nvPr/>
          </p:nvSpPr>
          <p:spPr>
            <a:xfrm>
              <a:off x="0" y="-28575"/>
              <a:ext cx="2575519" cy="2906644"/>
            </a:xfrm>
            <a:prstGeom prst="rect">
              <a:avLst/>
            </a:prstGeom>
          </p:spPr>
          <p:txBody>
            <a:bodyPr lIns="50800" tIns="50800" rIns="50800" bIns="50800" rtlCol="0" anchor="ctr"/>
            <a:lstStyle/>
            <a:p>
              <a:pPr marL="0" lvl="0" indent="0" algn="ctr">
                <a:lnSpc>
                  <a:spcPts val="3249"/>
                </a:lnSpc>
                <a:spcBef>
                  <a:spcPct val="0"/>
                </a:spcBef>
              </a:pPr>
              <a:endParaRPr/>
            </a:p>
          </p:txBody>
        </p:sp>
      </p:grpSp>
      <p:grpSp>
        <p:nvGrpSpPr>
          <p:cNvPr id="17" name="Group 3">
            <a:extLst>
              <a:ext uri="{FF2B5EF4-FFF2-40B4-BE49-F238E27FC236}">
                <a16:creationId xmlns:a16="http://schemas.microsoft.com/office/drawing/2014/main" id="{D6AAC299-97B8-418B-B010-D6076D6499E0}"/>
              </a:ext>
            </a:extLst>
          </p:cNvPr>
          <p:cNvGrpSpPr/>
          <p:nvPr/>
        </p:nvGrpSpPr>
        <p:grpSpPr>
          <a:xfrm>
            <a:off x="-558305" y="-188946"/>
            <a:ext cx="9778923" cy="10927670"/>
            <a:chOff x="0" y="0"/>
            <a:chExt cx="2575519" cy="2878069"/>
          </a:xfrm>
        </p:grpSpPr>
        <p:sp>
          <p:nvSpPr>
            <p:cNvPr id="18" name="Freeform 4">
              <a:extLst>
                <a:ext uri="{FF2B5EF4-FFF2-40B4-BE49-F238E27FC236}">
                  <a16:creationId xmlns:a16="http://schemas.microsoft.com/office/drawing/2014/main" id="{52A1E26D-95D7-4748-8604-6AEF3ECDEF60}"/>
                </a:ext>
              </a:extLst>
            </p:cNvPr>
            <p:cNvSpPr/>
            <p:nvPr/>
          </p:nvSpPr>
          <p:spPr>
            <a:xfrm>
              <a:off x="0" y="0"/>
              <a:ext cx="2575519" cy="2878069"/>
            </a:xfrm>
            <a:custGeom>
              <a:avLst/>
              <a:gdLst/>
              <a:ahLst/>
              <a:cxnLst/>
              <a:rect l="l" t="t" r="r" b="b"/>
              <a:pathLst>
                <a:path w="2575519" h="2878069">
                  <a:moveTo>
                    <a:pt x="40376" y="0"/>
                  </a:moveTo>
                  <a:lnTo>
                    <a:pt x="2535142" y="0"/>
                  </a:lnTo>
                  <a:cubicBezTo>
                    <a:pt x="2545851" y="0"/>
                    <a:pt x="2556121" y="4254"/>
                    <a:pt x="2563693" y="11826"/>
                  </a:cubicBezTo>
                  <a:cubicBezTo>
                    <a:pt x="2571265" y="19398"/>
                    <a:pt x="2575519" y="29668"/>
                    <a:pt x="2575519" y="40376"/>
                  </a:cubicBezTo>
                  <a:lnTo>
                    <a:pt x="2575519" y="2837693"/>
                  </a:lnTo>
                  <a:cubicBezTo>
                    <a:pt x="2575519" y="2848401"/>
                    <a:pt x="2571265" y="2858671"/>
                    <a:pt x="2563693" y="2866243"/>
                  </a:cubicBezTo>
                  <a:cubicBezTo>
                    <a:pt x="2556121" y="2873815"/>
                    <a:pt x="2545851" y="2878069"/>
                    <a:pt x="2535142" y="2878069"/>
                  </a:cubicBezTo>
                  <a:lnTo>
                    <a:pt x="40376" y="2878069"/>
                  </a:lnTo>
                  <a:cubicBezTo>
                    <a:pt x="18077" y="2878069"/>
                    <a:pt x="0" y="2859992"/>
                    <a:pt x="0" y="2837693"/>
                  </a:cubicBezTo>
                  <a:lnTo>
                    <a:pt x="0" y="40376"/>
                  </a:lnTo>
                  <a:cubicBezTo>
                    <a:pt x="0" y="18077"/>
                    <a:pt x="18077" y="0"/>
                    <a:pt x="40376" y="0"/>
                  </a:cubicBezTo>
                  <a:close/>
                </a:path>
              </a:pathLst>
            </a:custGeom>
            <a:solidFill>
              <a:srgbClr val="D0E4E3"/>
            </a:solidFill>
            <a:ln cap="rnd">
              <a:noFill/>
              <a:prstDash val="solid"/>
              <a:round/>
            </a:ln>
          </p:spPr>
        </p:sp>
        <p:sp>
          <p:nvSpPr>
            <p:cNvPr id="19" name="TextBox 5">
              <a:extLst>
                <a:ext uri="{FF2B5EF4-FFF2-40B4-BE49-F238E27FC236}">
                  <a16:creationId xmlns:a16="http://schemas.microsoft.com/office/drawing/2014/main" id="{DD05C07D-083E-490D-88BE-37A351626574}"/>
                </a:ext>
              </a:extLst>
            </p:cNvPr>
            <p:cNvSpPr txBox="1"/>
            <p:nvPr/>
          </p:nvSpPr>
          <p:spPr>
            <a:xfrm>
              <a:off x="0" y="-28575"/>
              <a:ext cx="2575519" cy="2906644"/>
            </a:xfrm>
            <a:prstGeom prst="rect">
              <a:avLst/>
            </a:prstGeom>
          </p:spPr>
          <p:txBody>
            <a:bodyPr lIns="50800" tIns="50800" rIns="50800" bIns="50800" rtlCol="0" anchor="ctr"/>
            <a:lstStyle/>
            <a:p>
              <a:pPr marL="0" lvl="0" indent="0" algn="ctr">
                <a:lnSpc>
                  <a:spcPts val="3249"/>
                </a:lnSpc>
                <a:spcBef>
                  <a:spcPct val="0"/>
                </a:spcBef>
              </a:pPr>
              <a:endParaRPr/>
            </a:p>
          </p:txBody>
        </p:sp>
      </p:grpSp>
      <p:grpSp>
        <p:nvGrpSpPr>
          <p:cNvPr id="6" name="Group 6"/>
          <p:cNvGrpSpPr/>
          <p:nvPr/>
        </p:nvGrpSpPr>
        <p:grpSpPr>
          <a:xfrm>
            <a:off x="1791919" y="1825285"/>
            <a:ext cx="14704162" cy="7017429"/>
            <a:chOff x="0" y="0"/>
            <a:chExt cx="3554105" cy="1696165"/>
          </a:xfrm>
        </p:grpSpPr>
        <p:sp>
          <p:nvSpPr>
            <p:cNvPr id="7" name="Freeform 7"/>
            <p:cNvSpPr/>
            <p:nvPr/>
          </p:nvSpPr>
          <p:spPr>
            <a:xfrm>
              <a:off x="0" y="0"/>
              <a:ext cx="3554105" cy="1696165"/>
            </a:xfrm>
            <a:custGeom>
              <a:avLst/>
              <a:gdLst/>
              <a:ahLst/>
              <a:cxnLst/>
              <a:rect l="l" t="t" r="r" b="b"/>
              <a:pathLst>
                <a:path w="3554105" h="1696165">
                  <a:moveTo>
                    <a:pt x="26852" y="0"/>
                  </a:moveTo>
                  <a:lnTo>
                    <a:pt x="3527253" y="0"/>
                  </a:lnTo>
                  <a:cubicBezTo>
                    <a:pt x="3542083" y="0"/>
                    <a:pt x="3554105" y="12022"/>
                    <a:pt x="3554105" y="26852"/>
                  </a:cubicBezTo>
                  <a:lnTo>
                    <a:pt x="3554105" y="1669313"/>
                  </a:lnTo>
                  <a:cubicBezTo>
                    <a:pt x="3554105" y="1684143"/>
                    <a:pt x="3542083" y="1696165"/>
                    <a:pt x="3527253" y="1696165"/>
                  </a:cubicBezTo>
                  <a:lnTo>
                    <a:pt x="26852" y="1696165"/>
                  </a:lnTo>
                  <a:cubicBezTo>
                    <a:pt x="12022" y="1696165"/>
                    <a:pt x="0" y="1684143"/>
                    <a:pt x="0" y="1669313"/>
                  </a:cubicBezTo>
                  <a:lnTo>
                    <a:pt x="0" y="26852"/>
                  </a:lnTo>
                  <a:cubicBezTo>
                    <a:pt x="0" y="12022"/>
                    <a:pt x="12022" y="0"/>
                    <a:pt x="26852" y="0"/>
                  </a:cubicBezTo>
                  <a:close/>
                </a:path>
              </a:pathLst>
            </a:custGeom>
            <a:solidFill>
              <a:srgbClr val="D0E4E3"/>
            </a:solidFill>
            <a:ln cap="rnd">
              <a:noFill/>
              <a:prstDash val="solid"/>
              <a:round/>
            </a:ln>
          </p:spPr>
        </p:sp>
        <p:sp>
          <p:nvSpPr>
            <p:cNvPr id="8" name="TextBox 8"/>
            <p:cNvSpPr txBox="1"/>
            <p:nvPr/>
          </p:nvSpPr>
          <p:spPr>
            <a:xfrm>
              <a:off x="0" y="-28575"/>
              <a:ext cx="3554105" cy="1724740"/>
            </a:xfrm>
            <a:prstGeom prst="rect">
              <a:avLst/>
            </a:prstGeom>
          </p:spPr>
          <p:txBody>
            <a:bodyPr lIns="50800" tIns="50800" rIns="50800" bIns="50800" rtlCol="0" anchor="ctr"/>
            <a:lstStyle/>
            <a:p>
              <a:pPr marL="0" lvl="0" indent="0" algn="ctr">
                <a:lnSpc>
                  <a:spcPts val="3249"/>
                </a:lnSpc>
                <a:spcBef>
                  <a:spcPct val="0"/>
                </a:spcBef>
              </a:pPr>
              <a:endParaRPr/>
            </a:p>
          </p:txBody>
        </p:sp>
      </p:grpSp>
      <p:sp>
        <p:nvSpPr>
          <p:cNvPr id="30" name="椭圆 7">
            <a:extLst>
              <a:ext uri="{FF2B5EF4-FFF2-40B4-BE49-F238E27FC236}">
                <a16:creationId xmlns:a16="http://schemas.microsoft.com/office/drawing/2014/main" id="{A4DE68F2-26E3-4FC6-8657-CC9CC6904EE6}"/>
              </a:ext>
            </a:extLst>
          </p:cNvPr>
          <p:cNvSpPr/>
          <p:nvPr/>
        </p:nvSpPr>
        <p:spPr>
          <a:xfrm>
            <a:off x="4254538" y="-308301"/>
            <a:ext cx="11020444" cy="1102044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8">
            <a:extLst>
              <a:ext uri="{FF2B5EF4-FFF2-40B4-BE49-F238E27FC236}">
                <a16:creationId xmlns:a16="http://schemas.microsoft.com/office/drawing/2014/main" id="{EF297FF3-8349-4E2F-800D-6129FE89206F}"/>
              </a:ext>
            </a:extLst>
          </p:cNvPr>
          <p:cNvSpPr/>
          <p:nvPr/>
        </p:nvSpPr>
        <p:spPr>
          <a:xfrm>
            <a:off x="5746875" y="1184036"/>
            <a:ext cx="8035770" cy="8035770"/>
          </a:xfrm>
          <a:prstGeom prst="ellipse">
            <a:avLst/>
          </a:prstGeom>
          <a:solidFill>
            <a:schemeClr val="bg1"/>
          </a:solidFill>
          <a:ln>
            <a:solidFill>
              <a:srgbClr val="EAC4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PA-文本框 50">
            <a:extLst>
              <a:ext uri="{FF2B5EF4-FFF2-40B4-BE49-F238E27FC236}">
                <a16:creationId xmlns:a16="http://schemas.microsoft.com/office/drawing/2014/main" id="{7FA3FB79-7629-4432-9F3A-BCB55C717E82}"/>
              </a:ext>
            </a:extLst>
          </p:cNvPr>
          <p:cNvSpPr txBox="1"/>
          <p:nvPr>
            <p:custDataLst>
              <p:tags r:id="rId1"/>
            </p:custDataLst>
          </p:nvPr>
        </p:nvSpPr>
        <p:spPr>
          <a:xfrm>
            <a:off x="6304726" y="5441897"/>
            <a:ext cx="6920068" cy="1531710"/>
          </a:xfrm>
          <a:prstGeom prst="rect">
            <a:avLst/>
          </a:prstGeom>
          <a:noFill/>
        </p:spPr>
        <p:txBody>
          <a:bodyPr wrap="square" rtlCol="0">
            <a:normAutofit fontScale="92500" lnSpcReduction="10000"/>
          </a:bodyPr>
          <a:lstStyle/>
          <a:p>
            <a:pPr algn="ctr">
              <a:lnSpc>
                <a:spcPct val="150000"/>
              </a:lnSpc>
            </a:pPr>
            <a:r>
              <a:rPr lang="en-US" altLang="zh-CN" sz="2400" dirty="0">
                <a:solidFill>
                  <a:schemeClr val="bg1">
                    <a:lumMod val="50000"/>
                  </a:schemeClr>
                </a:solidFill>
                <a:latin typeface="Source Han Sans SC"/>
                <a:ea typeface="Source Han Sans SC"/>
              </a:rPr>
              <a:t>Delivery system for each cosmetic target</a:t>
            </a:r>
          </a:p>
          <a:p>
            <a:pPr algn="ctr">
              <a:lnSpc>
                <a:spcPct val="150000"/>
              </a:lnSpc>
            </a:pPr>
            <a:r>
              <a:rPr lang="en-US" altLang="zh-CN" sz="2400" dirty="0">
                <a:solidFill>
                  <a:schemeClr val="bg1">
                    <a:lumMod val="50000"/>
                  </a:schemeClr>
                </a:solidFill>
                <a:latin typeface="Source Han Sans SC"/>
                <a:ea typeface="字魂105号-简雅黑" panose="00000500000000000000" pitchFamily="2" charset="-122"/>
              </a:rPr>
              <a:t>Nano based Sunscreens</a:t>
            </a:r>
          </a:p>
          <a:p>
            <a:pPr algn="ctr">
              <a:lnSpc>
                <a:spcPct val="150000"/>
              </a:lnSpc>
            </a:pPr>
            <a:r>
              <a:rPr lang="en-US" altLang="zh-CN" sz="2400" dirty="0">
                <a:solidFill>
                  <a:schemeClr val="bg1">
                    <a:lumMod val="50000"/>
                  </a:schemeClr>
                </a:solidFill>
                <a:latin typeface="Source Han Sans SC"/>
                <a:ea typeface="字魂105号-简雅黑" panose="00000500000000000000" pitchFamily="2" charset="-122"/>
              </a:rPr>
              <a:t>Nano based topical acne treatment</a:t>
            </a:r>
          </a:p>
          <a:p>
            <a:pPr algn="ctr">
              <a:lnSpc>
                <a:spcPct val="150000"/>
              </a:lnSpc>
            </a:pPr>
            <a:endParaRPr lang="zh-CN" altLang="en-US" sz="2400" dirty="0">
              <a:solidFill>
                <a:schemeClr val="bg1">
                  <a:lumMod val="50000"/>
                </a:schemeClr>
              </a:solidFill>
              <a:latin typeface="字魂105号-简雅黑" panose="00000500000000000000" pitchFamily="2" charset="-122"/>
              <a:ea typeface="字魂105号-简雅黑" panose="00000500000000000000" pitchFamily="2" charset="-122"/>
            </a:endParaRPr>
          </a:p>
          <a:p>
            <a:pPr algn="ctr">
              <a:lnSpc>
                <a:spcPct val="150000"/>
              </a:lnSpc>
            </a:pPr>
            <a:endParaRPr lang="zh-CN" altLang="en-US" sz="1000" dirty="0">
              <a:solidFill>
                <a:schemeClr val="bg1">
                  <a:lumMod val="50000"/>
                </a:schemeClr>
              </a:solidFill>
              <a:latin typeface="字魂105号-简雅黑" panose="00000500000000000000" pitchFamily="2" charset="-122"/>
              <a:ea typeface="字魂105号-简雅黑" panose="00000500000000000000" pitchFamily="2" charset="-122"/>
            </a:endParaRPr>
          </a:p>
        </p:txBody>
      </p:sp>
      <p:sp>
        <p:nvSpPr>
          <p:cNvPr id="33" name="文本框 2">
            <a:extLst>
              <a:ext uri="{FF2B5EF4-FFF2-40B4-BE49-F238E27FC236}">
                <a16:creationId xmlns:a16="http://schemas.microsoft.com/office/drawing/2014/main" id="{1DD370AB-5357-43E2-B13B-AF2D343AA1F4}"/>
              </a:ext>
            </a:extLst>
          </p:cNvPr>
          <p:cNvSpPr txBox="1"/>
          <p:nvPr/>
        </p:nvSpPr>
        <p:spPr>
          <a:xfrm>
            <a:off x="7828914" y="4016430"/>
            <a:ext cx="3871692" cy="766032"/>
          </a:xfrm>
          <a:prstGeom prst="rect">
            <a:avLst/>
          </a:prstGeom>
          <a:noFill/>
        </p:spPr>
        <p:txBody>
          <a:bodyPr wrap="none" rtlCol="0">
            <a:normAutofit/>
          </a:bodyPr>
          <a:lstStyle/>
          <a:p>
            <a:pPr algn="ctr"/>
            <a:r>
              <a:rPr lang="en-US" altLang="en-US" sz="4000" b="1" dirty="0">
                <a:solidFill>
                  <a:schemeClr val="tx1">
                    <a:lumMod val="85000"/>
                    <a:lumOff val="15000"/>
                  </a:schemeClr>
                </a:solidFill>
                <a:effectLst>
                  <a:outerShdw blurRad="25400" dist="25400" dir="2700000" algn="tl">
                    <a:srgbClr val="000000">
                      <a:alpha val="25000"/>
                    </a:srgbClr>
                  </a:outerShdw>
                </a:effectLst>
                <a:latin typeface="Source Han Sans SC"/>
                <a:ea typeface="Source Han Sans SC"/>
              </a:rPr>
              <a:t>ESHA ZAMAN</a:t>
            </a:r>
            <a:endParaRPr lang="zh-CN" altLang="en-US" sz="7200" b="1" dirty="0">
              <a:solidFill>
                <a:schemeClr val="tx1">
                  <a:lumMod val="85000"/>
                  <a:lumOff val="15000"/>
                </a:schemeClr>
              </a:solidFill>
              <a:effectLst>
                <a:outerShdw blurRad="25400" dist="25400" dir="2700000" algn="tl">
                  <a:srgbClr val="000000">
                    <a:alpha val="25000"/>
                  </a:srgbClr>
                </a:outerShdw>
              </a:effectLst>
              <a:latin typeface="字魂105号-简雅黑" panose="00000500000000000000" pitchFamily="2" charset="-122"/>
              <a:ea typeface="字魂105号-简雅黑" panose="00000500000000000000" pitchFamily="2" charset="-122"/>
            </a:endParaRPr>
          </a:p>
        </p:txBody>
      </p:sp>
      <p:cxnSp>
        <p:nvCxnSpPr>
          <p:cNvPr id="34" name="直接连接符 4">
            <a:extLst>
              <a:ext uri="{FF2B5EF4-FFF2-40B4-BE49-F238E27FC236}">
                <a16:creationId xmlns:a16="http://schemas.microsoft.com/office/drawing/2014/main" id="{4E7781C3-F515-44B6-923D-565078144C7F}"/>
              </a:ext>
            </a:extLst>
          </p:cNvPr>
          <p:cNvCxnSpPr>
            <a:cxnSpLocks/>
          </p:cNvCxnSpPr>
          <p:nvPr/>
        </p:nvCxnSpPr>
        <p:spPr>
          <a:xfrm>
            <a:off x="9417119" y="7164162"/>
            <a:ext cx="786891" cy="2"/>
          </a:xfrm>
          <a:prstGeom prst="line">
            <a:avLst/>
          </a:prstGeom>
          <a:ln w="76200">
            <a:solidFill>
              <a:srgbClr val="EAC49F"/>
            </a:solidFill>
          </a:ln>
        </p:spPr>
        <p:style>
          <a:lnRef idx="1">
            <a:schemeClr val="accent1"/>
          </a:lnRef>
          <a:fillRef idx="0">
            <a:schemeClr val="accent1"/>
          </a:fillRef>
          <a:effectRef idx="0">
            <a:schemeClr val="accent1"/>
          </a:effectRef>
          <a:fontRef idx="minor">
            <a:schemeClr val="tx1"/>
          </a:fontRef>
        </p:style>
      </p:cxnSp>
      <p:pic>
        <p:nvPicPr>
          <p:cNvPr id="35" name="图片 11">
            <a:extLst>
              <a:ext uri="{FF2B5EF4-FFF2-40B4-BE49-F238E27FC236}">
                <a16:creationId xmlns:a16="http://schemas.microsoft.com/office/drawing/2014/main" id="{18952986-2DE0-4569-A96D-664F19B54DB1}"/>
              </a:ext>
            </a:extLst>
          </p:cNvPr>
          <p:cNvPicPr>
            <a:picLocks noChangeAspect="1"/>
          </p:cNvPicPr>
          <p:nvPr/>
        </p:nvPicPr>
        <p:blipFill>
          <a:blip r:embed="rId5">
            <a:extLst>
              <a:ext uri="{28A0092B-C50C-407E-A947-70E740481C1C}">
                <a14:useLocalDpi xmlns:a14="http://schemas.microsoft.com/office/drawing/2010/main" val="0"/>
              </a:ext>
            </a:extLst>
          </a:blip>
          <a:srcRect t="7683" b="54315"/>
          <a:stretch>
            <a:fillRect/>
          </a:stretch>
        </p:blipFill>
        <p:spPr>
          <a:xfrm>
            <a:off x="6717651" y="4484706"/>
            <a:ext cx="6094218" cy="1232470"/>
          </a:xfrm>
          <a:prstGeom prst="rect">
            <a:avLst/>
          </a:prstGeom>
          <a:effectLst>
            <a:outerShdw blurRad="50800" dist="38100" dir="2700000" algn="tl" rotWithShape="0">
              <a:prstClr val="black">
                <a:alpha val="40000"/>
              </a:prstClr>
            </a:outerShdw>
          </a:effectLst>
        </p:spPr>
      </p:pic>
      <p:grpSp>
        <p:nvGrpSpPr>
          <p:cNvPr id="36" name="组合 14">
            <a:extLst>
              <a:ext uri="{FF2B5EF4-FFF2-40B4-BE49-F238E27FC236}">
                <a16:creationId xmlns:a16="http://schemas.microsoft.com/office/drawing/2014/main" id="{97B08549-4AB6-4BAE-AA6F-9EFFF38BDF23}"/>
              </a:ext>
            </a:extLst>
          </p:cNvPr>
          <p:cNvGrpSpPr/>
          <p:nvPr/>
        </p:nvGrpSpPr>
        <p:grpSpPr>
          <a:xfrm>
            <a:off x="8492764" y="2171700"/>
            <a:ext cx="2402166" cy="1385398"/>
            <a:chOff x="5226416" y="1584661"/>
            <a:chExt cx="1592856" cy="918646"/>
          </a:xfrm>
        </p:grpSpPr>
        <p:sp>
          <p:nvSpPr>
            <p:cNvPr id="37" name="对角圆角矩形 12">
              <a:extLst>
                <a:ext uri="{FF2B5EF4-FFF2-40B4-BE49-F238E27FC236}">
                  <a16:creationId xmlns:a16="http://schemas.microsoft.com/office/drawing/2014/main" id="{82E44BA6-DAE0-4F28-A921-B4A9476106CB}"/>
                </a:ext>
              </a:extLst>
            </p:cNvPr>
            <p:cNvSpPr/>
            <p:nvPr/>
          </p:nvSpPr>
          <p:spPr>
            <a:xfrm>
              <a:off x="5580950" y="1584661"/>
              <a:ext cx="883789" cy="883789"/>
            </a:xfrm>
            <a:prstGeom prst="round2DiagRect">
              <a:avLst>
                <a:gd name="adj1" fmla="val 41496"/>
                <a:gd name="adj2" fmla="val 0"/>
              </a:avLst>
            </a:prstGeom>
            <a:gradFill>
              <a:gsLst>
                <a:gs pos="0">
                  <a:srgbClr val="B7DCE9"/>
                </a:gs>
                <a:gs pos="90000">
                  <a:srgbClr val="87B1BB"/>
                </a:gs>
              </a:gsLst>
              <a:lin ang="2700000" scaled="0"/>
            </a:gradFill>
            <a:ln>
              <a:solidFill>
                <a:srgbClr val="EAC4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13">
              <a:extLst>
                <a:ext uri="{FF2B5EF4-FFF2-40B4-BE49-F238E27FC236}">
                  <a16:creationId xmlns:a16="http://schemas.microsoft.com/office/drawing/2014/main" id="{A066C5D1-33FE-4D96-81CF-8F7BAF43FF87}"/>
                </a:ext>
              </a:extLst>
            </p:cNvPr>
            <p:cNvSpPr txBox="1"/>
            <p:nvPr/>
          </p:nvSpPr>
          <p:spPr>
            <a:xfrm>
              <a:off x="5226416" y="1708218"/>
              <a:ext cx="1592856" cy="795089"/>
            </a:xfrm>
            <a:prstGeom prst="rect">
              <a:avLst/>
            </a:prstGeom>
            <a:noFill/>
          </p:spPr>
          <p:txBody>
            <a:bodyPr wrap="square" rtlCol="0">
              <a:normAutofit/>
            </a:bodyPr>
            <a:lstStyle/>
            <a:p>
              <a:pPr algn="ctr">
                <a:lnSpc>
                  <a:spcPct val="130000"/>
                </a:lnSpc>
              </a:pPr>
              <a:r>
                <a:rPr lang="en-US" altLang="zh-CN" sz="4000" dirty="0">
                  <a:solidFill>
                    <a:schemeClr val="tx1">
                      <a:lumMod val="95000"/>
                      <a:lumOff val="5000"/>
                    </a:schemeClr>
                  </a:solidFill>
                  <a:effectLst>
                    <a:outerShdw blurRad="25400" dist="25400" dir="2700000" algn="tl">
                      <a:srgbClr val="000000">
                        <a:alpha val="25000"/>
                      </a:srgbClr>
                    </a:outerShdw>
                  </a:effectLst>
                  <a:latin typeface="Source Han Sans SC"/>
                  <a:ea typeface="Source Han Sans SC"/>
                  <a:cs typeface="+mn-ea"/>
                  <a:sym typeface="+mn-lt"/>
                </a:rPr>
                <a:t>03 </a:t>
              </a:r>
              <a:endParaRPr lang="zh-CN" altLang="en-US" sz="4000" dirty="0">
                <a:solidFill>
                  <a:schemeClr val="tx1">
                    <a:lumMod val="95000"/>
                    <a:lumOff val="5000"/>
                  </a:schemeClr>
                </a:solidFill>
                <a:effectLst>
                  <a:outerShdw blurRad="25400" dist="25400" dir="2700000" algn="tl">
                    <a:srgbClr val="000000">
                      <a:alpha val="25000"/>
                    </a:srgbClr>
                  </a:outerShdw>
                </a:effectLst>
                <a:latin typeface="字魂45号-冰宇雅宋" panose="00000500000000000000" pitchFamily="2" charset="-122"/>
                <a:ea typeface="字魂45号-冰宇雅宋" panose="00000500000000000000" pitchFamily="2" charset="-122"/>
                <a:cs typeface="+mn-ea"/>
                <a:sym typeface="+mn-lt"/>
              </a:endParaRPr>
            </a:p>
          </p:txBody>
        </p:sp>
      </p:grpSp>
    </p:spTree>
    <p:extLst>
      <p:ext uri="{BB962C8B-B14F-4D97-AF65-F5344CB8AC3E}">
        <p14:creationId xmlns:p14="http://schemas.microsoft.com/office/powerpoint/2010/main" val="49830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31"/>
                                        </p:tgtEl>
                                        <p:attrNameLst>
                                          <p:attrName>style.visibility</p:attrName>
                                        </p:attrNameLst>
                                      </p:cBhvr>
                                      <p:to>
                                        <p:strVal val="visible"/>
                                      </p:to>
                                    </p:set>
                                    <p:anim calcmode="lin" valueType="num">
                                      <p:cBhvr>
                                        <p:cTn id="12" dur="500" fill="hold"/>
                                        <p:tgtEl>
                                          <p:spTgt spid="31"/>
                                        </p:tgtEl>
                                        <p:attrNameLst>
                                          <p:attrName>ppt_w</p:attrName>
                                        </p:attrNameLst>
                                      </p:cBhvr>
                                      <p:tavLst>
                                        <p:tav tm="0">
                                          <p:val>
                                            <p:fltVal val="0"/>
                                          </p:val>
                                        </p:tav>
                                        <p:tav tm="100000">
                                          <p:val>
                                            <p:strVal val="#ppt_w"/>
                                          </p:val>
                                        </p:tav>
                                      </p:tavLst>
                                    </p:anim>
                                    <p:anim calcmode="lin" valueType="num">
                                      <p:cBhvr>
                                        <p:cTn id="13" dur="500" fill="hold"/>
                                        <p:tgtEl>
                                          <p:spTgt spid="31"/>
                                        </p:tgtEl>
                                        <p:attrNameLst>
                                          <p:attrName>ppt_h</p:attrName>
                                        </p:attrNameLst>
                                      </p:cBhvr>
                                      <p:tavLst>
                                        <p:tav tm="0">
                                          <p:val>
                                            <p:fltVal val="0"/>
                                          </p:val>
                                        </p:tav>
                                        <p:tav tm="100000">
                                          <p:val>
                                            <p:strVal val="#ppt_h"/>
                                          </p:val>
                                        </p:tav>
                                      </p:tavLst>
                                    </p:anim>
                                    <p:animEffect transition="in" filter="fade">
                                      <p:cBhvr>
                                        <p:cTn id="14" dur="500"/>
                                        <p:tgtEl>
                                          <p:spTgt spid="31"/>
                                        </p:tgtEl>
                                      </p:cBhvr>
                                    </p:animEffect>
                                  </p:childTnLst>
                                </p:cTn>
                              </p:par>
                              <p:par>
                                <p:cTn id="15" presetID="53" presetClass="entr" presetSubtype="16" fill="hold" nodeType="withEffect">
                                  <p:stCondLst>
                                    <p:cond delay="250"/>
                                  </p:stCondLst>
                                  <p:childTnLst>
                                    <p:set>
                                      <p:cBhvr>
                                        <p:cTn id="16" dur="1" fill="hold">
                                          <p:stCondLst>
                                            <p:cond delay="0"/>
                                          </p:stCondLst>
                                        </p:cTn>
                                        <p:tgtEl>
                                          <p:spTgt spid="36"/>
                                        </p:tgtEl>
                                        <p:attrNameLst>
                                          <p:attrName>style.visibility</p:attrName>
                                        </p:attrNameLst>
                                      </p:cBhvr>
                                      <p:to>
                                        <p:strVal val="visible"/>
                                      </p:to>
                                    </p:set>
                                    <p:anim calcmode="lin" valueType="num">
                                      <p:cBhvr>
                                        <p:cTn id="17" dur="500" fill="hold"/>
                                        <p:tgtEl>
                                          <p:spTgt spid="36"/>
                                        </p:tgtEl>
                                        <p:attrNameLst>
                                          <p:attrName>ppt_w</p:attrName>
                                        </p:attrNameLst>
                                      </p:cBhvr>
                                      <p:tavLst>
                                        <p:tav tm="0">
                                          <p:val>
                                            <p:fltVal val="0"/>
                                          </p:val>
                                        </p:tav>
                                        <p:tav tm="100000">
                                          <p:val>
                                            <p:strVal val="#ppt_w"/>
                                          </p:val>
                                        </p:tav>
                                      </p:tavLst>
                                    </p:anim>
                                    <p:anim calcmode="lin" valueType="num">
                                      <p:cBhvr>
                                        <p:cTn id="18" dur="500" fill="hold"/>
                                        <p:tgtEl>
                                          <p:spTgt spid="36"/>
                                        </p:tgtEl>
                                        <p:attrNameLst>
                                          <p:attrName>ppt_h</p:attrName>
                                        </p:attrNameLst>
                                      </p:cBhvr>
                                      <p:tavLst>
                                        <p:tav tm="0">
                                          <p:val>
                                            <p:fltVal val="0"/>
                                          </p:val>
                                        </p:tav>
                                        <p:tav tm="100000">
                                          <p:val>
                                            <p:strVal val="#ppt_h"/>
                                          </p:val>
                                        </p:tav>
                                      </p:tavLst>
                                    </p:anim>
                                    <p:animEffect transition="in" filter="fade">
                                      <p:cBhvr>
                                        <p:cTn id="19" dur="500"/>
                                        <p:tgtEl>
                                          <p:spTgt spid="36"/>
                                        </p:tgtEl>
                                      </p:cBhvr>
                                    </p:animEffect>
                                  </p:childTnLst>
                                </p:cTn>
                              </p:par>
                              <p:par>
                                <p:cTn id="20" presetID="41" presetClass="entr" presetSubtype="0" fill="hold" grpId="0" nodeType="withEffect">
                                  <p:stCondLst>
                                    <p:cond delay="750"/>
                                  </p:stCondLst>
                                  <p:iterate type="lt">
                                    <p:tmPct val="10000"/>
                                  </p:iterate>
                                  <p:childTnLst>
                                    <p:set>
                                      <p:cBhvr>
                                        <p:cTn id="21" dur="1" fill="hold">
                                          <p:stCondLst>
                                            <p:cond delay="0"/>
                                          </p:stCondLst>
                                        </p:cTn>
                                        <p:tgtEl>
                                          <p:spTgt spid="33"/>
                                        </p:tgtEl>
                                        <p:attrNameLst>
                                          <p:attrName>style.visibility</p:attrName>
                                        </p:attrNameLst>
                                      </p:cBhvr>
                                      <p:to>
                                        <p:strVal val="visible"/>
                                      </p:to>
                                    </p:set>
                                    <p:anim calcmode="lin" valueType="num">
                                      <p:cBhvr>
                                        <p:cTn id="22"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23" dur="500" fill="hold"/>
                                        <p:tgtEl>
                                          <p:spTgt spid="33"/>
                                        </p:tgtEl>
                                        <p:attrNameLst>
                                          <p:attrName>ppt_y</p:attrName>
                                        </p:attrNameLst>
                                      </p:cBhvr>
                                      <p:tavLst>
                                        <p:tav tm="0">
                                          <p:val>
                                            <p:strVal val="#ppt_y"/>
                                          </p:val>
                                        </p:tav>
                                        <p:tav tm="100000">
                                          <p:val>
                                            <p:strVal val="#ppt_y"/>
                                          </p:val>
                                        </p:tav>
                                      </p:tavLst>
                                    </p:anim>
                                    <p:anim calcmode="lin" valueType="num">
                                      <p:cBhvr>
                                        <p:cTn id="24"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25"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26" dur="500" tmFilter="0,0; .5, 1; 1, 1"/>
                                        <p:tgtEl>
                                          <p:spTgt spid="33"/>
                                        </p:tgtEl>
                                      </p:cBhvr>
                                    </p:animEffect>
                                  </p:childTnLst>
                                </p:cTn>
                              </p:par>
                              <p:par>
                                <p:cTn id="27" presetID="16" presetClass="entr" presetSubtype="21" fill="hold" nodeType="withEffect">
                                  <p:stCondLst>
                                    <p:cond delay="750"/>
                                  </p:stCondLst>
                                  <p:childTnLst>
                                    <p:set>
                                      <p:cBhvr>
                                        <p:cTn id="28" dur="1" fill="hold">
                                          <p:stCondLst>
                                            <p:cond delay="0"/>
                                          </p:stCondLst>
                                        </p:cTn>
                                        <p:tgtEl>
                                          <p:spTgt spid="35"/>
                                        </p:tgtEl>
                                        <p:attrNameLst>
                                          <p:attrName>style.visibility</p:attrName>
                                        </p:attrNameLst>
                                      </p:cBhvr>
                                      <p:to>
                                        <p:strVal val="visible"/>
                                      </p:to>
                                    </p:set>
                                    <p:animEffect transition="in" filter="barn(inVertical)">
                                      <p:cBhvr>
                                        <p:cTn id="29" dur="500"/>
                                        <p:tgtEl>
                                          <p:spTgt spid="35"/>
                                        </p:tgtEl>
                                      </p:cBhvr>
                                    </p:animEffect>
                                  </p:childTnLst>
                                </p:cTn>
                              </p:par>
                              <p:par>
                                <p:cTn id="30" presetID="22" presetClass="entr" presetSubtype="1" fill="hold" grpId="0" nodeType="withEffect">
                                  <p:stCondLst>
                                    <p:cond delay="1250"/>
                                  </p:stCondLst>
                                  <p:childTnLst>
                                    <p:set>
                                      <p:cBhvr>
                                        <p:cTn id="31" dur="1" fill="hold">
                                          <p:stCondLst>
                                            <p:cond delay="0"/>
                                          </p:stCondLst>
                                        </p:cTn>
                                        <p:tgtEl>
                                          <p:spTgt spid="32"/>
                                        </p:tgtEl>
                                        <p:attrNameLst>
                                          <p:attrName>style.visibility</p:attrName>
                                        </p:attrNameLst>
                                      </p:cBhvr>
                                      <p:to>
                                        <p:strVal val="visible"/>
                                      </p:to>
                                    </p:set>
                                    <p:animEffect transition="in" filter="wipe(up)">
                                      <p:cBhvr>
                                        <p:cTn id="32" dur="500"/>
                                        <p:tgtEl>
                                          <p:spTgt spid="32"/>
                                        </p:tgtEl>
                                      </p:cBhvr>
                                    </p:animEffect>
                                  </p:childTnLst>
                                </p:cTn>
                              </p:par>
                            </p:childTnLst>
                          </p:cTn>
                        </p:par>
                        <p:par>
                          <p:cTn id="33" fill="hold">
                            <p:stCondLst>
                              <p:cond delay="1750"/>
                            </p:stCondLst>
                            <p:childTnLst>
                              <p:par>
                                <p:cTn id="34" presetID="22" presetClass="entr" presetSubtype="8" fill="hold" nodeType="after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wipe(left)">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p:bldP spid="3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6097379" y="3981134"/>
            <a:ext cx="2213483" cy="2023412"/>
            <a:chOff x="1164771" y="1415142"/>
            <a:chExt cx="1475655" cy="1348941"/>
          </a:xfrm>
          <a:effectLst>
            <a:outerShdw blurRad="50800" dist="38100" dir="2700000" algn="tl" rotWithShape="0">
              <a:prstClr val="black">
                <a:alpha val="40000"/>
              </a:prstClr>
            </a:outerShdw>
          </a:effectLst>
        </p:grpSpPr>
        <p:sp>
          <p:nvSpPr>
            <p:cNvPr id="11" name="Rounded Rectangle 10"/>
            <p:cNvSpPr/>
            <p:nvPr/>
          </p:nvSpPr>
          <p:spPr>
            <a:xfrm>
              <a:off x="1164772" y="1415142"/>
              <a:ext cx="1344148" cy="1348941"/>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sz="2700" dirty="0"/>
            </a:p>
          </p:txBody>
        </p:sp>
        <p:sp>
          <p:nvSpPr>
            <p:cNvPr id="12" name="Oval 11"/>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12"/>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13"/>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14"/>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15"/>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Flowchart: Connector 18"/>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0" name="Flowchart: Connector 19"/>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1" name="Flowchart: Connector 20"/>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2" name="Flowchart: Connector 21"/>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3" name="Flowchart: Connector 22"/>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6" name="Freeform 25"/>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28" name="Straight Connector 2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1352906" y="1640490"/>
              <a:ext cx="517468" cy="517803"/>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673922" y="1453835"/>
              <a:ext cx="966504" cy="430887"/>
            </a:xfrm>
            <a:prstGeom prst="rect">
              <a:avLst/>
            </a:prstGeom>
            <a:noFill/>
          </p:spPr>
          <p:txBody>
            <a:bodyPr wrap="square" rtlCol="0">
              <a:spAutoFit/>
            </a:bodyPr>
            <a:lstStyle/>
            <a:p>
              <a:r>
                <a:rPr lang="en-US" sz="3600" b="1" dirty="0"/>
                <a:t>CDS</a:t>
              </a:r>
              <a:endParaRPr lang="en-US" sz="2700" b="1" dirty="0"/>
            </a:p>
          </p:txBody>
        </p:sp>
      </p:grpSp>
      <p:grpSp>
        <p:nvGrpSpPr>
          <p:cNvPr id="61" name="!!Group 60"/>
          <p:cNvGrpSpPr/>
          <p:nvPr/>
        </p:nvGrpSpPr>
        <p:grpSpPr>
          <a:xfrm>
            <a:off x="2570752" y="4053994"/>
            <a:ext cx="2213483" cy="2023412"/>
            <a:chOff x="1164771" y="1415142"/>
            <a:chExt cx="1475655" cy="1348941"/>
          </a:xfrm>
          <a:effectLst>
            <a:outerShdw blurRad="50800" dist="38100" dir="2700000" algn="tl" rotWithShape="0">
              <a:prstClr val="black">
                <a:alpha val="40000"/>
              </a:prstClr>
            </a:outerShdw>
          </a:effectLst>
        </p:grpSpPr>
        <p:sp>
          <p:nvSpPr>
            <p:cNvPr id="62" name="Rounded Rectangle 61"/>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63" name="Oval 62"/>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4" name="Oval 63"/>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5" name="Oval 64"/>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6" name="Oval 65"/>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7" name="Oval 66"/>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8" name="Flowchart: Connector 67"/>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69" name="Flowchart: Connector 68"/>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0" name="Flowchart: Connector 69"/>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1" name="Flowchart: Connector 70"/>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2" name="Flowchart: Connector 71"/>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3" name="Freeform 72"/>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74" name="Straight Connector 73"/>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Arrow Connector 74"/>
            <p:cNvCxnSpPr/>
            <p:nvPr/>
          </p:nvCxnSpPr>
          <p:spPr>
            <a:xfrm>
              <a:off x="1329321" y="1885455"/>
              <a:ext cx="582713" cy="500240"/>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76" name="TextBox 75"/>
            <p:cNvSpPr txBox="1"/>
            <p:nvPr/>
          </p:nvSpPr>
          <p:spPr>
            <a:xfrm>
              <a:off x="1673922" y="1423756"/>
              <a:ext cx="966504" cy="430887"/>
            </a:xfrm>
            <a:prstGeom prst="rect">
              <a:avLst/>
            </a:prstGeom>
            <a:noFill/>
          </p:spPr>
          <p:txBody>
            <a:bodyPr wrap="square" rtlCol="0">
              <a:spAutoFit/>
            </a:bodyPr>
            <a:lstStyle/>
            <a:p>
              <a:r>
                <a:rPr lang="en-US" sz="3600" b="1" dirty="0"/>
                <a:t>DDS</a:t>
              </a:r>
              <a:endParaRPr lang="en-US" sz="2700" b="1" dirty="0"/>
            </a:p>
          </p:txBody>
        </p:sp>
      </p:grpSp>
      <p:grpSp>
        <p:nvGrpSpPr>
          <p:cNvPr id="98" name="!!Group 97"/>
          <p:cNvGrpSpPr/>
          <p:nvPr/>
        </p:nvGrpSpPr>
        <p:grpSpPr>
          <a:xfrm>
            <a:off x="9663252" y="4034804"/>
            <a:ext cx="2707035" cy="2033714"/>
            <a:chOff x="5334460" y="3172266"/>
            <a:chExt cx="1786183" cy="1355809"/>
          </a:xfrm>
          <a:effectLst>
            <a:outerShdw blurRad="50800" dist="38100" dir="2700000" algn="tl" rotWithShape="0">
              <a:prstClr val="black">
                <a:alpha val="40000"/>
              </a:prstClr>
            </a:outerShdw>
          </a:effectLst>
        </p:grpSpPr>
        <p:grpSp>
          <p:nvGrpSpPr>
            <p:cNvPr id="77" name="Group 76"/>
            <p:cNvGrpSpPr/>
            <p:nvPr/>
          </p:nvGrpSpPr>
          <p:grpSpPr>
            <a:xfrm>
              <a:off x="5334460" y="3172266"/>
              <a:ext cx="1499713" cy="1355809"/>
              <a:chOff x="1164771" y="1408274"/>
              <a:chExt cx="1499713" cy="1355809"/>
            </a:xfrm>
          </p:grpSpPr>
          <p:sp>
            <p:nvSpPr>
              <p:cNvPr id="78" name="Rounded Rectangle 77"/>
              <p:cNvSpPr/>
              <p:nvPr/>
            </p:nvSpPr>
            <p:spPr>
              <a:xfrm>
                <a:off x="1164772" y="1415142"/>
                <a:ext cx="1344148" cy="1348941"/>
              </a:xfrm>
              <a:prstGeom prst="roundRect">
                <a:avLst/>
              </a:prstGeom>
              <a:ln w="28575">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79" name="Oval 78"/>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0" name="Oval 79"/>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1" name="Oval 80"/>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2" name="Oval 81"/>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3" name="Oval 82"/>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4" name="Flowchart: Connector 83"/>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5" name="Flowchart: Connector 84"/>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6" name="Flowchart: Connector 85"/>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7" name="Flowchart: Connector 86"/>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8" name="Flowchart: Connector 87"/>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9" name="Freeform 88"/>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90" name="Straight Connector 89"/>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a:off x="1513114" y="1621384"/>
                <a:ext cx="487073" cy="350699"/>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92" name="TextBox 91"/>
              <p:cNvSpPr txBox="1"/>
              <p:nvPr/>
            </p:nvSpPr>
            <p:spPr>
              <a:xfrm>
                <a:off x="1697980" y="1408274"/>
                <a:ext cx="966504" cy="430887"/>
              </a:xfrm>
              <a:prstGeom prst="rect">
                <a:avLst/>
              </a:prstGeom>
              <a:noFill/>
            </p:spPr>
            <p:txBody>
              <a:bodyPr wrap="square" rtlCol="0">
                <a:spAutoFit/>
              </a:bodyPr>
              <a:lstStyle/>
              <a:p>
                <a:r>
                  <a:rPr lang="en-US" sz="3600" b="1" dirty="0"/>
                  <a:t>HDS</a:t>
                </a:r>
                <a:endParaRPr lang="en-US" sz="2700" b="1" dirty="0"/>
              </a:p>
            </p:txBody>
          </p:sp>
        </p:grpSp>
        <p:pic>
          <p:nvPicPr>
            <p:cNvPr id="94" name="Picture 9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483" y="3317994"/>
              <a:ext cx="1775160" cy="794249"/>
            </a:xfrm>
            <a:prstGeom prst="rect">
              <a:avLst/>
            </a:prstGeom>
          </p:spPr>
        </p:pic>
      </p:grpSp>
      <p:grpSp>
        <p:nvGrpSpPr>
          <p:cNvPr id="101" name="Group 100"/>
          <p:cNvGrpSpPr/>
          <p:nvPr/>
        </p:nvGrpSpPr>
        <p:grpSpPr>
          <a:xfrm>
            <a:off x="13169816" y="4059867"/>
            <a:ext cx="2330019" cy="2028741"/>
            <a:chOff x="5929826" y="2123739"/>
            <a:chExt cx="1553346" cy="1352494"/>
          </a:xfrm>
          <a:effectLst>
            <a:outerShdw blurRad="50800" dist="38100" dir="2700000" algn="tl" rotWithShape="0">
              <a:prstClr val="black">
                <a:alpha val="40000"/>
              </a:prstClr>
            </a:outerShdw>
          </a:effectLst>
        </p:grpSpPr>
        <p:grpSp>
          <p:nvGrpSpPr>
            <p:cNvPr id="45" name="Group 44"/>
            <p:cNvGrpSpPr/>
            <p:nvPr/>
          </p:nvGrpSpPr>
          <p:grpSpPr>
            <a:xfrm>
              <a:off x="5929826" y="2123739"/>
              <a:ext cx="1553346" cy="1352494"/>
              <a:chOff x="1164771" y="1411589"/>
              <a:chExt cx="1553346" cy="1352494"/>
            </a:xfrm>
          </p:grpSpPr>
          <p:sp>
            <p:nvSpPr>
              <p:cNvPr id="46" name="Rounded Rectangle 45"/>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47" name="Oval 46"/>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8" name="Oval 47"/>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Oval 48"/>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0" name="Oval 49"/>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Oval 50"/>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2" name="Flowchart: Connector 51"/>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3" name="Flowchart: Connector 52"/>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4" name="Flowchart: Connector 53"/>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5" name="Flowchart: Connector 54"/>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6" name="Flowchart: Connector 55"/>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7" name="Freeform 56"/>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8" name="Straight Connector 5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Arrow Connector 58"/>
              <p:cNvCxnSpPr/>
              <p:nvPr/>
            </p:nvCxnSpPr>
            <p:spPr>
              <a:xfrm>
                <a:off x="1471134" y="1715094"/>
                <a:ext cx="518741" cy="355165"/>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751613" y="1411589"/>
                <a:ext cx="966504" cy="430887"/>
              </a:xfrm>
              <a:prstGeom prst="rect">
                <a:avLst/>
              </a:prstGeom>
              <a:noFill/>
            </p:spPr>
            <p:txBody>
              <a:bodyPr wrap="square" rtlCol="0">
                <a:spAutoFit/>
              </a:bodyPr>
              <a:lstStyle/>
              <a:p>
                <a:r>
                  <a:rPr lang="en-US" sz="3600" b="1" dirty="0"/>
                  <a:t>FDS</a:t>
                </a:r>
                <a:endParaRPr lang="en-US" sz="2700" b="1" dirty="0"/>
              </a:p>
            </p:txBody>
          </p:sp>
        </p:grpSp>
        <p:pic>
          <p:nvPicPr>
            <p:cNvPr id="100" name="Picture 99"/>
            <p:cNvPicPr>
              <a:picLocks noChangeAspect="1"/>
            </p:cNvPicPr>
            <p:nvPr/>
          </p:nvPicPr>
          <p:blipFill rotWithShape="1">
            <a:blip r:embed="rId2">
              <a:extLst>
                <a:ext uri="{28A0092B-C50C-407E-A947-70E740481C1C}">
                  <a14:useLocalDpi xmlns:a14="http://schemas.microsoft.com/office/drawing/2010/main" val="0"/>
                </a:ext>
              </a:extLst>
            </a:blip>
            <a:srcRect l="33989" t="23073" r="30758" b="22442"/>
            <a:stretch/>
          </p:blipFill>
          <p:spPr>
            <a:xfrm>
              <a:off x="6556242" y="2437939"/>
              <a:ext cx="674914" cy="479708"/>
            </a:xfrm>
            <a:prstGeom prst="rect">
              <a:avLst/>
            </a:prstGeom>
          </p:spPr>
        </p:pic>
      </p:grpSp>
      <p:sp>
        <p:nvSpPr>
          <p:cNvPr id="2" name="Rectangle 1">
            <a:extLst>
              <a:ext uri="{FF2B5EF4-FFF2-40B4-BE49-F238E27FC236}">
                <a16:creationId xmlns:a16="http://schemas.microsoft.com/office/drawing/2014/main" id="{09C20827-6B2D-49CF-B9DC-C688F5F60B92}"/>
              </a:ext>
            </a:extLst>
          </p:cNvPr>
          <p:cNvSpPr/>
          <p:nvPr/>
        </p:nvSpPr>
        <p:spPr>
          <a:xfrm>
            <a:off x="1905000" y="1104900"/>
            <a:ext cx="14814036" cy="1038746"/>
          </a:xfrm>
          <a:prstGeom prst="rect">
            <a:avLst/>
          </a:prstGeom>
        </p:spPr>
        <p:txBody>
          <a:bodyPr wrap="square">
            <a:spAutoFit/>
          </a:bodyPr>
          <a:lstStyle/>
          <a:p>
            <a:pPr algn="ctr">
              <a:lnSpc>
                <a:spcPts val="7200"/>
              </a:lnSpc>
            </a:pPr>
            <a:r>
              <a:rPr lang="en-US" sz="6600" b="1" spc="-120" dirty="0">
                <a:solidFill>
                  <a:srgbClr val="74BFEF"/>
                </a:solidFill>
                <a:latin typeface="One Little Font Bold"/>
              </a:rPr>
              <a:t>Delivery system for each cosmetic target</a:t>
            </a:r>
          </a:p>
        </p:txBody>
      </p:sp>
    </p:spTree>
    <p:extLst>
      <p:ext uri="{BB962C8B-B14F-4D97-AF65-F5344CB8AC3E}">
        <p14:creationId xmlns:p14="http://schemas.microsoft.com/office/powerpoint/2010/main" val="696285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6097379" y="3981134"/>
            <a:ext cx="2213483" cy="2023412"/>
            <a:chOff x="1164771" y="1415142"/>
            <a:chExt cx="1475655" cy="1348941"/>
          </a:xfrm>
          <a:effectLst>
            <a:outerShdw blurRad="50800" dist="38100" dir="2700000" algn="tl" rotWithShape="0">
              <a:prstClr val="black">
                <a:alpha val="40000"/>
              </a:prstClr>
            </a:outerShdw>
          </a:effectLst>
        </p:grpSpPr>
        <p:sp>
          <p:nvSpPr>
            <p:cNvPr id="11" name="Rounded Rectangle 10"/>
            <p:cNvSpPr/>
            <p:nvPr/>
          </p:nvSpPr>
          <p:spPr>
            <a:xfrm>
              <a:off x="1164772" y="1415142"/>
              <a:ext cx="1344148" cy="1348941"/>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sz="2700" dirty="0"/>
            </a:p>
          </p:txBody>
        </p:sp>
        <p:sp>
          <p:nvSpPr>
            <p:cNvPr id="12" name="Oval 11"/>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12"/>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13"/>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14"/>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15"/>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Flowchart: Connector 18"/>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0" name="Flowchart: Connector 19"/>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1" name="Flowchart: Connector 20"/>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2" name="Flowchart: Connector 21"/>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3" name="Flowchart: Connector 22"/>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6" name="Freeform 25"/>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28" name="Straight Connector 2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1352906" y="1640490"/>
              <a:ext cx="517468" cy="517803"/>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673922" y="1453835"/>
              <a:ext cx="966504" cy="430887"/>
            </a:xfrm>
            <a:prstGeom prst="rect">
              <a:avLst/>
            </a:prstGeom>
            <a:noFill/>
          </p:spPr>
          <p:txBody>
            <a:bodyPr wrap="square" rtlCol="0">
              <a:spAutoFit/>
            </a:bodyPr>
            <a:lstStyle/>
            <a:p>
              <a:r>
                <a:rPr lang="en-US" sz="3600" b="1" dirty="0"/>
                <a:t>CDS</a:t>
              </a:r>
              <a:endParaRPr lang="en-US" sz="2700" b="1" dirty="0"/>
            </a:p>
          </p:txBody>
        </p:sp>
      </p:grpSp>
      <p:grpSp>
        <p:nvGrpSpPr>
          <p:cNvPr id="61" name="!!Group 60"/>
          <p:cNvGrpSpPr/>
          <p:nvPr/>
        </p:nvGrpSpPr>
        <p:grpSpPr>
          <a:xfrm>
            <a:off x="2126252" y="3524828"/>
            <a:ext cx="2657982" cy="2573744"/>
            <a:chOff x="1164771" y="1415142"/>
            <a:chExt cx="1475655" cy="1348941"/>
          </a:xfrm>
          <a:effectLst>
            <a:outerShdw blurRad="50800" dist="38100" dir="2700000" algn="tl" rotWithShape="0">
              <a:prstClr val="black">
                <a:alpha val="40000"/>
              </a:prstClr>
            </a:outerShdw>
          </a:effectLst>
        </p:grpSpPr>
        <p:sp>
          <p:nvSpPr>
            <p:cNvPr id="62" name="Rounded Rectangle 61"/>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63" name="Oval 62"/>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4" name="Oval 63"/>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5" name="Oval 64"/>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6" name="Oval 65"/>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7" name="Oval 66"/>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8" name="Flowchart: Connector 67"/>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69" name="Flowchart: Connector 68"/>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0" name="Flowchart: Connector 69"/>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1" name="Flowchart: Connector 70"/>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2" name="Flowchart: Connector 71"/>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3" name="Freeform 72"/>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74" name="Straight Connector 73"/>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Arrow Connector 74"/>
            <p:cNvCxnSpPr/>
            <p:nvPr/>
          </p:nvCxnSpPr>
          <p:spPr>
            <a:xfrm>
              <a:off x="1329321" y="1885455"/>
              <a:ext cx="582713" cy="500240"/>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76" name="TextBox 75"/>
            <p:cNvSpPr txBox="1"/>
            <p:nvPr/>
          </p:nvSpPr>
          <p:spPr>
            <a:xfrm>
              <a:off x="1673922" y="1423756"/>
              <a:ext cx="966504" cy="338753"/>
            </a:xfrm>
            <a:prstGeom prst="rect">
              <a:avLst/>
            </a:prstGeom>
            <a:noFill/>
          </p:spPr>
          <p:txBody>
            <a:bodyPr wrap="square" rtlCol="0">
              <a:spAutoFit/>
            </a:bodyPr>
            <a:lstStyle/>
            <a:p>
              <a:r>
                <a:rPr lang="en-US" sz="3600" b="1" dirty="0"/>
                <a:t>DDS</a:t>
              </a:r>
              <a:endParaRPr lang="en-US" sz="2700" b="1" dirty="0"/>
            </a:p>
          </p:txBody>
        </p:sp>
      </p:grpSp>
      <p:grpSp>
        <p:nvGrpSpPr>
          <p:cNvPr id="98" name="!!Group 97"/>
          <p:cNvGrpSpPr/>
          <p:nvPr/>
        </p:nvGrpSpPr>
        <p:grpSpPr>
          <a:xfrm>
            <a:off x="9663252" y="4034804"/>
            <a:ext cx="2707035" cy="2033714"/>
            <a:chOff x="5334460" y="3172266"/>
            <a:chExt cx="1786183" cy="1355809"/>
          </a:xfrm>
          <a:effectLst>
            <a:outerShdw blurRad="50800" dist="38100" dir="2700000" algn="tl" rotWithShape="0">
              <a:prstClr val="black">
                <a:alpha val="40000"/>
              </a:prstClr>
            </a:outerShdw>
          </a:effectLst>
        </p:grpSpPr>
        <p:grpSp>
          <p:nvGrpSpPr>
            <p:cNvPr id="77" name="Group 76"/>
            <p:cNvGrpSpPr/>
            <p:nvPr/>
          </p:nvGrpSpPr>
          <p:grpSpPr>
            <a:xfrm>
              <a:off x="5334460" y="3172266"/>
              <a:ext cx="1499713" cy="1355809"/>
              <a:chOff x="1164771" y="1408274"/>
              <a:chExt cx="1499713" cy="1355809"/>
            </a:xfrm>
          </p:grpSpPr>
          <p:sp>
            <p:nvSpPr>
              <p:cNvPr id="78" name="Rounded Rectangle 77"/>
              <p:cNvSpPr/>
              <p:nvPr/>
            </p:nvSpPr>
            <p:spPr>
              <a:xfrm>
                <a:off x="1164772" y="1415142"/>
                <a:ext cx="1344148" cy="1348941"/>
              </a:xfrm>
              <a:prstGeom prst="roundRect">
                <a:avLst/>
              </a:prstGeom>
              <a:ln w="28575">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79" name="Oval 78"/>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0" name="Oval 79"/>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1" name="Oval 80"/>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2" name="Oval 81"/>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3" name="Oval 82"/>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4" name="Flowchart: Connector 83"/>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5" name="Flowchart: Connector 84"/>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6" name="Flowchart: Connector 85"/>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7" name="Flowchart: Connector 86"/>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8" name="Flowchart: Connector 87"/>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9" name="Freeform 88"/>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90" name="Straight Connector 89"/>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a:off x="1513114" y="1621384"/>
                <a:ext cx="487073" cy="350699"/>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92" name="TextBox 91"/>
              <p:cNvSpPr txBox="1"/>
              <p:nvPr/>
            </p:nvSpPr>
            <p:spPr>
              <a:xfrm>
                <a:off x="1697980" y="1408274"/>
                <a:ext cx="966504" cy="430887"/>
              </a:xfrm>
              <a:prstGeom prst="rect">
                <a:avLst/>
              </a:prstGeom>
              <a:noFill/>
            </p:spPr>
            <p:txBody>
              <a:bodyPr wrap="square" rtlCol="0">
                <a:spAutoFit/>
              </a:bodyPr>
              <a:lstStyle/>
              <a:p>
                <a:r>
                  <a:rPr lang="en-US" sz="3600" b="1" dirty="0"/>
                  <a:t>HDS</a:t>
                </a:r>
                <a:endParaRPr lang="en-US" sz="2700" b="1" dirty="0"/>
              </a:p>
            </p:txBody>
          </p:sp>
        </p:grpSp>
        <p:pic>
          <p:nvPicPr>
            <p:cNvPr id="94" name="Picture 9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483" y="3317994"/>
              <a:ext cx="1775160" cy="794249"/>
            </a:xfrm>
            <a:prstGeom prst="rect">
              <a:avLst/>
            </a:prstGeom>
          </p:spPr>
        </p:pic>
      </p:grpSp>
      <p:grpSp>
        <p:nvGrpSpPr>
          <p:cNvPr id="101" name="Group 100"/>
          <p:cNvGrpSpPr/>
          <p:nvPr/>
        </p:nvGrpSpPr>
        <p:grpSpPr>
          <a:xfrm>
            <a:off x="13169816" y="4059867"/>
            <a:ext cx="2330019" cy="2028741"/>
            <a:chOff x="5929826" y="2123739"/>
            <a:chExt cx="1553346" cy="1352494"/>
          </a:xfrm>
          <a:effectLst>
            <a:outerShdw blurRad="50800" dist="38100" dir="2700000" algn="tl" rotWithShape="0">
              <a:prstClr val="black">
                <a:alpha val="40000"/>
              </a:prstClr>
            </a:outerShdw>
          </a:effectLst>
        </p:grpSpPr>
        <p:grpSp>
          <p:nvGrpSpPr>
            <p:cNvPr id="45" name="Group 44"/>
            <p:cNvGrpSpPr/>
            <p:nvPr/>
          </p:nvGrpSpPr>
          <p:grpSpPr>
            <a:xfrm>
              <a:off x="5929826" y="2123739"/>
              <a:ext cx="1553346" cy="1352494"/>
              <a:chOff x="1164771" y="1411589"/>
              <a:chExt cx="1553346" cy="1352494"/>
            </a:xfrm>
          </p:grpSpPr>
          <p:sp>
            <p:nvSpPr>
              <p:cNvPr id="46" name="Rounded Rectangle 45"/>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47" name="Oval 46"/>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8" name="Oval 47"/>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Oval 48"/>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0" name="Oval 49"/>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Oval 50"/>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2" name="Flowchart: Connector 51"/>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3" name="Flowchart: Connector 52"/>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4" name="Flowchart: Connector 53"/>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5" name="Flowchart: Connector 54"/>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6" name="Flowchart: Connector 55"/>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7" name="Freeform 56"/>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8" name="Straight Connector 5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Arrow Connector 58"/>
              <p:cNvCxnSpPr/>
              <p:nvPr/>
            </p:nvCxnSpPr>
            <p:spPr>
              <a:xfrm>
                <a:off x="1471134" y="1715094"/>
                <a:ext cx="518741" cy="355165"/>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751613" y="1411589"/>
                <a:ext cx="966504" cy="430887"/>
              </a:xfrm>
              <a:prstGeom prst="rect">
                <a:avLst/>
              </a:prstGeom>
              <a:noFill/>
            </p:spPr>
            <p:txBody>
              <a:bodyPr wrap="square" rtlCol="0">
                <a:spAutoFit/>
              </a:bodyPr>
              <a:lstStyle/>
              <a:p>
                <a:r>
                  <a:rPr lang="en-US" sz="3600" b="1" dirty="0"/>
                  <a:t>FDS</a:t>
                </a:r>
                <a:endParaRPr lang="en-US" sz="2700" b="1" dirty="0"/>
              </a:p>
            </p:txBody>
          </p:sp>
        </p:grpSp>
        <p:pic>
          <p:nvPicPr>
            <p:cNvPr id="100" name="Picture 99"/>
            <p:cNvPicPr>
              <a:picLocks noChangeAspect="1"/>
            </p:cNvPicPr>
            <p:nvPr/>
          </p:nvPicPr>
          <p:blipFill rotWithShape="1">
            <a:blip r:embed="rId2">
              <a:extLst>
                <a:ext uri="{28A0092B-C50C-407E-A947-70E740481C1C}">
                  <a14:useLocalDpi xmlns:a14="http://schemas.microsoft.com/office/drawing/2010/main" val="0"/>
                </a:ext>
              </a:extLst>
            </a:blip>
            <a:srcRect l="33989" t="23073" r="30758" b="22442"/>
            <a:stretch/>
          </p:blipFill>
          <p:spPr>
            <a:xfrm>
              <a:off x="6556242" y="2437939"/>
              <a:ext cx="674914" cy="479708"/>
            </a:xfrm>
            <a:prstGeom prst="rect">
              <a:avLst/>
            </a:prstGeom>
          </p:spPr>
        </p:pic>
      </p:grpSp>
    </p:spTree>
    <p:extLst>
      <p:ext uri="{BB962C8B-B14F-4D97-AF65-F5344CB8AC3E}">
        <p14:creationId xmlns:p14="http://schemas.microsoft.com/office/powerpoint/2010/main" val="1788631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A diagram of skin layers&#10;&#10;Description automatically generated">
            <a:extLst>
              <a:ext uri="{FF2B5EF4-FFF2-40B4-BE49-F238E27FC236}">
                <a16:creationId xmlns:a16="http://schemas.microsoft.com/office/drawing/2014/main" id="{1E213CA0-9594-30E5-1CB0-2E42B43E7FE4}"/>
              </a:ext>
            </a:extLst>
          </p:cNvPr>
          <p:cNvPicPr>
            <a:picLocks noChangeAspect="1"/>
          </p:cNvPicPr>
          <p:nvPr/>
        </p:nvPicPr>
        <p:blipFill rotWithShape="1">
          <a:blip r:embed="rId3"/>
          <a:srcRect l="10123" t="16428" r="44691" b="8929"/>
          <a:stretch/>
        </p:blipFill>
        <p:spPr>
          <a:xfrm>
            <a:off x="3348713" y="1474712"/>
            <a:ext cx="7164237" cy="8047919"/>
          </a:xfrm>
          <a:prstGeom prst="rect">
            <a:avLst/>
          </a:prstGeom>
          <a:ln>
            <a:noFill/>
          </a:ln>
        </p:spPr>
      </p:pic>
      <p:pic>
        <p:nvPicPr>
          <p:cNvPr id="35" name="Picture 34" descr="A gold ball on a black background&#10;&#10;Description automatically generated">
            <a:extLst>
              <a:ext uri="{FF2B5EF4-FFF2-40B4-BE49-F238E27FC236}">
                <a16:creationId xmlns:a16="http://schemas.microsoft.com/office/drawing/2014/main" id="{76C8C79F-9D0E-8C8C-7966-1A560359E21D}"/>
              </a:ext>
            </a:extLst>
          </p:cNvPr>
          <p:cNvPicPr>
            <a:picLocks noChangeAspect="1"/>
          </p:cNvPicPr>
          <p:nvPr/>
        </p:nvPicPr>
        <p:blipFill>
          <a:blip r:embed="rId4"/>
          <a:stretch>
            <a:fillRect/>
          </a:stretch>
        </p:blipFill>
        <p:spPr>
          <a:xfrm flipH="1">
            <a:off x="9137124" y="2197985"/>
            <a:ext cx="370140" cy="323490"/>
          </a:xfrm>
          <a:prstGeom prst="rect">
            <a:avLst/>
          </a:prstGeom>
        </p:spPr>
      </p:pic>
      <p:pic>
        <p:nvPicPr>
          <p:cNvPr id="38" name="Picture 37" descr="A gold ball on a black background&#10;&#10;Description automatically generated">
            <a:extLst>
              <a:ext uri="{FF2B5EF4-FFF2-40B4-BE49-F238E27FC236}">
                <a16:creationId xmlns:a16="http://schemas.microsoft.com/office/drawing/2014/main" id="{1BA3CB92-95F7-A169-4082-BA21972B7FAA}"/>
              </a:ext>
            </a:extLst>
          </p:cNvPr>
          <p:cNvPicPr>
            <a:picLocks noChangeAspect="1"/>
          </p:cNvPicPr>
          <p:nvPr/>
        </p:nvPicPr>
        <p:blipFill>
          <a:blip r:embed="rId4"/>
          <a:stretch>
            <a:fillRect/>
          </a:stretch>
        </p:blipFill>
        <p:spPr>
          <a:xfrm flipH="1">
            <a:off x="4845479" y="2133286"/>
            <a:ext cx="314663" cy="343505"/>
          </a:xfrm>
          <a:prstGeom prst="rect">
            <a:avLst/>
          </a:prstGeom>
        </p:spPr>
      </p:pic>
      <p:pic>
        <p:nvPicPr>
          <p:cNvPr id="39" name="Picture 38" descr="A gold ball on a black background&#10;&#10;Description automatically generated">
            <a:extLst>
              <a:ext uri="{FF2B5EF4-FFF2-40B4-BE49-F238E27FC236}">
                <a16:creationId xmlns:a16="http://schemas.microsoft.com/office/drawing/2014/main" id="{47ABA344-C15E-D3E3-AA93-BC81DEA3973F}"/>
              </a:ext>
            </a:extLst>
          </p:cNvPr>
          <p:cNvPicPr>
            <a:picLocks noChangeAspect="1"/>
          </p:cNvPicPr>
          <p:nvPr/>
        </p:nvPicPr>
        <p:blipFill>
          <a:blip r:embed="rId4"/>
          <a:stretch>
            <a:fillRect/>
          </a:stretch>
        </p:blipFill>
        <p:spPr>
          <a:xfrm flipH="1">
            <a:off x="7584366" y="2521475"/>
            <a:ext cx="330912" cy="308355"/>
          </a:xfrm>
          <a:prstGeom prst="rect">
            <a:avLst/>
          </a:prstGeom>
        </p:spPr>
      </p:pic>
      <p:pic>
        <p:nvPicPr>
          <p:cNvPr id="40" name="Picture 39" descr="A gold ball on a black background&#10;&#10;Description automatically generated">
            <a:extLst>
              <a:ext uri="{FF2B5EF4-FFF2-40B4-BE49-F238E27FC236}">
                <a16:creationId xmlns:a16="http://schemas.microsoft.com/office/drawing/2014/main" id="{F4CEB6F2-3E79-EFB7-3F0F-222FF313B09B}"/>
              </a:ext>
            </a:extLst>
          </p:cNvPr>
          <p:cNvPicPr>
            <a:picLocks noChangeAspect="1"/>
          </p:cNvPicPr>
          <p:nvPr/>
        </p:nvPicPr>
        <p:blipFill>
          <a:blip r:embed="rId4"/>
          <a:stretch>
            <a:fillRect/>
          </a:stretch>
        </p:blipFill>
        <p:spPr>
          <a:xfrm flipH="1">
            <a:off x="7843160" y="1766661"/>
            <a:ext cx="255309" cy="236133"/>
          </a:xfrm>
          <a:prstGeom prst="rect">
            <a:avLst/>
          </a:prstGeom>
        </p:spPr>
      </p:pic>
      <p:pic>
        <p:nvPicPr>
          <p:cNvPr id="41" name="Picture 40" descr="A gold ball on a black background&#10;&#10;Description automatically generated">
            <a:extLst>
              <a:ext uri="{FF2B5EF4-FFF2-40B4-BE49-F238E27FC236}">
                <a16:creationId xmlns:a16="http://schemas.microsoft.com/office/drawing/2014/main" id="{95622B2A-C3A4-4D3B-EE31-B7A095071415}"/>
              </a:ext>
            </a:extLst>
          </p:cNvPr>
          <p:cNvPicPr>
            <a:picLocks noChangeAspect="1"/>
          </p:cNvPicPr>
          <p:nvPr/>
        </p:nvPicPr>
        <p:blipFill>
          <a:blip r:embed="rId4"/>
          <a:stretch>
            <a:fillRect/>
          </a:stretch>
        </p:blipFill>
        <p:spPr>
          <a:xfrm flipH="1">
            <a:off x="5621859" y="1960757"/>
            <a:ext cx="303453" cy="313029"/>
          </a:xfrm>
          <a:prstGeom prst="rect">
            <a:avLst/>
          </a:prstGeom>
        </p:spPr>
      </p:pic>
      <p:pic>
        <p:nvPicPr>
          <p:cNvPr id="42" name="Picture 41" descr="A gold ball on a black background&#10;&#10;Description automatically generated">
            <a:extLst>
              <a:ext uri="{FF2B5EF4-FFF2-40B4-BE49-F238E27FC236}">
                <a16:creationId xmlns:a16="http://schemas.microsoft.com/office/drawing/2014/main" id="{6B080AD4-613E-9F2F-54AB-E881191DEF1F}"/>
              </a:ext>
            </a:extLst>
          </p:cNvPr>
          <p:cNvPicPr>
            <a:picLocks noChangeAspect="1"/>
          </p:cNvPicPr>
          <p:nvPr/>
        </p:nvPicPr>
        <p:blipFill>
          <a:blip r:embed="rId4"/>
          <a:stretch>
            <a:fillRect/>
          </a:stretch>
        </p:blipFill>
        <p:spPr>
          <a:xfrm flipH="1">
            <a:off x="6247268" y="1704604"/>
            <a:ext cx="289988" cy="319787"/>
          </a:xfrm>
          <a:prstGeom prst="rect">
            <a:avLst/>
          </a:prstGeom>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81472" y="7675622"/>
            <a:ext cx="169158" cy="195099"/>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67966" y="7578072"/>
            <a:ext cx="169158" cy="195099"/>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58028" y="7831694"/>
            <a:ext cx="169158" cy="195099"/>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27186" y="7844496"/>
            <a:ext cx="169158" cy="195099"/>
          </a:xfrm>
          <a:prstGeom prst="rect">
            <a:avLst/>
          </a:prstGeom>
        </p:spPr>
      </p:pic>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83387" y="7844496"/>
            <a:ext cx="169158" cy="195099"/>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66229" y="8052398"/>
            <a:ext cx="169158" cy="195099"/>
          </a:xfrm>
          <a:prstGeom prst="rect">
            <a:avLst/>
          </a:prstGeom>
        </p:spPr>
      </p:pic>
      <p:pic>
        <p:nvPicPr>
          <p:cNvPr id="16" name="Picture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68609" y="8498618"/>
            <a:ext cx="169158" cy="195099"/>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21237" y="8165156"/>
            <a:ext cx="169158" cy="195099"/>
          </a:xfrm>
          <a:prstGeom prst="rect">
            <a:avLst/>
          </a:prstGeom>
        </p:spPr>
      </p:pic>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19440" y="7711379"/>
            <a:ext cx="169158" cy="195099"/>
          </a:xfrm>
          <a:prstGeom prst="rect">
            <a:avLst/>
          </a:prstGeom>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06096" y="7796464"/>
            <a:ext cx="215433" cy="248471"/>
          </a:xfrm>
          <a:prstGeom prst="rect">
            <a:avLst/>
          </a:prstGeom>
        </p:spPr>
      </p:pic>
      <p:pic>
        <p:nvPicPr>
          <p:cNvPr id="20" name="Picture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91512" y="8457804"/>
            <a:ext cx="169158" cy="195099"/>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68396" y="8496476"/>
            <a:ext cx="169158" cy="195099"/>
          </a:xfrm>
          <a:prstGeom prst="rect">
            <a:avLst/>
          </a:prstGeom>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45289" y="8360255"/>
            <a:ext cx="169158" cy="195099"/>
          </a:xfrm>
          <a:prstGeom prst="rect">
            <a:avLst/>
          </a:prstGeom>
        </p:spPr>
      </p:pic>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55815" y="8039595"/>
            <a:ext cx="169158" cy="195099"/>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61055" y="8315010"/>
            <a:ext cx="169158" cy="195099"/>
          </a:xfrm>
          <a:prstGeom prst="rect">
            <a:avLst/>
          </a:prstGeom>
        </p:spPr>
      </p:pic>
      <p:pic>
        <p:nvPicPr>
          <p:cNvPr id="25" name="Pictur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85906" y="8096861"/>
            <a:ext cx="169158" cy="195099"/>
          </a:xfrm>
          <a:prstGeom prst="rect">
            <a:avLst/>
          </a:prstGeom>
        </p:spPr>
      </p:pic>
      <p:pic>
        <p:nvPicPr>
          <p:cNvPr id="26" name="Picture 2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96719" y="7878711"/>
            <a:ext cx="169158" cy="195099"/>
          </a:xfrm>
          <a:prstGeom prst="rect">
            <a:avLst/>
          </a:prstGeom>
        </p:spPr>
      </p:pic>
      <p:pic>
        <p:nvPicPr>
          <p:cNvPr id="27" name="Picture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0473" y="8655857"/>
            <a:ext cx="169158" cy="195099"/>
          </a:xfrm>
          <a:prstGeom prst="rect">
            <a:avLst/>
          </a:prstGeom>
        </p:spPr>
      </p:pic>
      <p:pic>
        <p:nvPicPr>
          <p:cNvPr id="28" name="Pictur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86318" y="8335046"/>
            <a:ext cx="169158" cy="195099"/>
          </a:xfrm>
          <a:prstGeom prst="rect">
            <a:avLst/>
          </a:prstGeom>
        </p:spPr>
      </p:pic>
      <p:pic>
        <p:nvPicPr>
          <p:cNvPr id="29" name="Picture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60695" y="8594025"/>
            <a:ext cx="169158" cy="195099"/>
          </a:xfrm>
          <a:prstGeom prst="rect">
            <a:avLst/>
          </a:prstGeom>
        </p:spPr>
      </p:pic>
      <p:pic>
        <p:nvPicPr>
          <p:cNvPr id="30" name="Picture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55476" y="8808851"/>
            <a:ext cx="169158" cy="195099"/>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1631" y="8594025"/>
            <a:ext cx="169158" cy="195099"/>
          </a:xfrm>
          <a:prstGeom prst="rect">
            <a:avLst/>
          </a:prstGeom>
        </p:spPr>
      </p:pic>
      <p:pic>
        <p:nvPicPr>
          <p:cNvPr id="32" name="Picture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0720" y="7829288"/>
            <a:ext cx="169158" cy="195099"/>
          </a:xfrm>
          <a:prstGeom prst="rect">
            <a:avLst/>
          </a:prstGeom>
        </p:spPr>
      </p:pic>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96836" y="7845861"/>
            <a:ext cx="169158" cy="195099"/>
          </a:xfrm>
          <a:prstGeom prst="rect">
            <a:avLst/>
          </a:prstGeom>
        </p:spPr>
      </p:pic>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47272" y="7801464"/>
            <a:ext cx="169158" cy="195099"/>
          </a:xfrm>
          <a:prstGeom prst="rect">
            <a:avLst/>
          </a:prstGeom>
        </p:spPr>
      </p:pic>
      <p:pic>
        <p:nvPicPr>
          <p:cNvPr id="36" name="Picture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02525" y="8023169"/>
            <a:ext cx="169158" cy="195099"/>
          </a:xfrm>
          <a:prstGeom prst="rect">
            <a:avLst/>
          </a:prstGeom>
        </p:spPr>
      </p:pic>
      <p:pic>
        <p:nvPicPr>
          <p:cNvPr id="43" name="Picture 4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17839" y="7996563"/>
            <a:ext cx="169158" cy="195099"/>
          </a:xfrm>
          <a:prstGeom prst="rect">
            <a:avLst/>
          </a:prstGeom>
        </p:spPr>
      </p:pic>
      <p:pic>
        <p:nvPicPr>
          <p:cNvPr id="44" name="Picture 4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69668" y="8043638"/>
            <a:ext cx="169158" cy="195099"/>
          </a:xfrm>
          <a:prstGeom prst="rect">
            <a:avLst/>
          </a:prstGeom>
        </p:spPr>
      </p:pic>
      <p:pic>
        <p:nvPicPr>
          <p:cNvPr id="45" name="Picture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8099" y="8228532"/>
            <a:ext cx="169158" cy="195099"/>
          </a:xfrm>
          <a:prstGeom prst="rect">
            <a:avLst/>
          </a:prstGeom>
        </p:spPr>
      </p:pic>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47868" y="7899014"/>
            <a:ext cx="169158" cy="195099"/>
          </a:xfrm>
          <a:prstGeom prst="rect">
            <a:avLst/>
          </a:prstGeom>
        </p:spPr>
      </p:pic>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38788" y="7613829"/>
            <a:ext cx="169158" cy="195099"/>
          </a:xfrm>
          <a:prstGeom prst="rect">
            <a:avLst/>
          </a:prstGeom>
        </p:spPr>
      </p:pic>
      <p:pic>
        <p:nvPicPr>
          <p:cNvPr id="48" name="Picture 4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3543" y="7675622"/>
            <a:ext cx="169158" cy="195099"/>
          </a:xfrm>
          <a:prstGeom prst="rect">
            <a:avLst/>
          </a:prstGeom>
        </p:spPr>
      </p:pic>
      <p:pic>
        <p:nvPicPr>
          <p:cNvPr id="49" name="Picture 4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98746" y="7872393"/>
            <a:ext cx="169158" cy="195099"/>
          </a:xfrm>
          <a:prstGeom prst="rect">
            <a:avLst/>
          </a:prstGeom>
        </p:spPr>
      </p:pic>
      <p:pic>
        <p:nvPicPr>
          <p:cNvPr id="50" name="Picture 4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18367" y="7801464"/>
            <a:ext cx="169158" cy="195099"/>
          </a:xfrm>
          <a:prstGeom prst="rect">
            <a:avLst/>
          </a:prstGeom>
        </p:spPr>
      </p:pic>
      <p:pic>
        <p:nvPicPr>
          <p:cNvPr id="51" name="Picture 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36853" y="8067606"/>
            <a:ext cx="169158" cy="195099"/>
          </a:xfrm>
          <a:prstGeom prst="rect">
            <a:avLst/>
          </a:prstGeom>
        </p:spPr>
      </p:pic>
      <p:pic>
        <p:nvPicPr>
          <p:cNvPr id="52" name="Picture 5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28669" y="7989099"/>
            <a:ext cx="169158" cy="195099"/>
          </a:xfrm>
          <a:prstGeom prst="rect">
            <a:avLst/>
          </a:prstGeom>
        </p:spPr>
      </p:pic>
      <p:pic>
        <p:nvPicPr>
          <p:cNvPr id="53" name="Picture 5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12376" y="8360255"/>
            <a:ext cx="169158" cy="195099"/>
          </a:xfrm>
          <a:prstGeom prst="rect">
            <a:avLst/>
          </a:prstGeom>
        </p:spPr>
      </p:pic>
      <p:pic>
        <p:nvPicPr>
          <p:cNvPr id="54" name="Picture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06387" y="7925619"/>
            <a:ext cx="169158" cy="195099"/>
          </a:xfrm>
          <a:prstGeom prst="rect">
            <a:avLst/>
          </a:prstGeom>
        </p:spPr>
      </p:pic>
      <p:pic>
        <p:nvPicPr>
          <p:cNvPr id="55" name="Picture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13722" y="7774844"/>
            <a:ext cx="169158" cy="195099"/>
          </a:xfrm>
          <a:prstGeom prst="rect">
            <a:avLst/>
          </a:prstGeom>
        </p:spPr>
      </p:pic>
      <p:pic>
        <p:nvPicPr>
          <p:cNvPr id="56" name="Picture 5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44738" y="7759259"/>
            <a:ext cx="169158" cy="195099"/>
          </a:xfrm>
          <a:prstGeom prst="rect">
            <a:avLst/>
          </a:prstGeom>
        </p:spPr>
      </p:pic>
      <p:pic>
        <p:nvPicPr>
          <p:cNvPr id="57" name="Picture 5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60524" y="8392875"/>
            <a:ext cx="169158" cy="195099"/>
          </a:xfrm>
          <a:prstGeom prst="rect">
            <a:avLst/>
          </a:prstGeom>
        </p:spPr>
      </p:pic>
      <p:pic>
        <p:nvPicPr>
          <p:cNvPr id="58" name="Pictur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88568" y="7963364"/>
            <a:ext cx="169158" cy="195099"/>
          </a:xfrm>
          <a:prstGeom prst="rect">
            <a:avLst/>
          </a:prstGeom>
        </p:spPr>
      </p:pic>
      <p:pic>
        <p:nvPicPr>
          <p:cNvPr id="59" name="Picture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44870" y="8227314"/>
            <a:ext cx="169158" cy="195099"/>
          </a:xfrm>
          <a:prstGeom prst="rect">
            <a:avLst/>
          </a:prstGeom>
        </p:spPr>
      </p:pic>
      <p:pic>
        <p:nvPicPr>
          <p:cNvPr id="60" name="Picture 5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8469" y="8194410"/>
            <a:ext cx="169158" cy="195099"/>
          </a:xfrm>
          <a:prstGeom prst="rect">
            <a:avLst/>
          </a:prstGeom>
        </p:spPr>
      </p:pic>
      <p:pic>
        <p:nvPicPr>
          <p:cNvPr id="61" name="Picture 6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99774" y="8204757"/>
            <a:ext cx="169158" cy="195099"/>
          </a:xfrm>
          <a:prstGeom prst="rect">
            <a:avLst/>
          </a:prstGeom>
        </p:spPr>
      </p:pic>
      <p:pic>
        <p:nvPicPr>
          <p:cNvPr id="63" name="Picture 62" descr="A gold ball on a black background&#10;&#10;Description automatically generated">
            <a:extLst>
              <a:ext uri="{FF2B5EF4-FFF2-40B4-BE49-F238E27FC236}">
                <a16:creationId xmlns:a16="http://schemas.microsoft.com/office/drawing/2014/main" id="{6B080AD4-613E-9F2F-54AB-E881191DEF1F}"/>
              </a:ext>
            </a:extLst>
          </p:cNvPr>
          <p:cNvPicPr>
            <a:picLocks noChangeAspect="1"/>
          </p:cNvPicPr>
          <p:nvPr/>
        </p:nvPicPr>
        <p:blipFill>
          <a:blip r:embed="rId4"/>
          <a:stretch>
            <a:fillRect/>
          </a:stretch>
        </p:blipFill>
        <p:spPr>
          <a:xfrm flipH="1">
            <a:off x="6578681" y="2201689"/>
            <a:ext cx="289988" cy="319787"/>
          </a:xfrm>
          <a:prstGeom prst="rect">
            <a:avLst/>
          </a:prstGeom>
        </p:spPr>
      </p:pic>
      <p:sp>
        <p:nvSpPr>
          <p:cNvPr id="2" name="TextBox 1">
            <a:extLst>
              <a:ext uri="{FF2B5EF4-FFF2-40B4-BE49-F238E27FC236}">
                <a16:creationId xmlns:a16="http://schemas.microsoft.com/office/drawing/2014/main" id="{A90C91EE-4F4A-4C8D-AB3E-AE87E0737977}"/>
              </a:ext>
            </a:extLst>
          </p:cNvPr>
          <p:cNvSpPr txBox="1"/>
          <p:nvPr/>
        </p:nvSpPr>
        <p:spPr>
          <a:xfrm>
            <a:off x="12243548" y="3025589"/>
            <a:ext cx="5062817" cy="2585323"/>
          </a:xfrm>
          <a:prstGeom prst="rect">
            <a:avLst/>
          </a:prstGeom>
          <a:solidFill>
            <a:schemeClr val="accent6">
              <a:lumMod val="20000"/>
              <a:lumOff val="80000"/>
            </a:schemeClr>
          </a:solidFill>
          <a:ln w="28575"/>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2700" dirty="0"/>
              <a:t>DDS-DEEP DELIVERY SYSTEM</a:t>
            </a:r>
          </a:p>
          <a:p>
            <a:pPr algn="just"/>
            <a:r>
              <a:rPr lang="en-US" sz="2700" dirty="0"/>
              <a:t> is capable of penetrating the innermost skin layers and selectively delivering the active ingredient</a:t>
            </a:r>
          </a:p>
          <a:p>
            <a:endParaRPr lang="en-US" sz="2700" dirty="0"/>
          </a:p>
        </p:txBody>
      </p:sp>
    </p:spTree>
    <p:extLst>
      <p:ext uri="{BB962C8B-B14F-4D97-AF65-F5344CB8AC3E}">
        <p14:creationId xmlns:p14="http://schemas.microsoft.com/office/powerpoint/2010/main" val="3732107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par>
                                <p:cTn id="13" presetID="10" presetClass="entr" presetSubtype="0" fill="hold" nodeType="with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500"/>
                                        <p:tgtEl>
                                          <p:spTgt spid="63"/>
                                        </p:tgtEl>
                                      </p:cBhvr>
                                    </p:animEffect>
                                  </p:childTnLst>
                                </p:cTn>
                              </p:par>
                              <p:par>
                                <p:cTn id="16" presetID="10" presetClass="entr" presetSubtype="0" fill="hold"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19" presetID="10"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par>
                                <p:cTn id="22" presetID="10" presetClass="entr" presetSubtype="0"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500"/>
                                        <p:tgtEl>
                                          <p:spTgt spid="39"/>
                                        </p:tgtEl>
                                      </p:cBhvr>
                                    </p:animEffect>
                                  </p:childTnLst>
                                </p:cTn>
                              </p:par>
                              <p:par>
                                <p:cTn id="25" presetID="10"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2250"/>
                                        <p:tgtEl>
                                          <p:spTgt spid="40"/>
                                        </p:tgtEl>
                                      </p:cBhvr>
                                    </p:animEffect>
                                  </p:childTnLst>
                                </p:cTn>
                              </p:par>
                              <p:par>
                                <p:cTn id="31" presetID="8" presetClass="emph" presetSubtype="0" fill="hold" nodeType="withEffect">
                                  <p:stCondLst>
                                    <p:cond delay="0"/>
                                  </p:stCondLst>
                                  <p:childTnLst>
                                    <p:animRot by="21600000">
                                      <p:cBhvr>
                                        <p:cTn id="32" dur="2250" fill="hold"/>
                                        <p:tgtEl>
                                          <p:spTgt spid="40"/>
                                        </p:tgtEl>
                                        <p:attrNameLst>
                                          <p:attrName>r</p:attrName>
                                        </p:attrNameLst>
                                      </p:cBhvr>
                                    </p:animRot>
                                  </p:childTnLst>
                                </p:cTn>
                              </p:par>
                              <p:par>
                                <p:cTn id="33" presetID="8" presetClass="emph" presetSubtype="0" fill="hold" nodeType="withEffect">
                                  <p:stCondLst>
                                    <p:cond delay="0"/>
                                  </p:stCondLst>
                                  <p:childTnLst>
                                    <p:animRot by="21600000">
                                      <p:cBhvr>
                                        <p:cTn id="34" dur="2000" fill="hold"/>
                                        <p:tgtEl>
                                          <p:spTgt spid="39"/>
                                        </p:tgtEl>
                                        <p:attrNameLst>
                                          <p:attrName>r</p:attrName>
                                        </p:attrNameLst>
                                      </p:cBhvr>
                                    </p:animRot>
                                  </p:childTnLst>
                                </p:cTn>
                              </p:par>
                              <p:par>
                                <p:cTn id="35" presetID="8" presetClass="emph" presetSubtype="0" fill="hold" nodeType="withEffect">
                                  <p:stCondLst>
                                    <p:cond delay="0"/>
                                  </p:stCondLst>
                                  <p:childTnLst>
                                    <p:animRot by="21600000">
                                      <p:cBhvr>
                                        <p:cTn id="36" dur="2000" fill="hold"/>
                                        <p:tgtEl>
                                          <p:spTgt spid="35"/>
                                        </p:tgtEl>
                                        <p:attrNameLst>
                                          <p:attrName>r</p:attrName>
                                        </p:attrNameLst>
                                      </p:cBhvr>
                                    </p:animRot>
                                  </p:childTnLst>
                                </p:cTn>
                              </p:par>
                              <p:par>
                                <p:cTn id="37" presetID="8" presetClass="emph" presetSubtype="0" fill="hold" nodeType="withEffect">
                                  <p:stCondLst>
                                    <p:cond delay="0"/>
                                  </p:stCondLst>
                                  <p:childTnLst>
                                    <p:animRot by="21600000">
                                      <p:cBhvr>
                                        <p:cTn id="38" dur="2000" fill="hold"/>
                                        <p:tgtEl>
                                          <p:spTgt spid="63"/>
                                        </p:tgtEl>
                                        <p:attrNameLst>
                                          <p:attrName>r</p:attrName>
                                        </p:attrNameLst>
                                      </p:cBhvr>
                                    </p:animRot>
                                  </p:childTnLst>
                                </p:cTn>
                              </p:par>
                              <p:par>
                                <p:cTn id="39" presetID="8" presetClass="emph" presetSubtype="0" fill="hold" nodeType="withEffect">
                                  <p:stCondLst>
                                    <p:cond delay="0"/>
                                  </p:stCondLst>
                                  <p:childTnLst>
                                    <p:animRot by="21600000">
                                      <p:cBhvr>
                                        <p:cTn id="40" dur="2000" fill="hold"/>
                                        <p:tgtEl>
                                          <p:spTgt spid="42"/>
                                        </p:tgtEl>
                                        <p:attrNameLst>
                                          <p:attrName>r</p:attrName>
                                        </p:attrNameLst>
                                      </p:cBhvr>
                                    </p:animRot>
                                  </p:childTnLst>
                                </p:cTn>
                              </p:par>
                              <p:par>
                                <p:cTn id="41" presetID="8" presetClass="emph" presetSubtype="0" fill="hold" nodeType="withEffect">
                                  <p:stCondLst>
                                    <p:cond delay="0"/>
                                  </p:stCondLst>
                                  <p:childTnLst>
                                    <p:animRot by="21600000">
                                      <p:cBhvr>
                                        <p:cTn id="42" dur="2000" fill="hold"/>
                                        <p:tgtEl>
                                          <p:spTgt spid="41"/>
                                        </p:tgtEl>
                                        <p:attrNameLst>
                                          <p:attrName>r</p:attrName>
                                        </p:attrNameLst>
                                      </p:cBhvr>
                                    </p:animRot>
                                  </p:childTnLst>
                                </p:cTn>
                              </p:par>
                              <p:par>
                                <p:cTn id="43" presetID="8" presetClass="emph" presetSubtype="0" fill="hold" nodeType="withEffect">
                                  <p:stCondLst>
                                    <p:cond delay="0"/>
                                  </p:stCondLst>
                                  <p:childTnLst>
                                    <p:animRot by="21600000">
                                      <p:cBhvr>
                                        <p:cTn id="44" dur="2000" fill="hold"/>
                                        <p:tgtEl>
                                          <p:spTgt spid="38"/>
                                        </p:tgtEl>
                                        <p:attrNameLst>
                                          <p:attrName>r</p:attrName>
                                        </p:attrNameLst>
                                      </p:cBhvr>
                                    </p:animRot>
                                  </p:childTnLst>
                                </p:cTn>
                              </p:par>
                            </p:childTnLst>
                          </p:cTn>
                        </p:par>
                        <p:par>
                          <p:cTn id="45" fill="hold">
                            <p:stCondLst>
                              <p:cond delay="2250"/>
                            </p:stCondLst>
                            <p:childTnLst>
                              <p:par>
                                <p:cTn id="46" presetID="6" presetClass="emph" presetSubtype="0" fill="hold" nodeType="afterEffect">
                                  <p:stCondLst>
                                    <p:cond delay="0"/>
                                  </p:stCondLst>
                                  <p:childTnLst>
                                    <p:animScale>
                                      <p:cBhvr>
                                        <p:cTn id="47" dur="2000" fill="hold"/>
                                        <p:tgtEl>
                                          <p:spTgt spid="37"/>
                                        </p:tgtEl>
                                      </p:cBhvr>
                                      <p:by x="150000" y="150000"/>
                                    </p:animScale>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nodeType="clickEffect">
                                  <p:stCondLst>
                                    <p:cond delay="0"/>
                                  </p:stCondLst>
                                  <p:childTnLst>
                                    <p:animMotion origin="layout" path="M -0.00039 -0.00648 L 0.00195 0.51829 " pathEditMode="relative" rAng="0" ptsTypes="AA">
                                      <p:cBhvr>
                                        <p:cTn id="51" dur="5500" fill="hold"/>
                                        <p:tgtEl>
                                          <p:spTgt spid="38"/>
                                        </p:tgtEl>
                                        <p:attrNameLst>
                                          <p:attrName>ppt_x</p:attrName>
                                          <p:attrName>ppt_y</p:attrName>
                                        </p:attrNameLst>
                                      </p:cBhvr>
                                      <p:rCtr x="117" y="26227"/>
                                    </p:animMotion>
                                  </p:childTnLst>
                                </p:cTn>
                              </p:par>
                              <p:par>
                                <p:cTn id="52" presetID="42" presetClass="path" presetSubtype="0" accel="50000" decel="50000" fill="hold" nodeType="withEffect">
                                  <p:stCondLst>
                                    <p:cond delay="0"/>
                                  </p:stCondLst>
                                  <p:childTnLst>
                                    <p:animMotion origin="layout" path="M 1.875E-6 3.7037E-7 L 0.00625 0.53356 " pathEditMode="relative" rAng="0" ptsTypes="AA">
                                      <p:cBhvr>
                                        <p:cTn id="53" dur="4250" fill="hold"/>
                                        <p:tgtEl>
                                          <p:spTgt spid="63"/>
                                        </p:tgtEl>
                                        <p:attrNameLst>
                                          <p:attrName>ppt_x</p:attrName>
                                          <p:attrName>ppt_y</p:attrName>
                                        </p:attrNameLst>
                                      </p:cBhvr>
                                      <p:rCtr x="313" y="26667"/>
                                    </p:animMotion>
                                  </p:childTnLst>
                                </p:cTn>
                              </p:par>
                              <p:par>
                                <p:cTn id="54" presetID="42" presetClass="path" presetSubtype="0" accel="50000" decel="50000" fill="hold" nodeType="withEffect">
                                  <p:stCondLst>
                                    <p:cond delay="0"/>
                                  </p:stCondLst>
                                  <p:childTnLst>
                                    <p:animMotion origin="layout" path="M 5E-6 2.96296E-6 L 0.00834 0.52963 " pathEditMode="relative" rAng="0" ptsTypes="AA">
                                      <p:cBhvr>
                                        <p:cTn id="55" dur="4250" fill="hold"/>
                                        <p:tgtEl>
                                          <p:spTgt spid="41"/>
                                        </p:tgtEl>
                                        <p:attrNameLst>
                                          <p:attrName>ppt_x</p:attrName>
                                          <p:attrName>ppt_y</p:attrName>
                                        </p:attrNameLst>
                                      </p:cBhvr>
                                      <p:rCtr x="417" y="26481"/>
                                    </p:animMotion>
                                  </p:childTnLst>
                                </p:cTn>
                              </p:par>
                              <p:par>
                                <p:cTn id="56" presetID="42" presetClass="path" presetSubtype="0" accel="50000" decel="50000" fill="hold" nodeType="withEffect">
                                  <p:stCondLst>
                                    <p:cond delay="0"/>
                                  </p:stCondLst>
                                  <p:childTnLst>
                                    <p:animMotion origin="layout" path="M 8.33333E-7 2.77556E-17 L 0.00625 0.53356 " pathEditMode="relative" rAng="0" ptsTypes="AA">
                                      <p:cBhvr>
                                        <p:cTn id="57" dur="4250" fill="hold"/>
                                        <p:tgtEl>
                                          <p:spTgt spid="42"/>
                                        </p:tgtEl>
                                        <p:attrNameLst>
                                          <p:attrName>ppt_x</p:attrName>
                                          <p:attrName>ppt_y</p:attrName>
                                        </p:attrNameLst>
                                      </p:cBhvr>
                                      <p:rCtr x="313" y="26667"/>
                                    </p:animMotion>
                                  </p:childTnLst>
                                </p:cTn>
                              </p:par>
                              <p:par>
                                <p:cTn id="58" presetID="42" presetClass="path" presetSubtype="0" accel="50000" decel="50000" fill="hold" nodeType="withEffect">
                                  <p:stCondLst>
                                    <p:cond delay="0"/>
                                  </p:stCondLst>
                                  <p:childTnLst>
                                    <p:animMotion origin="layout" path="M 2.08333E-6 -3.7037E-6 L 0.02161 0.55602 " pathEditMode="relative" rAng="0" ptsTypes="AA">
                                      <p:cBhvr>
                                        <p:cTn id="59" dur="4250" fill="hold"/>
                                        <p:tgtEl>
                                          <p:spTgt spid="39"/>
                                        </p:tgtEl>
                                        <p:attrNameLst>
                                          <p:attrName>ppt_x</p:attrName>
                                          <p:attrName>ppt_y</p:attrName>
                                        </p:attrNameLst>
                                      </p:cBhvr>
                                      <p:rCtr x="1081" y="27801"/>
                                    </p:animMotion>
                                  </p:childTnLst>
                                </p:cTn>
                              </p:par>
                              <p:par>
                                <p:cTn id="60" presetID="42" presetClass="path" presetSubtype="0" accel="50000" decel="50000" fill="hold" nodeType="withEffect">
                                  <p:stCondLst>
                                    <p:cond delay="0"/>
                                  </p:stCondLst>
                                  <p:childTnLst>
                                    <p:animMotion origin="layout" path="M 2.70833E-6 -1.85185E-6 L 0.03359 0.57014 " pathEditMode="relative" rAng="0" ptsTypes="AA">
                                      <p:cBhvr>
                                        <p:cTn id="61" dur="2250" fill="hold"/>
                                        <p:tgtEl>
                                          <p:spTgt spid="40"/>
                                        </p:tgtEl>
                                        <p:attrNameLst>
                                          <p:attrName>ppt_x</p:attrName>
                                          <p:attrName>ppt_y</p:attrName>
                                        </p:attrNameLst>
                                      </p:cBhvr>
                                      <p:rCtr x="1680" y="28495"/>
                                    </p:animMotion>
                                  </p:childTnLst>
                                </p:cTn>
                              </p:par>
                              <p:par>
                                <p:cTn id="62" presetID="42" presetClass="path" presetSubtype="0" accel="50000" decel="50000" fill="hold" nodeType="withEffect">
                                  <p:stCondLst>
                                    <p:cond delay="0"/>
                                  </p:stCondLst>
                                  <p:childTnLst>
                                    <p:animMotion origin="layout" path="M 4.375E-6 1.85185E-6 L -0.01563 0.48704 " pathEditMode="relative" rAng="0" ptsTypes="AA">
                                      <p:cBhvr>
                                        <p:cTn id="63" dur="4000" fill="hold"/>
                                        <p:tgtEl>
                                          <p:spTgt spid="35"/>
                                        </p:tgtEl>
                                        <p:attrNameLst>
                                          <p:attrName>ppt_x</p:attrName>
                                          <p:attrName>ppt_y</p:attrName>
                                        </p:attrNameLst>
                                      </p:cBhvr>
                                      <p:rCtr x="-781" y="24352"/>
                                    </p:animMotion>
                                  </p:childTnLst>
                                </p:cTn>
                              </p:par>
                            </p:childTnLst>
                          </p:cTn>
                        </p:par>
                        <p:par>
                          <p:cTn id="64" fill="hold">
                            <p:stCondLst>
                              <p:cond delay="5500"/>
                            </p:stCondLst>
                            <p:childTnLst>
                              <p:par>
                                <p:cTn id="65" presetID="6" presetClass="exit" presetSubtype="32" fill="hold" nodeType="afterEffect">
                                  <p:stCondLst>
                                    <p:cond delay="0"/>
                                  </p:stCondLst>
                                  <p:childTnLst>
                                    <p:animEffect transition="out" filter="circle(out)">
                                      <p:cBhvr>
                                        <p:cTn id="66" dur="2250"/>
                                        <p:tgtEl>
                                          <p:spTgt spid="35"/>
                                        </p:tgtEl>
                                      </p:cBhvr>
                                    </p:animEffect>
                                    <p:set>
                                      <p:cBhvr>
                                        <p:cTn id="67" dur="1" fill="hold">
                                          <p:stCondLst>
                                            <p:cond delay="2249"/>
                                          </p:stCondLst>
                                        </p:cTn>
                                        <p:tgtEl>
                                          <p:spTgt spid="35"/>
                                        </p:tgtEl>
                                        <p:attrNameLst>
                                          <p:attrName>style.visibility</p:attrName>
                                        </p:attrNameLst>
                                      </p:cBhvr>
                                      <p:to>
                                        <p:strVal val="hidden"/>
                                      </p:to>
                                    </p:set>
                                  </p:childTnLst>
                                  <p:subTnLst>
                                    <p:audio>
                                      <p:cMediaNode mute="1">
                                        <p:cTn display="0" masterRel="sameClick">
                                          <p:stCondLst>
                                            <p:cond evt="begin" delay="0">
                                              <p:tn val="65"/>
                                            </p:cond>
                                          </p:stCondLst>
                                          <p:endCondLst>
                                            <p:cond evt="onStopAudio" delay="0">
                                              <p:tgtEl>
                                                <p:sldTgt/>
                                              </p:tgtEl>
                                            </p:cond>
                                          </p:endCondLst>
                                        </p:cTn>
                                        <p:tgtEl>
                                          <p:sndTgt r:embed="rId2" name="whoosh.wav"/>
                                        </p:tgtEl>
                                      </p:cMediaNode>
                                    </p:audio>
                                  </p:subTnLst>
                                </p:cTn>
                              </p:par>
                              <p:par>
                                <p:cTn id="68" presetID="6" presetClass="exit" presetSubtype="32" fill="hold" nodeType="withEffect">
                                  <p:stCondLst>
                                    <p:cond delay="0"/>
                                  </p:stCondLst>
                                  <p:childTnLst>
                                    <p:animEffect transition="out" filter="circle(out)">
                                      <p:cBhvr>
                                        <p:cTn id="69" dur="2000"/>
                                        <p:tgtEl>
                                          <p:spTgt spid="40"/>
                                        </p:tgtEl>
                                      </p:cBhvr>
                                    </p:animEffect>
                                    <p:set>
                                      <p:cBhvr>
                                        <p:cTn id="70" dur="1" fill="hold">
                                          <p:stCondLst>
                                            <p:cond delay="1999"/>
                                          </p:stCondLst>
                                        </p:cTn>
                                        <p:tgtEl>
                                          <p:spTgt spid="40"/>
                                        </p:tgtEl>
                                        <p:attrNameLst>
                                          <p:attrName>style.visibility</p:attrName>
                                        </p:attrNameLst>
                                      </p:cBhvr>
                                      <p:to>
                                        <p:strVal val="hidden"/>
                                      </p:to>
                                    </p:set>
                                  </p:childTnLst>
                                </p:cTn>
                              </p:par>
                              <p:par>
                                <p:cTn id="71" presetID="6" presetClass="exit" presetSubtype="32" fill="hold" nodeType="withEffect">
                                  <p:stCondLst>
                                    <p:cond delay="0"/>
                                  </p:stCondLst>
                                  <p:childTnLst>
                                    <p:animEffect transition="out" filter="circle(out)">
                                      <p:cBhvr>
                                        <p:cTn id="72" dur="2000"/>
                                        <p:tgtEl>
                                          <p:spTgt spid="63"/>
                                        </p:tgtEl>
                                      </p:cBhvr>
                                    </p:animEffect>
                                    <p:set>
                                      <p:cBhvr>
                                        <p:cTn id="73" dur="1" fill="hold">
                                          <p:stCondLst>
                                            <p:cond delay="1999"/>
                                          </p:stCondLst>
                                        </p:cTn>
                                        <p:tgtEl>
                                          <p:spTgt spid="63"/>
                                        </p:tgtEl>
                                        <p:attrNameLst>
                                          <p:attrName>style.visibility</p:attrName>
                                        </p:attrNameLst>
                                      </p:cBhvr>
                                      <p:to>
                                        <p:strVal val="hidden"/>
                                      </p:to>
                                    </p:set>
                                  </p:childTnLst>
                                </p:cTn>
                              </p:par>
                              <p:par>
                                <p:cTn id="74" presetID="6" presetClass="exit" presetSubtype="32" fill="hold" nodeType="withEffect">
                                  <p:stCondLst>
                                    <p:cond delay="0"/>
                                  </p:stCondLst>
                                  <p:childTnLst>
                                    <p:animEffect transition="out" filter="circle(out)">
                                      <p:cBhvr>
                                        <p:cTn id="75" dur="2000"/>
                                        <p:tgtEl>
                                          <p:spTgt spid="39"/>
                                        </p:tgtEl>
                                      </p:cBhvr>
                                    </p:animEffect>
                                    <p:set>
                                      <p:cBhvr>
                                        <p:cTn id="76" dur="1" fill="hold">
                                          <p:stCondLst>
                                            <p:cond delay="1999"/>
                                          </p:stCondLst>
                                        </p:cTn>
                                        <p:tgtEl>
                                          <p:spTgt spid="39"/>
                                        </p:tgtEl>
                                        <p:attrNameLst>
                                          <p:attrName>style.visibility</p:attrName>
                                        </p:attrNameLst>
                                      </p:cBhvr>
                                      <p:to>
                                        <p:strVal val="hidden"/>
                                      </p:to>
                                    </p:set>
                                  </p:childTnLst>
                                </p:cTn>
                              </p:par>
                              <p:par>
                                <p:cTn id="77" presetID="6" presetClass="exit" presetSubtype="32" fill="hold" nodeType="withEffect">
                                  <p:stCondLst>
                                    <p:cond delay="0"/>
                                  </p:stCondLst>
                                  <p:childTnLst>
                                    <p:animEffect transition="out" filter="circle(out)">
                                      <p:cBhvr>
                                        <p:cTn id="78" dur="2000"/>
                                        <p:tgtEl>
                                          <p:spTgt spid="42"/>
                                        </p:tgtEl>
                                      </p:cBhvr>
                                    </p:animEffect>
                                    <p:set>
                                      <p:cBhvr>
                                        <p:cTn id="79" dur="1" fill="hold">
                                          <p:stCondLst>
                                            <p:cond delay="1999"/>
                                          </p:stCondLst>
                                        </p:cTn>
                                        <p:tgtEl>
                                          <p:spTgt spid="42"/>
                                        </p:tgtEl>
                                        <p:attrNameLst>
                                          <p:attrName>style.visibility</p:attrName>
                                        </p:attrNameLst>
                                      </p:cBhvr>
                                      <p:to>
                                        <p:strVal val="hidden"/>
                                      </p:to>
                                    </p:set>
                                  </p:childTnLst>
                                </p:cTn>
                              </p:par>
                              <p:par>
                                <p:cTn id="80" presetID="6" presetClass="exit" presetSubtype="32" fill="hold" nodeType="withEffect">
                                  <p:stCondLst>
                                    <p:cond delay="0"/>
                                  </p:stCondLst>
                                  <p:childTnLst>
                                    <p:animEffect transition="out" filter="circle(out)">
                                      <p:cBhvr>
                                        <p:cTn id="81" dur="2000"/>
                                        <p:tgtEl>
                                          <p:spTgt spid="41"/>
                                        </p:tgtEl>
                                      </p:cBhvr>
                                    </p:animEffect>
                                    <p:set>
                                      <p:cBhvr>
                                        <p:cTn id="82" dur="1" fill="hold">
                                          <p:stCondLst>
                                            <p:cond delay="1999"/>
                                          </p:stCondLst>
                                        </p:cTn>
                                        <p:tgtEl>
                                          <p:spTgt spid="41"/>
                                        </p:tgtEl>
                                        <p:attrNameLst>
                                          <p:attrName>style.visibility</p:attrName>
                                        </p:attrNameLst>
                                      </p:cBhvr>
                                      <p:to>
                                        <p:strVal val="hidden"/>
                                      </p:to>
                                    </p:set>
                                  </p:childTnLst>
                                </p:cTn>
                              </p:par>
                              <p:par>
                                <p:cTn id="83" presetID="6" presetClass="exit" presetSubtype="32" fill="hold" nodeType="withEffect">
                                  <p:stCondLst>
                                    <p:cond delay="0"/>
                                  </p:stCondLst>
                                  <p:childTnLst>
                                    <p:animEffect transition="out" filter="circle(out)">
                                      <p:cBhvr>
                                        <p:cTn id="84" dur="2000"/>
                                        <p:tgtEl>
                                          <p:spTgt spid="38"/>
                                        </p:tgtEl>
                                      </p:cBhvr>
                                    </p:animEffect>
                                    <p:set>
                                      <p:cBhvr>
                                        <p:cTn id="85" dur="1" fill="hold">
                                          <p:stCondLst>
                                            <p:cond delay="1999"/>
                                          </p:stCondLst>
                                        </p:cTn>
                                        <p:tgtEl>
                                          <p:spTgt spid="38"/>
                                        </p:tgtEl>
                                        <p:attrNameLst>
                                          <p:attrName>style.visibility</p:attrName>
                                        </p:attrNameLst>
                                      </p:cBhvr>
                                      <p:to>
                                        <p:strVal val="hidden"/>
                                      </p:to>
                                    </p:set>
                                  </p:childTnLst>
                                </p:cTn>
                              </p:par>
                              <p:par>
                                <p:cTn id="86" presetID="10" presetClass="entr" presetSubtype="0" fill="hold" nodeType="withEffect">
                                  <p:stCondLst>
                                    <p:cond delay="0"/>
                                  </p:stCondLst>
                                  <p:childTnLst>
                                    <p:set>
                                      <p:cBhvr>
                                        <p:cTn id="87" dur="1" fill="hold">
                                          <p:stCondLst>
                                            <p:cond delay="0"/>
                                          </p:stCondLst>
                                        </p:cTn>
                                        <p:tgtEl>
                                          <p:spTgt spid="11"/>
                                        </p:tgtEl>
                                        <p:attrNameLst>
                                          <p:attrName>style.visibility</p:attrName>
                                        </p:attrNameLst>
                                      </p:cBhvr>
                                      <p:to>
                                        <p:strVal val="visible"/>
                                      </p:to>
                                    </p:set>
                                    <p:animEffect transition="in" filter="fade">
                                      <p:cBhvr>
                                        <p:cTn id="88" dur="500"/>
                                        <p:tgtEl>
                                          <p:spTgt spid="11"/>
                                        </p:tgtEl>
                                      </p:cBhvr>
                                    </p:animEffect>
                                  </p:childTnLst>
                                </p:cTn>
                              </p:par>
                              <p:par>
                                <p:cTn id="89" presetID="10" presetClass="entr" presetSubtype="0" fill="hold" nodeType="withEffect">
                                  <p:stCondLst>
                                    <p:cond delay="0"/>
                                  </p:stCondLst>
                                  <p:childTnLst>
                                    <p:set>
                                      <p:cBhvr>
                                        <p:cTn id="90" dur="1" fill="hold">
                                          <p:stCondLst>
                                            <p:cond delay="0"/>
                                          </p:stCondLst>
                                        </p:cTn>
                                        <p:tgtEl>
                                          <p:spTgt spid="3"/>
                                        </p:tgtEl>
                                        <p:attrNameLst>
                                          <p:attrName>style.visibility</p:attrName>
                                        </p:attrNameLst>
                                      </p:cBhvr>
                                      <p:to>
                                        <p:strVal val="visible"/>
                                      </p:to>
                                    </p:set>
                                    <p:animEffect transition="in" filter="fade">
                                      <p:cBhvr>
                                        <p:cTn id="91" dur="500"/>
                                        <p:tgtEl>
                                          <p:spTgt spid="3"/>
                                        </p:tgtEl>
                                      </p:cBhvr>
                                    </p:animEffect>
                                  </p:childTnLst>
                                </p:cTn>
                              </p:par>
                              <p:par>
                                <p:cTn id="92" presetID="10" presetClass="entr" presetSubtype="0" fill="hold" nodeType="with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fade">
                                      <p:cBhvr>
                                        <p:cTn id="94" dur="500"/>
                                        <p:tgtEl>
                                          <p:spTgt spid="14"/>
                                        </p:tgtEl>
                                      </p:cBhvr>
                                    </p:animEffect>
                                  </p:childTnLst>
                                </p:cTn>
                              </p:par>
                              <p:par>
                                <p:cTn id="95" presetID="10" presetClass="entr" presetSubtype="0" fill="hold" nodeType="with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fade">
                                      <p:cBhvr>
                                        <p:cTn id="97" dur="500"/>
                                        <p:tgtEl>
                                          <p:spTgt spid="13"/>
                                        </p:tgtEl>
                                      </p:cBhvr>
                                    </p:animEffect>
                                  </p:childTnLst>
                                </p:cTn>
                              </p:par>
                              <p:par>
                                <p:cTn id="98" presetID="10" presetClass="entr" presetSubtype="0" fill="hold" nodeType="withEffect">
                                  <p:stCondLst>
                                    <p:cond delay="0"/>
                                  </p:stCondLst>
                                  <p:childTnLst>
                                    <p:set>
                                      <p:cBhvr>
                                        <p:cTn id="99" dur="1" fill="hold">
                                          <p:stCondLst>
                                            <p:cond delay="0"/>
                                          </p:stCondLst>
                                        </p:cTn>
                                        <p:tgtEl>
                                          <p:spTgt spid="18"/>
                                        </p:tgtEl>
                                        <p:attrNameLst>
                                          <p:attrName>style.visibility</p:attrName>
                                        </p:attrNameLst>
                                      </p:cBhvr>
                                      <p:to>
                                        <p:strVal val="visible"/>
                                      </p:to>
                                    </p:set>
                                    <p:animEffect transition="in" filter="fade">
                                      <p:cBhvr>
                                        <p:cTn id="100" dur="500"/>
                                        <p:tgtEl>
                                          <p:spTgt spid="18"/>
                                        </p:tgtEl>
                                      </p:cBhvr>
                                    </p:animEffect>
                                  </p:childTnLst>
                                </p:cTn>
                              </p:par>
                              <p:par>
                                <p:cTn id="101" presetID="10" presetClass="entr" presetSubtype="0" fill="hold" nodeType="withEffect">
                                  <p:stCondLst>
                                    <p:cond delay="0"/>
                                  </p:stCondLst>
                                  <p:childTnLst>
                                    <p:set>
                                      <p:cBhvr>
                                        <p:cTn id="102" dur="1" fill="hold">
                                          <p:stCondLst>
                                            <p:cond delay="0"/>
                                          </p:stCondLst>
                                        </p:cTn>
                                        <p:tgtEl>
                                          <p:spTgt spid="16"/>
                                        </p:tgtEl>
                                        <p:attrNameLst>
                                          <p:attrName>style.visibility</p:attrName>
                                        </p:attrNameLst>
                                      </p:cBhvr>
                                      <p:to>
                                        <p:strVal val="visible"/>
                                      </p:to>
                                    </p:set>
                                    <p:animEffect transition="in" filter="fade">
                                      <p:cBhvr>
                                        <p:cTn id="103" dur="500"/>
                                        <p:tgtEl>
                                          <p:spTgt spid="16"/>
                                        </p:tgtEl>
                                      </p:cBhvr>
                                    </p:animEffect>
                                  </p:childTnLst>
                                </p:cTn>
                              </p:par>
                              <p:par>
                                <p:cTn id="104" presetID="10" presetClass="entr" presetSubtype="0" fill="hold" nodeType="withEffect">
                                  <p:stCondLst>
                                    <p:cond delay="0"/>
                                  </p:stCondLst>
                                  <p:childTnLst>
                                    <p:set>
                                      <p:cBhvr>
                                        <p:cTn id="105" dur="1" fill="hold">
                                          <p:stCondLst>
                                            <p:cond delay="0"/>
                                          </p:stCondLst>
                                        </p:cTn>
                                        <p:tgtEl>
                                          <p:spTgt spid="15"/>
                                        </p:tgtEl>
                                        <p:attrNameLst>
                                          <p:attrName>style.visibility</p:attrName>
                                        </p:attrNameLst>
                                      </p:cBhvr>
                                      <p:to>
                                        <p:strVal val="visible"/>
                                      </p:to>
                                    </p:set>
                                    <p:animEffect transition="in" filter="fade">
                                      <p:cBhvr>
                                        <p:cTn id="106" dur="500"/>
                                        <p:tgtEl>
                                          <p:spTgt spid="15"/>
                                        </p:tgtEl>
                                      </p:cBhvr>
                                    </p:animEffect>
                                  </p:childTnLst>
                                </p:cTn>
                              </p:par>
                              <p:par>
                                <p:cTn id="107" presetID="10" presetClass="entr" presetSubtype="0" fill="hold" nodeType="with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fade">
                                      <p:cBhvr>
                                        <p:cTn id="109" dur="500"/>
                                        <p:tgtEl>
                                          <p:spTgt spid="12"/>
                                        </p:tgtEl>
                                      </p:cBhvr>
                                    </p:animEffect>
                                  </p:childTnLst>
                                </p:cTn>
                              </p:par>
                              <p:par>
                                <p:cTn id="110" presetID="10" presetClass="entr" presetSubtype="0" fill="hold" nodeType="with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500"/>
                                        <p:tgtEl>
                                          <p:spTgt spid="19"/>
                                        </p:tgtEl>
                                      </p:cBhvr>
                                    </p:animEffect>
                                  </p:childTnLst>
                                </p:cTn>
                              </p:par>
                              <p:par>
                                <p:cTn id="113" presetID="10" presetClass="entr" presetSubtype="0" fill="hold" nodeType="withEffect">
                                  <p:stCondLst>
                                    <p:cond delay="0"/>
                                  </p:stCondLst>
                                  <p:childTnLst>
                                    <p:set>
                                      <p:cBhvr>
                                        <p:cTn id="114" dur="1" fill="hold">
                                          <p:stCondLst>
                                            <p:cond delay="0"/>
                                          </p:stCondLst>
                                        </p:cTn>
                                        <p:tgtEl>
                                          <p:spTgt spid="20"/>
                                        </p:tgtEl>
                                        <p:attrNameLst>
                                          <p:attrName>style.visibility</p:attrName>
                                        </p:attrNameLst>
                                      </p:cBhvr>
                                      <p:to>
                                        <p:strVal val="visible"/>
                                      </p:to>
                                    </p:set>
                                    <p:animEffect transition="in" filter="fade">
                                      <p:cBhvr>
                                        <p:cTn id="115" dur="500"/>
                                        <p:tgtEl>
                                          <p:spTgt spid="20"/>
                                        </p:tgtEl>
                                      </p:cBhvr>
                                    </p:animEffect>
                                  </p:childTnLst>
                                </p:cTn>
                              </p:par>
                              <p:par>
                                <p:cTn id="116" presetID="10" presetClass="entr" presetSubtype="0" fill="hold" nodeType="withEffect">
                                  <p:stCondLst>
                                    <p:cond delay="0"/>
                                  </p:stCondLst>
                                  <p:childTnLst>
                                    <p:set>
                                      <p:cBhvr>
                                        <p:cTn id="117" dur="1" fill="hold">
                                          <p:stCondLst>
                                            <p:cond delay="0"/>
                                          </p:stCondLst>
                                        </p:cTn>
                                        <p:tgtEl>
                                          <p:spTgt spid="21"/>
                                        </p:tgtEl>
                                        <p:attrNameLst>
                                          <p:attrName>style.visibility</p:attrName>
                                        </p:attrNameLst>
                                      </p:cBhvr>
                                      <p:to>
                                        <p:strVal val="visible"/>
                                      </p:to>
                                    </p:set>
                                    <p:animEffect transition="in" filter="fade">
                                      <p:cBhvr>
                                        <p:cTn id="118" dur="500"/>
                                        <p:tgtEl>
                                          <p:spTgt spid="21"/>
                                        </p:tgtEl>
                                      </p:cBhvr>
                                    </p:animEffect>
                                  </p:childTnLst>
                                </p:cTn>
                              </p:par>
                              <p:par>
                                <p:cTn id="119" presetID="10" presetClass="entr" presetSubtype="0" fill="hold" nodeType="withEffect">
                                  <p:stCondLst>
                                    <p:cond delay="0"/>
                                  </p:stCondLst>
                                  <p:childTnLst>
                                    <p:set>
                                      <p:cBhvr>
                                        <p:cTn id="120" dur="1" fill="hold">
                                          <p:stCondLst>
                                            <p:cond delay="0"/>
                                          </p:stCondLst>
                                        </p:cTn>
                                        <p:tgtEl>
                                          <p:spTgt spid="22"/>
                                        </p:tgtEl>
                                        <p:attrNameLst>
                                          <p:attrName>style.visibility</p:attrName>
                                        </p:attrNameLst>
                                      </p:cBhvr>
                                      <p:to>
                                        <p:strVal val="visible"/>
                                      </p:to>
                                    </p:set>
                                    <p:animEffect transition="in" filter="fade">
                                      <p:cBhvr>
                                        <p:cTn id="121" dur="500"/>
                                        <p:tgtEl>
                                          <p:spTgt spid="22"/>
                                        </p:tgtEl>
                                      </p:cBhvr>
                                    </p:animEffect>
                                  </p:childTnLst>
                                </p:cTn>
                              </p:par>
                              <p:par>
                                <p:cTn id="122" presetID="10" presetClass="entr" presetSubtype="0" fill="hold" nodeType="withEffect">
                                  <p:stCondLst>
                                    <p:cond delay="0"/>
                                  </p:stCondLst>
                                  <p:childTnLst>
                                    <p:set>
                                      <p:cBhvr>
                                        <p:cTn id="123" dur="1" fill="hold">
                                          <p:stCondLst>
                                            <p:cond delay="0"/>
                                          </p:stCondLst>
                                        </p:cTn>
                                        <p:tgtEl>
                                          <p:spTgt spid="23"/>
                                        </p:tgtEl>
                                        <p:attrNameLst>
                                          <p:attrName>style.visibility</p:attrName>
                                        </p:attrNameLst>
                                      </p:cBhvr>
                                      <p:to>
                                        <p:strVal val="visible"/>
                                      </p:to>
                                    </p:set>
                                    <p:animEffect transition="in" filter="fade">
                                      <p:cBhvr>
                                        <p:cTn id="124" dur="500"/>
                                        <p:tgtEl>
                                          <p:spTgt spid="23"/>
                                        </p:tgtEl>
                                      </p:cBhvr>
                                    </p:animEffect>
                                  </p:childTnLst>
                                </p:cTn>
                              </p:par>
                              <p:par>
                                <p:cTn id="125" presetID="10" presetClass="entr" presetSubtype="0" fill="hold" nodeType="withEffect">
                                  <p:stCondLst>
                                    <p:cond delay="0"/>
                                  </p:stCondLst>
                                  <p:childTnLst>
                                    <p:set>
                                      <p:cBhvr>
                                        <p:cTn id="126" dur="1" fill="hold">
                                          <p:stCondLst>
                                            <p:cond delay="0"/>
                                          </p:stCondLst>
                                        </p:cTn>
                                        <p:tgtEl>
                                          <p:spTgt spid="24"/>
                                        </p:tgtEl>
                                        <p:attrNameLst>
                                          <p:attrName>style.visibility</p:attrName>
                                        </p:attrNameLst>
                                      </p:cBhvr>
                                      <p:to>
                                        <p:strVal val="visible"/>
                                      </p:to>
                                    </p:set>
                                    <p:animEffect transition="in" filter="fade">
                                      <p:cBhvr>
                                        <p:cTn id="127" dur="500"/>
                                        <p:tgtEl>
                                          <p:spTgt spid="24"/>
                                        </p:tgtEl>
                                      </p:cBhvr>
                                    </p:animEffect>
                                  </p:childTnLst>
                                </p:cTn>
                              </p:par>
                              <p:par>
                                <p:cTn id="128" presetID="10" presetClass="entr" presetSubtype="0" fill="hold" nodeType="withEffect">
                                  <p:stCondLst>
                                    <p:cond delay="0"/>
                                  </p:stCondLst>
                                  <p:childTnLst>
                                    <p:set>
                                      <p:cBhvr>
                                        <p:cTn id="129" dur="1" fill="hold">
                                          <p:stCondLst>
                                            <p:cond delay="0"/>
                                          </p:stCondLst>
                                        </p:cTn>
                                        <p:tgtEl>
                                          <p:spTgt spid="25"/>
                                        </p:tgtEl>
                                        <p:attrNameLst>
                                          <p:attrName>style.visibility</p:attrName>
                                        </p:attrNameLst>
                                      </p:cBhvr>
                                      <p:to>
                                        <p:strVal val="visible"/>
                                      </p:to>
                                    </p:set>
                                    <p:animEffect transition="in" filter="fade">
                                      <p:cBhvr>
                                        <p:cTn id="130" dur="500"/>
                                        <p:tgtEl>
                                          <p:spTgt spid="25"/>
                                        </p:tgtEl>
                                      </p:cBhvr>
                                    </p:animEffect>
                                  </p:childTnLst>
                                </p:cTn>
                              </p:par>
                              <p:par>
                                <p:cTn id="131" presetID="10" presetClass="entr" presetSubtype="0" fill="hold" nodeType="with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500"/>
                                        <p:tgtEl>
                                          <p:spTgt spid="26"/>
                                        </p:tgtEl>
                                      </p:cBhvr>
                                    </p:animEffect>
                                  </p:childTnLst>
                                </p:cTn>
                              </p:par>
                              <p:par>
                                <p:cTn id="134" presetID="10" presetClass="entr" presetSubtype="0" fill="hold" nodeType="withEffect">
                                  <p:stCondLst>
                                    <p:cond delay="0"/>
                                  </p:stCondLst>
                                  <p:childTnLst>
                                    <p:set>
                                      <p:cBhvr>
                                        <p:cTn id="135" dur="1" fill="hold">
                                          <p:stCondLst>
                                            <p:cond delay="0"/>
                                          </p:stCondLst>
                                        </p:cTn>
                                        <p:tgtEl>
                                          <p:spTgt spid="27"/>
                                        </p:tgtEl>
                                        <p:attrNameLst>
                                          <p:attrName>style.visibility</p:attrName>
                                        </p:attrNameLst>
                                      </p:cBhvr>
                                      <p:to>
                                        <p:strVal val="visible"/>
                                      </p:to>
                                    </p:set>
                                    <p:animEffect transition="in" filter="fade">
                                      <p:cBhvr>
                                        <p:cTn id="136" dur="500"/>
                                        <p:tgtEl>
                                          <p:spTgt spid="27"/>
                                        </p:tgtEl>
                                      </p:cBhvr>
                                    </p:animEffect>
                                  </p:childTnLst>
                                </p:cTn>
                              </p:par>
                              <p:par>
                                <p:cTn id="137" presetID="10" presetClass="entr" presetSubtype="0" fill="hold" nodeType="withEffect">
                                  <p:stCondLst>
                                    <p:cond delay="0"/>
                                  </p:stCondLst>
                                  <p:childTnLst>
                                    <p:set>
                                      <p:cBhvr>
                                        <p:cTn id="138" dur="1" fill="hold">
                                          <p:stCondLst>
                                            <p:cond delay="0"/>
                                          </p:stCondLst>
                                        </p:cTn>
                                        <p:tgtEl>
                                          <p:spTgt spid="28"/>
                                        </p:tgtEl>
                                        <p:attrNameLst>
                                          <p:attrName>style.visibility</p:attrName>
                                        </p:attrNameLst>
                                      </p:cBhvr>
                                      <p:to>
                                        <p:strVal val="visible"/>
                                      </p:to>
                                    </p:set>
                                    <p:animEffect transition="in" filter="fade">
                                      <p:cBhvr>
                                        <p:cTn id="139" dur="500"/>
                                        <p:tgtEl>
                                          <p:spTgt spid="28"/>
                                        </p:tgtEl>
                                      </p:cBhvr>
                                    </p:animEffect>
                                  </p:childTnLst>
                                </p:cTn>
                              </p:par>
                              <p:par>
                                <p:cTn id="140" presetID="10" presetClass="entr" presetSubtype="0" fill="hold" nodeType="with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500"/>
                                        <p:tgtEl>
                                          <p:spTgt spid="29"/>
                                        </p:tgtEl>
                                      </p:cBhvr>
                                    </p:animEffect>
                                  </p:childTnLst>
                                </p:cTn>
                              </p:par>
                              <p:par>
                                <p:cTn id="143" presetID="10" presetClass="entr" presetSubtype="0" fill="hold" nodeType="withEffect">
                                  <p:stCondLst>
                                    <p:cond delay="0"/>
                                  </p:stCondLst>
                                  <p:childTnLst>
                                    <p:set>
                                      <p:cBhvr>
                                        <p:cTn id="144" dur="1" fill="hold">
                                          <p:stCondLst>
                                            <p:cond delay="0"/>
                                          </p:stCondLst>
                                        </p:cTn>
                                        <p:tgtEl>
                                          <p:spTgt spid="30"/>
                                        </p:tgtEl>
                                        <p:attrNameLst>
                                          <p:attrName>style.visibility</p:attrName>
                                        </p:attrNameLst>
                                      </p:cBhvr>
                                      <p:to>
                                        <p:strVal val="visible"/>
                                      </p:to>
                                    </p:set>
                                    <p:animEffect transition="in" filter="fade">
                                      <p:cBhvr>
                                        <p:cTn id="145" dur="500"/>
                                        <p:tgtEl>
                                          <p:spTgt spid="30"/>
                                        </p:tgtEl>
                                      </p:cBhvr>
                                    </p:animEffect>
                                  </p:childTnLst>
                                </p:cTn>
                              </p:par>
                              <p:par>
                                <p:cTn id="146" presetID="10" presetClass="entr" presetSubtype="0" fill="hold" nodeType="withEffect">
                                  <p:stCondLst>
                                    <p:cond delay="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500"/>
                                        <p:tgtEl>
                                          <p:spTgt spid="31"/>
                                        </p:tgtEl>
                                      </p:cBhvr>
                                    </p:animEffect>
                                  </p:childTnLst>
                                </p:cTn>
                              </p:par>
                              <p:par>
                                <p:cTn id="149" presetID="10" presetClass="entr" presetSubtype="0" fill="hold" nodeType="withEffect">
                                  <p:stCondLst>
                                    <p:cond delay="0"/>
                                  </p:stCondLst>
                                  <p:childTnLst>
                                    <p:set>
                                      <p:cBhvr>
                                        <p:cTn id="150" dur="1" fill="hold">
                                          <p:stCondLst>
                                            <p:cond delay="0"/>
                                          </p:stCondLst>
                                        </p:cTn>
                                        <p:tgtEl>
                                          <p:spTgt spid="32"/>
                                        </p:tgtEl>
                                        <p:attrNameLst>
                                          <p:attrName>style.visibility</p:attrName>
                                        </p:attrNameLst>
                                      </p:cBhvr>
                                      <p:to>
                                        <p:strVal val="visible"/>
                                      </p:to>
                                    </p:set>
                                    <p:animEffect transition="in" filter="fade">
                                      <p:cBhvr>
                                        <p:cTn id="151" dur="500"/>
                                        <p:tgtEl>
                                          <p:spTgt spid="32"/>
                                        </p:tgtEl>
                                      </p:cBhvr>
                                    </p:animEffect>
                                  </p:childTnLst>
                                </p:cTn>
                              </p:par>
                              <p:par>
                                <p:cTn id="152" presetID="10" presetClass="entr" presetSubtype="0" fill="hold" nodeType="withEffect">
                                  <p:stCondLst>
                                    <p:cond delay="0"/>
                                  </p:stCondLst>
                                  <p:childTnLst>
                                    <p:set>
                                      <p:cBhvr>
                                        <p:cTn id="153" dur="1" fill="hold">
                                          <p:stCondLst>
                                            <p:cond delay="0"/>
                                          </p:stCondLst>
                                        </p:cTn>
                                        <p:tgtEl>
                                          <p:spTgt spid="33"/>
                                        </p:tgtEl>
                                        <p:attrNameLst>
                                          <p:attrName>style.visibility</p:attrName>
                                        </p:attrNameLst>
                                      </p:cBhvr>
                                      <p:to>
                                        <p:strVal val="visible"/>
                                      </p:to>
                                    </p:set>
                                    <p:animEffect transition="in" filter="fade">
                                      <p:cBhvr>
                                        <p:cTn id="154" dur="500"/>
                                        <p:tgtEl>
                                          <p:spTgt spid="33"/>
                                        </p:tgtEl>
                                      </p:cBhvr>
                                    </p:animEffect>
                                  </p:childTnLst>
                                </p:cTn>
                              </p:par>
                              <p:par>
                                <p:cTn id="155" presetID="10" presetClass="entr" presetSubtype="0"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childTnLst>
                                </p:cTn>
                              </p:par>
                              <p:par>
                                <p:cTn id="158" presetID="10" presetClass="entr" presetSubtype="0" fill="hold" nodeType="withEffect">
                                  <p:stCondLst>
                                    <p:cond delay="0"/>
                                  </p:stCondLst>
                                  <p:childTnLst>
                                    <p:set>
                                      <p:cBhvr>
                                        <p:cTn id="159" dur="1" fill="hold">
                                          <p:stCondLst>
                                            <p:cond delay="0"/>
                                          </p:stCondLst>
                                        </p:cTn>
                                        <p:tgtEl>
                                          <p:spTgt spid="36"/>
                                        </p:tgtEl>
                                        <p:attrNameLst>
                                          <p:attrName>style.visibility</p:attrName>
                                        </p:attrNameLst>
                                      </p:cBhvr>
                                      <p:to>
                                        <p:strVal val="visible"/>
                                      </p:to>
                                    </p:set>
                                    <p:animEffect transition="in" filter="fade">
                                      <p:cBhvr>
                                        <p:cTn id="160" dur="500"/>
                                        <p:tgtEl>
                                          <p:spTgt spid="36"/>
                                        </p:tgtEl>
                                      </p:cBhvr>
                                    </p:animEffect>
                                  </p:childTnLst>
                                </p:cTn>
                              </p:par>
                              <p:par>
                                <p:cTn id="161" presetID="10" presetClass="entr" presetSubtype="0" fill="hold" nodeType="with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500"/>
                                        <p:tgtEl>
                                          <p:spTgt spid="43"/>
                                        </p:tgtEl>
                                      </p:cBhvr>
                                    </p:animEffect>
                                  </p:childTnLst>
                                </p:cTn>
                              </p:par>
                              <p:par>
                                <p:cTn id="164" presetID="10" presetClass="entr" presetSubtype="0" fill="hold" nodeType="with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500"/>
                                        <p:tgtEl>
                                          <p:spTgt spid="44"/>
                                        </p:tgtEl>
                                      </p:cBhvr>
                                    </p:animEffect>
                                  </p:childTnLst>
                                </p:cTn>
                              </p:par>
                              <p:par>
                                <p:cTn id="167" presetID="10" presetClass="entr" presetSubtype="0" fill="hold" nodeType="withEffect">
                                  <p:stCondLst>
                                    <p:cond delay="0"/>
                                  </p:stCondLst>
                                  <p:childTnLst>
                                    <p:set>
                                      <p:cBhvr>
                                        <p:cTn id="168" dur="1" fill="hold">
                                          <p:stCondLst>
                                            <p:cond delay="0"/>
                                          </p:stCondLst>
                                        </p:cTn>
                                        <p:tgtEl>
                                          <p:spTgt spid="45"/>
                                        </p:tgtEl>
                                        <p:attrNameLst>
                                          <p:attrName>style.visibility</p:attrName>
                                        </p:attrNameLst>
                                      </p:cBhvr>
                                      <p:to>
                                        <p:strVal val="visible"/>
                                      </p:to>
                                    </p:set>
                                    <p:animEffect transition="in" filter="fade">
                                      <p:cBhvr>
                                        <p:cTn id="169" dur="500"/>
                                        <p:tgtEl>
                                          <p:spTgt spid="45"/>
                                        </p:tgtEl>
                                      </p:cBhvr>
                                    </p:animEffect>
                                  </p:childTnLst>
                                </p:cTn>
                              </p:par>
                              <p:par>
                                <p:cTn id="170" presetID="10" presetClass="entr" presetSubtype="0" fill="hold" nodeType="with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fade">
                                      <p:cBhvr>
                                        <p:cTn id="172" dur="500"/>
                                        <p:tgtEl>
                                          <p:spTgt spid="46"/>
                                        </p:tgtEl>
                                      </p:cBhvr>
                                    </p:animEffect>
                                  </p:childTnLst>
                                </p:cTn>
                              </p:par>
                              <p:par>
                                <p:cTn id="173" presetID="10" presetClass="entr" presetSubtype="0" fill="hold" nodeType="withEffect">
                                  <p:stCondLst>
                                    <p:cond delay="0"/>
                                  </p:stCondLst>
                                  <p:childTnLst>
                                    <p:set>
                                      <p:cBhvr>
                                        <p:cTn id="174" dur="1" fill="hold">
                                          <p:stCondLst>
                                            <p:cond delay="0"/>
                                          </p:stCondLst>
                                        </p:cTn>
                                        <p:tgtEl>
                                          <p:spTgt spid="47"/>
                                        </p:tgtEl>
                                        <p:attrNameLst>
                                          <p:attrName>style.visibility</p:attrName>
                                        </p:attrNameLst>
                                      </p:cBhvr>
                                      <p:to>
                                        <p:strVal val="visible"/>
                                      </p:to>
                                    </p:set>
                                    <p:animEffect transition="in" filter="fade">
                                      <p:cBhvr>
                                        <p:cTn id="175" dur="500"/>
                                        <p:tgtEl>
                                          <p:spTgt spid="47"/>
                                        </p:tgtEl>
                                      </p:cBhvr>
                                    </p:animEffect>
                                  </p:childTnLst>
                                </p:cTn>
                              </p:par>
                              <p:par>
                                <p:cTn id="176" presetID="10" presetClass="entr" presetSubtype="0" fill="hold" nodeType="withEffect">
                                  <p:stCondLst>
                                    <p:cond delay="0"/>
                                  </p:stCondLst>
                                  <p:childTnLst>
                                    <p:set>
                                      <p:cBhvr>
                                        <p:cTn id="177" dur="1" fill="hold">
                                          <p:stCondLst>
                                            <p:cond delay="0"/>
                                          </p:stCondLst>
                                        </p:cTn>
                                        <p:tgtEl>
                                          <p:spTgt spid="48"/>
                                        </p:tgtEl>
                                        <p:attrNameLst>
                                          <p:attrName>style.visibility</p:attrName>
                                        </p:attrNameLst>
                                      </p:cBhvr>
                                      <p:to>
                                        <p:strVal val="visible"/>
                                      </p:to>
                                    </p:set>
                                    <p:animEffect transition="in" filter="fade">
                                      <p:cBhvr>
                                        <p:cTn id="178" dur="500"/>
                                        <p:tgtEl>
                                          <p:spTgt spid="48"/>
                                        </p:tgtEl>
                                      </p:cBhvr>
                                    </p:animEffect>
                                  </p:childTnLst>
                                </p:cTn>
                              </p:par>
                              <p:par>
                                <p:cTn id="179" presetID="10" presetClass="entr" presetSubtype="0" fill="hold" nodeType="withEffect">
                                  <p:stCondLst>
                                    <p:cond delay="0"/>
                                  </p:stCondLst>
                                  <p:childTnLst>
                                    <p:set>
                                      <p:cBhvr>
                                        <p:cTn id="180" dur="1" fill="hold">
                                          <p:stCondLst>
                                            <p:cond delay="0"/>
                                          </p:stCondLst>
                                        </p:cTn>
                                        <p:tgtEl>
                                          <p:spTgt spid="49"/>
                                        </p:tgtEl>
                                        <p:attrNameLst>
                                          <p:attrName>style.visibility</p:attrName>
                                        </p:attrNameLst>
                                      </p:cBhvr>
                                      <p:to>
                                        <p:strVal val="visible"/>
                                      </p:to>
                                    </p:set>
                                    <p:animEffect transition="in" filter="fade">
                                      <p:cBhvr>
                                        <p:cTn id="181" dur="500"/>
                                        <p:tgtEl>
                                          <p:spTgt spid="49"/>
                                        </p:tgtEl>
                                      </p:cBhvr>
                                    </p:animEffect>
                                  </p:childTnLst>
                                </p:cTn>
                              </p:par>
                              <p:par>
                                <p:cTn id="182" presetID="10" presetClass="entr" presetSubtype="0" fill="hold" nodeType="withEffect">
                                  <p:stCondLst>
                                    <p:cond delay="0"/>
                                  </p:stCondLst>
                                  <p:childTnLst>
                                    <p:set>
                                      <p:cBhvr>
                                        <p:cTn id="183" dur="1" fill="hold">
                                          <p:stCondLst>
                                            <p:cond delay="0"/>
                                          </p:stCondLst>
                                        </p:cTn>
                                        <p:tgtEl>
                                          <p:spTgt spid="50"/>
                                        </p:tgtEl>
                                        <p:attrNameLst>
                                          <p:attrName>style.visibility</p:attrName>
                                        </p:attrNameLst>
                                      </p:cBhvr>
                                      <p:to>
                                        <p:strVal val="visible"/>
                                      </p:to>
                                    </p:set>
                                    <p:animEffect transition="in" filter="fade">
                                      <p:cBhvr>
                                        <p:cTn id="184" dur="500"/>
                                        <p:tgtEl>
                                          <p:spTgt spid="50"/>
                                        </p:tgtEl>
                                      </p:cBhvr>
                                    </p:animEffect>
                                  </p:childTnLst>
                                </p:cTn>
                              </p:par>
                              <p:par>
                                <p:cTn id="185" presetID="10" presetClass="entr" presetSubtype="0" fill="hold" nodeType="withEffect">
                                  <p:stCondLst>
                                    <p:cond delay="0"/>
                                  </p:stCondLst>
                                  <p:childTnLst>
                                    <p:set>
                                      <p:cBhvr>
                                        <p:cTn id="186" dur="1" fill="hold">
                                          <p:stCondLst>
                                            <p:cond delay="0"/>
                                          </p:stCondLst>
                                        </p:cTn>
                                        <p:tgtEl>
                                          <p:spTgt spid="51"/>
                                        </p:tgtEl>
                                        <p:attrNameLst>
                                          <p:attrName>style.visibility</p:attrName>
                                        </p:attrNameLst>
                                      </p:cBhvr>
                                      <p:to>
                                        <p:strVal val="visible"/>
                                      </p:to>
                                    </p:set>
                                    <p:animEffect transition="in" filter="fade">
                                      <p:cBhvr>
                                        <p:cTn id="187" dur="500"/>
                                        <p:tgtEl>
                                          <p:spTgt spid="51"/>
                                        </p:tgtEl>
                                      </p:cBhvr>
                                    </p:animEffect>
                                  </p:childTnLst>
                                </p:cTn>
                              </p:par>
                              <p:par>
                                <p:cTn id="188" presetID="10" presetClass="entr" presetSubtype="0" fill="hold" nodeType="withEffect">
                                  <p:stCondLst>
                                    <p:cond delay="0"/>
                                  </p:stCondLst>
                                  <p:childTnLst>
                                    <p:set>
                                      <p:cBhvr>
                                        <p:cTn id="189" dur="1" fill="hold">
                                          <p:stCondLst>
                                            <p:cond delay="0"/>
                                          </p:stCondLst>
                                        </p:cTn>
                                        <p:tgtEl>
                                          <p:spTgt spid="52"/>
                                        </p:tgtEl>
                                        <p:attrNameLst>
                                          <p:attrName>style.visibility</p:attrName>
                                        </p:attrNameLst>
                                      </p:cBhvr>
                                      <p:to>
                                        <p:strVal val="visible"/>
                                      </p:to>
                                    </p:set>
                                    <p:animEffect transition="in" filter="fade">
                                      <p:cBhvr>
                                        <p:cTn id="190" dur="500"/>
                                        <p:tgtEl>
                                          <p:spTgt spid="52"/>
                                        </p:tgtEl>
                                      </p:cBhvr>
                                    </p:animEffect>
                                  </p:childTnLst>
                                </p:cTn>
                              </p:par>
                              <p:par>
                                <p:cTn id="191" presetID="10" presetClass="entr" presetSubtype="0" fill="hold" nodeType="withEffect">
                                  <p:stCondLst>
                                    <p:cond delay="0"/>
                                  </p:stCondLst>
                                  <p:childTnLst>
                                    <p:set>
                                      <p:cBhvr>
                                        <p:cTn id="192" dur="1" fill="hold">
                                          <p:stCondLst>
                                            <p:cond delay="0"/>
                                          </p:stCondLst>
                                        </p:cTn>
                                        <p:tgtEl>
                                          <p:spTgt spid="53"/>
                                        </p:tgtEl>
                                        <p:attrNameLst>
                                          <p:attrName>style.visibility</p:attrName>
                                        </p:attrNameLst>
                                      </p:cBhvr>
                                      <p:to>
                                        <p:strVal val="visible"/>
                                      </p:to>
                                    </p:set>
                                    <p:animEffect transition="in" filter="fade">
                                      <p:cBhvr>
                                        <p:cTn id="193" dur="500"/>
                                        <p:tgtEl>
                                          <p:spTgt spid="53"/>
                                        </p:tgtEl>
                                      </p:cBhvr>
                                    </p:animEffect>
                                  </p:childTnLst>
                                </p:cTn>
                              </p:par>
                              <p:par>
                                <p:cTn id="194" presetID="10" presetClass="entr" presetSubtype="0" fill="hold" nodeType="withEffect">
                                  <p:stCondLst>
                                    <p:cond delay="0"/>
                                  </p:stCondLst>
                                  <p:childTnLst>
                                    <p:set>
                                      <p:cBhvr>
                                        <p:cTn id="195" dur="1" fill="hold">
                                          <p:stCondLst>
                                            <p:cond delay="0"/>
                                          </p:stCondLst>
                                        </p:cTn>
                                        <p:tgtEl>
                                          <p:spTgt spid="54"/>
                                        </p:tgtEl>
                                        <p:attrNameLst>
                                          <p:attrName>style.visibility</p:attrName>
                                        </p:attrNameLst>
                                      </p:cBhvr>
                                      <p:to>
                                        <p:strVal val="visible"/>
                                      </p:to>
                                    </p:set>
                                    <p:animEffect transition="in" filter="fade">
                                      <p:cBhvr>
                                        <p:cTn id="196" dur="500"/>
                                        <p:tgtEl>
                                          <p:spTgt spid="54"/>
                                        </p:tgtEl>
                                      </p:cBhvr>
                                    </p:animEffect>
                                  </p:childTnLst>
                                </p:cTn>
                              </p:par>
                              <p:par>
                                <p:cTn id="197" presetID="10" presetClass="entr" presetSubtype="0" fill="hold" nodeType="withEffect">
                                  <p:stCondLst>
                                    <p:cond delay="0"/>
                                  </p:stCondLst>
                                  <p:childTnLst>
                                    <p:set>
                                      <p:cBhvr>
                                        <p:cTn id="198" dur="1" fill="hold">
                                          <p:stCondLst>
                                            <p:cond delay="0"/>
                                          </p:stCondLst>
                                        </p:cTn>
                                        <p:tgtEl>
                                          <p:spTgt spid="55"/>
                                        </p:tgtEl>
                                        <p:attrNameLst>
                                          <p:attrName>style.visibility</p:attrName>
                                        </p:attrNameLst>
                                      </p:cBhvr>
                                      <p:to>
                                        <p:strVal val="visible"/>
                                      </p:to>
                                    </p:set>
                                    <p:animEffect transition="in" filter="fade">
                                      <p:cBhvr>
                                        <p:cTn id="199" dur="500"/>
                                        <p:tgtEl>
                                          <p:spTgt spid="55"/>
                                        </p:tgtEl>
                                      </p:cBhvr>
                                    </p:animEffect>
                                  </p:childTnLst>
                                </p:cTn>
                              </p:par>
                              <p:par>
                                <p:cTn id="200" presetID="10" presetClass="entr" presetSubtype="0" fill="hold" nodeType="withEffect">
                                  <p:stCondLst>
                                    <p:cond delay="0"/>
                                  </p:stCondLst>
                                  <p:childTnLst>
                                    <p:set>
                                      <p:cBhvr>
                                        <p:cTn id="201" dur="1" fill="hold">
                                          <p:stCondLst>
                                            <p:cond delay="0"/>
                                          </p:stCondLst>
                                        </p:cTn>
                                        <p:tgtEl>
                                          <p:spTgt spid="56"/>
                                        </p:tgtEl>
                                        <p:attrNameLst>
                                          <p:attrName>style.visibility</p:attrName>
                                        </p:attrNameLst>
                                      </p:cBhvr>
                                      <p:to>
                                        <p:strVal val="visible"/>
                                      </p:to>
                                    </p:set>
                                    <p:animEffect transition="in" filter="fade">
                                      <p:cBhvr>
                                        <p:cTn id="202" dur="500"/>
                                        <p:tgtEl>
                                          <p:spTgt spid="56"/>
                                        </p:tgtEl>
                                      </p:cBhvr>
                                    </p:animEffect>
                                  </p:childTnLst>
                                </p:cTn>
                              </p:par>
                              <p:par>
                                <p:cTn id="203" presetID="10" presetClass="entr" presetSubtype="0" fill="hold" nodeType="withEffect">
                                  <p:stCondLst>
                                    <p:cond delay="0"/>
                                  </p:stCondLst>
                                  <p:childTnLst>
                                    <p:set>
                                      <p:cBhvr>
                                        <p:cTn id="204" dur="1" fill="hold">
                                          <p:stCondLst>
                                            <p:cond delay="0"/>
                                          </p:stCondLst>
                                        </p:cTn>
                                        <p:tgtEl>
                                          <p:spTgt spid="57"/>
                                        </p:tgtEl>
                                        <p:attrNameLst>
                                          <p:attrName>style.visibility</p:attrName>
                                        </p:attrNameLst>
                                      </p:cBhvr>
                                      <p:to>
                                        <p:strVal val="visible"/>
                                      </p:to>
                                    </p:set>
                                    <p:animEffect transition="in" filter="fade">
                                      <p:cBhvr>
                                        <p:cTn id="205" dur="500"/>
                                        <p:tgtEl>
                                          <p:spTgt spid="57"/>
                                        </p:tgtEl>
                                      </p:cBhvr>
                                    </p:animEffect>
                                  </p:childTnLst>
                                </p:cTn>
                              </p:par>
                              <p:par>
                                <p:cTn id="206" presetID="10" presetClass="entr" presetSubtype="0" fill="hold" nodeType="withEffect">
                                  <p:stCondLst>
                                    <p:cond delay="0"/>
                                  </p:stCondLst>
                                  <p:childTnLst>
                                    <p:set>
                                      <p:cBhvr>
                                        <p:cTn id="207" dur="1" fill="hold">
                                          <p:stCondLst>
                                            <p:cond delay="0"/>
                                          </p:stCondLst>
                                        </p:cTn>
                                        <p:tgtEl>
                                          <p:spTgt spid="58"/>
                                        </p:tgtEl>
                                        <p:attrNameLst>
                                          <p:attrName>style.visibility</p:attrName>
                                        </p:attrNameLst>
                                      </p:cBhvr>
                                      <p:to>
                                        <p:strVal val="visible"/>
                                      </p:to>
                                    </p:set>
                                    <p:animEffect transition="in" filter="fade">
                                      <p:cBhvr>
                                        <p:cTn id="208" dur="500"/>
                                        <p:tgtEl>
                                          <p:spTgt spid="58"/>
                                        </p:tgtEl>
                                      </p:cBhvr>
                                    </p:animEffect>
                                  </p:childTnLst>
                                </p:cTn>
                              </p:par>
                              <p:par>
                                <p:cTn id="209" presetID="10" presetClass="entr" presetSubtype="0" fill="hold" nodeType="withEffect">
                                  <p:stCondLst>
                                    <p:cond delay="0"/>
                                  </p:stCondLst>
                                  <p:childTnLst>
                                    <p:set>
                                      <p:cBhvr>
                                        <p:cTn id="210" dur="1" fill="hold">
                                          <p:stCondLst>
                                            <p:cond delay="0"/>
                                          </p:stCondLst>
                                        </p:cTn>
                                        <p:tgtEl>
                                          <p:spTgt spid="59"/>
                                        </p:tgtEl>
                                        <p:attrNameLst>
                                          <p:attrName>style.visibility</p:attrName>
                                        </p:attrNameLst>
                                      </p:cBhvr>
                                      <p:to>
                                        <p:strVal val="visible"/>
                                      </p:to>
                                    </p:set>
                                    <p:animEffect transition="in" filter="fade">
                                      <p:cBhvr>
                                        <p:cTn id="211" dur="500"/>
                                        <p:tgtEl>
                                          <p:spTgt spid="59"/>
                                        </p:tgtEl>
                                      </p:cBhvr>
                                    </p:animEffect>
                                  </p:childTnLst>
                                </p:cTn>
                              </p:par>
                              <p:par>
                                <p:cTn id="212" presetID="10" presetClass="entr" presetSubtype="0" fill="hold" nodeType="withEffect">
                                  <p:stCondLst>
                                    <p:cond delay="0"/>
                                  </p:stCondLst>
                                  <p:childTnLst>
                                    <p:set>
                                      <p:cBhvr>
                                        <p:cTn id="213" dur="1" fill="hold">
                                          <p:stCondLst>
                                            <p:cond delay="0"/>
                                          </p:stCondLst>
                                        </p:cTn>
                                        <p:tgtEl>
                                          <p:spTgt spid="60"/>
                                        </p:tgtEl>
                                        <p:attrNameLst>
                                          <p:attrName>style.visibility</p:attrName>
                                        </p:attrNameLst>
                                      </p:cBhvr>
                                      <p:to>
                                        <p:strVal val="visible"/>
                                      </p:to>
                                    </p:set>
                                    <p:animEffect transition="in" filter="fade">
                                      <p:cBhvr>
                                        <p:cTn id="214" dur="500"/>
                                        <p:tgtEl>
                                          <p:spTgt spid="60"/>
                                        </p:tgtEl>
                                      </p:cBhvr>
                                    </p:animEffect>
                                  </p:childTnLst>
                                </p:cTn>
                              </p:par>
                              <p:par>
                                <p:cTn id="215" presetID="10" presetClass="entr" presetSubtype="0" fill="hold" nodeType="withEffect">
                                  <p:stCondLst>
                                    <p:cond delay="0"/>
                                  </p:stCondLst>
                                  <p:childTnLst>
                                    <p:set>
                                      <p:cBhvr>
                                        <p:cTn id="216" dur="1" fill="hold">
                                          <p:stCondLst>
                                            <p:cond delay="0"/>
                                          </p:stCondLst>
                                        </p:cTn>
                                        <p:tgtEl>
                                          <p:spTgt spid="61"/>
                                        </p:tgtEl>
                                        <p:attrNameLst>
                                          <p:attrName>style.visibility</p:attrName>
                                        </p:attrNameLst>
                                      </p:cBhvr>
                                      <p:to>
                                        <p:strVal val="visible"/>
                                      </p:to>
                                    </p:set>
                                    <p:animEffect transition="in" filter="fade">
                                      <p:cBhvr>
                                        <p:cTn id="217" dur="500"/>
                                        <p:tgtEl>
                                          <p:spTgt spid="61"/>
                                        </p:tgtEl>
                                      </p:cBhvr>
                                    </p:animEffect>
                                  </p:childTnLst>
                                </p:cTn>
                              </p:par>
                              <p:par>
                                <p:cTn id="218" presetID="42" presetClass="path" presetSubtype="0" accel="50000" decel="50000" fill="hold" nodeType="withEffect">
                                  <p:stCondLst>
                                    <p:cond delay="0"/>
                                  </p:stCondLst>
                                  <p:childTnLst>
                                    <p:animMotion origin="layout" path="M 0 0 L 0 0.25 E" pathEditMode="relative" ptsTypes="">
                                      <p:cBhvr>
                                        <p:cTn id="219" dur="2000" fill="hold"/>
                                        <p:tgtEl>
                                          <p:spTgt spid="55"/>
                                        </p:tgtEl>
                                        <p:attrNameLst>
                                          <p:attrName>ppt_x</p:attrName>
                                          <p:attrName>ppt_y</p:attrName>
                                        </p:attrNameLst>
                                      </p:cBhvr>
                                    </p:animMotion>
                                  </p:childTnLst>
                                </p:cTn>
                              </p:par>
                              <p:par>
                                <p:cTn id="220" presetID="42" presetClass="path" presetSubtype="0" accel="50000" decel="50000" fill="hold" nodeType="withEffect">
                                  <p:stCondLst>
                                    <p:cond delay="0"/>
                                  </p:stCondLst>
                                  <p:childTnLst>
                                    <p:animMotion origin="layout" path="M 0 0 L 0 0.25 E" pathEditMode="relative" ptsTypes="">
                                      <p:cBhvr>
                                        <p:cTn id="221" dur="2000" fill="hold"/>
                                        <p:tgtEl>
                                          <p:spTgt spid="61"/>
                                        </p:tgtEl>
                                        <p:attrNameLst>
                                          <p:attrName>ppt_x</p:attrName>
                                          <p:attrName>ppt_y</p:attrName>
                                        </p:attrNameLst>
                                      </p:cBhvr>
                                    </p:animMotion>
                                  </p:childTnLst>
                                </p:cTn>
                              </p:par>
                              <p:par>
                                <p:cTn id="222" presetID="42" presetClass="path" presetSubtype="0" accel="50000" decel="50000" fill="hold" nodeType="withEffect">
                                  <p:stCondLst>
                                    <p:cond delay="0"/>
                                  </p:stCondLst>
                                  <p:childTnLst>
                                    <p:animMotion origin="layout" path="M 0 0 L 0 0.25 E" pathEditMode="relative" ptsTypes="">
                                      <p:cBhvr>
                                        <p:cTn id="223" dur="2000" fill="hold"/>
                                        <p:tgtEl>
                                          <p:spTgt spid="54"/>
                                        </p:tgtEl>
                                        <p:attrNameLst>
                                          <p:attrName>ppt_x</p:attrName>
                                          <p:attrName>ppt_y</p:attrName>
                                        </p:attrNameLst>
                                      </p:cBhvr>
                                    </p:animMotion>
                                  </p:childTnLst>
                                </p:cTn>
                              </p:par>
                              <p:par>
                                <p:cTn id="224" presetID="42" presetClass="path" presetSubtype="0" accel="50000" decel="50000" fill="hold" nodeType="withEffect">
                                  <p:stCondLst>
                                    <p:cond delay="0"/>
                                  </p:stCondLst>
                                  <p:childTnLst>
                                    <p:animMotion origin="layout" path="M 2.5E-6 2.59259E-6 L -0.11315 0.19768 " pathEditMode="relative" rAng="0" ptsTypes="AA">
                                      <p:cBhvr>
                                        <p:cTn id="225" dur="2000" fill="hold"/>
                                        <p:tgtEl>
                                          <p:spTgt spid="56"/>
                                        </p:tgtEl>
                                        <p:attrNameLst>
                                          <p:attrName>ppt_x</p:attrName>
                                          <p:attrName>ppt_y</p:attrName>
                                        </p:attrNameLst>
                                      </p:cBhvr>
                                      <p:rCtr x="-5664" y="9884"/>
                                    </p:animMotion>
                                  </p:childTnLst>
                                </p:cTn>
                              </p:par>
                              <p:par>
                                <p:cTn id="226" presetID="42" presetClass="path" presetSubtype="0" accel="50000" decel="50000" fill="hold" nodeType="withEffect">
                                  <p:stCondLst>
                                    <p:cond delay="0"/>
                                  </p:stCondLst>
                                  <p:childTnLst>
                                    <p:animMotion origin="layout" path="M 0 -4.07407E-6 L -0.10495 0.07338 " pathEditMode="relative" rAng="0" ptsTypes="AA">
                                      <p:cBhvr>
                                        <p:cTn id="227" dur="2000" fill="hold"/>
                                        <p:tgtEl>
                                          <p:spTgt spid="50"/>
                                        </p:tgtEl>
                                        <p:attrNameLst>
                                          <p:attrName>ppt_x</p:attrName>
                                          <p:attrName>ppt_y</p:attrName>
                                        </p:attrNameLst>
                                      </p:cBhvr>
                                      <p:rCtr x="-5247" y="3657"/>
                                    </p:animMotion>
                                  </p:childTnLst>
                                </p:cTn>
                              </p:par>
                              <p:par>
                                <p:cTn id="228" presetID="42" presetClass="path" presetSubtype="0" accel="50000" decel="50000" fill="hold" nodeType="withEffect">
                                  <p:stCondLst>
                                    <p:cond delay="0"/>
                                  </p:stCondLst>
                                  <p:childTnLst>
                                    <p:animMotion origin="layout" path="M 0 0 L 0 0.25 E" pathEditMode="relative" ptsTypes="">
                                      <p:cBhvr>
                                        <p:cTn id="229" dur="2000" fill="hold"/>
                                        <p:tgtEl>
                                          <p:spTgt spid="52"/>
                                        </p:tgtEl>
                                        <p:attrNameLst>
                                          <p:attrName>ppt_x</p:attrName>
                                          <p:attrName>ppt_y</p:attrName>
                                        </p:attrNameLst>
                                      </p:cBhvr>
                                    </p:animMotion>
                                  </p:childTnLst>
                                </p:cTn>
                              </p:par>
                              <p:par>
                                <p:cTn id="230" presetID="42" presetClass="path" presetSubtype="0" accel="50000" decel="50000" fill="hold" nodeType="withEffect">
                                  <p:stCondLst>
                                    <p:cond delay="0"/>
                                  </p:stCondLst>
                                  <p:childTnLst>
                                    <p:animMotion origin="layout" path="M 0 0 L 0 0.25 E" pathEditMode="relative" ptsTypes="">
                                      <p:cBhvr>
                                        <p:cTn id="231" dur="2000" fill="hold"/>
                                        <p:tgtEl>
                                          <p:spTgt spid="46"/>
                                        </p:tgtEl>
                                        <p:attrNameLst>
                                          <p:attrName>ppt_x</p:attrName>
                                          <p:attrName>ppt_y</p:attrName>
                                        </p:attrNameLst>
                                      </p:cBhvr>
                                    </p:animMotion>
                                  </p:childTnLst>
                                </p:cTn>
                              </p:par>
                              <p:par>
                                <p:cTn id="232" presetID="42" presetClass="path" presetSubtype="0" accel="50000" decel="50000" fill="hold" nodeType="withEffect">
                                  <p:stCondLst>
                                    <p:cond delay="0"/>
                                  </p:stCondLst>
                                  <p:childTnLst>
                                    <p:animMotion origin="layout" path="M 0 0 L 0 0.25 E" pathEditMode="relative" ptsTypes="">
                                      <p:cBhvr>
                                        <p:cTn id="233" dur="2000" fill="hold"/>
                                        <p:tgtEl>
                                          <p:spTgt spid="36"/>
                                        </p:tgtEl>
                                        <p:attrNameLst>
                                          <p:attrName>ppt_x</p:attrName>
                                          <p:attrName>ppt_y</p:attrName>
                                        </p:attrNameLst>
                                      </p:cBhvr>
                                    </p:animMotion>
                                  </p:childTnLst>
                                </p:cTn>
                              </p:par>
                              <p:par>
                                <p:cTn id="234" presetID="42" presetClass="path" presetSubtype="0" accel="50000" decel="50000" fill="hold" nodeType="withEffect">
                                  <p:stCondLst>
                                    <p:cond delay="0"/>
                                  </p:stCondLst>
                                  <p:childTnLst>
                                    <p:animMotion origin="layout" path="M 0 0 L 0 0.25 E" pathEditMode="relative" ptsTypes="">
                                      <p:cBhvr>
                                        <p:cTn id="235" dur="2000" fill="hold"/>
                                        <p:tgtEl>
                                          <p:spTgt spid="43"/>
                                        </p:tgtEl>
                                        <p:attrNameLst>
                                          <p:attrName>ppt_x</p:attrName>
                                          <p:attrName>ppt_y</p:attrName>
                                        </p:attrNameLst>
                                      </p:cBhvr>
                                    </p:animMotion>
                                  </p:childTnLst>
                                </p:cTn>
                              </p:par>
                              <p:par>
                                <p:cTn id="236" presetID="42" presetClass="path" presetSubtype="0" accel="50000" decel="50000" fill="hold" nodeType="withEffect">
                                  <p:stCondLst>
                                    <p:cond delay="0"/>
                                  </p:stCondLst>
                                  <p:childTnLst>
                                    <p:animMotion origin="layout" path="M 3.54167E-6 -1.85185E-6 L 0.05403 0.20486 " pathEditMode="relative" rAng="0" ptsTypes="AA">
                                      <p:cBhvr>
                                        <p:cTn id="237" dur="2000" fill="hold"/>
                                        <p:tgtEl>
                                          <p:spTgt spid="32"/>
                                        </p:tgtEl>
                                        <p:attrNameLst>
                                          <p:attrName>ppt_x</p:attrName>
                                          <p:attrName>ppt_y</p:attrName>
                                        </p:attrNameLst>
                                      </p:cBhvr>
                                      <p:rCtr x="2695" y="10231"/>
                                    </p:animMotion>
                                  </p:childTnLst>
                                </p:cTn>
                              </p:par>
                              <p:par>
                                <p:cTn id="238" presetID="42" presetClass="path" presetSubtype="0" accel="50000" decel="50000" fill="hold" nodeType="withEffect">
                                  <p:stCondLst>
                                    <p:cond delay="0"/>
                                  </p:stCondLst>
                                  <p:childTnLst>
                                    <p:animMotion origin="layout" path="M 0 0 L 0 0.25 E" pathEditMode="relative" ptsTypes="">
                                      <p:cBhvr>
                                        <p:cTn id="239" dur="2000" fill="hold"/>
                                        <p:tgtEl>
                                          <p:spTgt spid="28"/>
                                        </p:tgtEl>
                                        <p:attrNameLst>
                                          <p:attrName>ppt_x</p:attrName>
                                          <p:attrName>ppt_y</p:attrName>
                                        </p:attrNameLst>
                                      </p:cBhvr>
                                    </p:animMotion>
                                  </p:childTnLst>
                                </p:cTn>
                              </p:par>
                              <p:par>
                                <p:cTn id="240" presetID="42" presetClass="path" presetSubtype="0" accel="50000" decel="50000" fill="hold" nodeType="withEffect">
                                  <p:stCondLst>
                                    <p:cond delay="0"/>
                                  </p:stCondLst>
                                  <p:childTnLst>
                                    <p:animMotion origin="layout" path="M 0 0 L 0 0.25 E" pathEditMode="relative" ptsTypes="">
                                      <p:cBhvr>
                                        <p:cTn id="241" dur="2000" fill="hold"/>
                                        <p:tgtEl>
                                          <p:spTgt spid="31"/>
                                        </p:tgtEl>
                                        <p:attrNameLst>
                                          <p:attrName>ppt_x</p:attrName>
                                          <p:attrName>ppt_y</p:attrName>
                                        </p:attrNameLst>
                                      </p:cBhvr>
                                    </p:animMotion>
                                  </p:childTnLst>
                                </p:cTn>
                              </p:par>
                              <p:par>
                                <p:cTn id="242" presetID="42" presetClass="path" presetSubtype="0" accel="50000" decel="50000" fill="hold" nodeType="withEffect">
                                  <p:stCondLst>
                                    <p:cond delay="0"/>
                                  </p:stCondLst>
                                  <p:childTnLst>
                                    <p:animMotion origin="layout" path="M 0 0 L 0 0.25 E" pathEditMode="relative" ptsTypes="">
                                      <p:cBhvr>
                                        <p:cTn id="243" dur="2000" fill="hold"/>
                                        <p:tgtEl>
                                          <p:spTgt spid="21"/>
                                        </p:tgtEl>
                                        <p:attrNameLst>
                                          <p:attrName>ppt_x</p:attrName>
                                          <p:attrName>ppt_y</p:attrName>
                                        </p:attrNameLst>
                                      </p:cBhvr>
                                    </p:animMotion>
                                  </p:childTnLst>
                                </p:cTn>
                              </p:par>
                              <p:par>
                                <p:cTn id="244" presetID="42" presetClass="path" presetSubtype="0" accel="50000" decel="50000" fill="hold" nodeType="withEffect">
                                  <p:stCondLst>
                                    <p:cond delay="0"/>
                                  </p:stCondLst>
                                  <p:childTnLst>
                                    <p:animMotion origin="layout" path="M 2.5E-6 -2.22222E-6 L 0.05586 0.15047 " pathEditMode="relative" rAng="0" ptsTypes="AA">
                                      <p:cBhvr>
                                        <p:cTn id="245" dur="2000" fill="hold"/>
                                        <p:tgtEl>
                                          <p:spTgt spid="22"/>
                                        </p:tgtEl>
                                        <p:attrNameLst>
                                          <p:attrName>ppt_x</p:attrName>
                                          <p:attrName>ppt_y</p:attrName>
                                        </p:attrNameLst>
                                      </p:cBhvr>
                                      <p:rCtr x="2786" y="7523"/>
                                    </p:animMotion>
                                  </p:childTnLst>
                                </p:cTn>
                              </p:par>
                              <p:par>
                                <p:cTn id="246" presetID="42" presetClass="path" presetSubtype="0" accel="50000" decel="50000" fill="hold" nodeType="withEffect">
                                  <p:stCondLst>
                                    <p:cond delay="0"/>
                                  </p:stCondLst>
                                  <p:childTnLst>
                                    <p:animMotion origin="layout" path="M 6.25E-7 -2.96296E-6 L 0.05443 0.15718 " pathEditMode="relative" rAng="0" ptsTypes="AA">
                                      <p:cBhvr>
                                        <p:cTn id="247" dur="2000" fill="hold"/>
                                        <p:tgtEl>
                                          <p:spTgt spid="26"/>
                                        </p:tgtEl>
                                        <p:attrNameLst>
                                          <p:attrName>ppt_x</p:attrName>
                                          <p:attrName>ppt_y</p:attrName>
                                        </p:attrNameLst>
                                      </p:cBhvr>
                                      <p:rCtr x="2721" y="7847"/>
                                    </p:animMotion>
                                  </p:childTnLst>
                                </p:cTn>
                              </p:par>
                              <p:par>
                                <p:cTn id="248" presetID="42" presetClass="path" presetSubtype="0" accel="50000" decel="50000" fill="hold" nodeType="withEffect">
                                  <p:stCondLst>
                                    <p:cond delay="0"/>
                                  </p:stCondLst>
                                  <p:childTnLst>
                                    <p:animMotion origin="layout" path="M 0 0 L 0 0.25 E" pathEditMode="relative" ptsTypes="">
                                      <p:cBhvr>
                                        <p:cTn id="249" dur="2000" fill="hold"/>
                                        <p:tgtEl>
                                          <p:spTgt spid="17"/>
                                        </p:tgtEl>
                                        <p:attrNameLst>
                                          <p:attrName>ppt_x</p:attrName>
                                          <p:attrName>ppt_y</p:attrName>
                                        </p:attrNameLst>
                                      </p:cBhvr>
                                    </p:animMotion>
                                  </p:childTnLst>
                                </p:cTn>
                              </p:par>
                              <p:par>
                                <p:cTn id="250" presetID="42" presetClass="path" presetSubtype="0" accel="50000" decel="50000" fill="hold" nodeType="withEffect">
                                  <p:stCondLst>
                                    <p:cond delay="0"/>
                                  </p:stCondLst>
                                  <p:childTnLst>
                                    <p:animMotion origin="layout" path="M -4.58333E-6 -7.40741E-7 L 0.04415 0.1537 " pathEditMode="relative" rAng="0" ptsTypes="AA">
                                      <p:cBhvr>
                                        <p:cTn id="251" dur="2000" fill="hold"/>
                                        <p:tgtEl>
                                          <p:spTgt spid="13"/>
                                        </p:tgtEl>
                                        <p:attrNameLst>
                                          <p:attrName>ppt_x</p:attrName>
                                          <p:attrName>ppt_y</p:attrName>
                                        </p:attrNameLst>
                                      </p:cBhvr>
                                      <p:rCtr x="2201" y="7685"/>
                                    </p:animMotion>
                                  </p:childTnLst>
                                </p:cTn>
                              </p:par>
                              <p:par>
                                <p:cTn id="252" presetID="42" presetClass="path" presetSubtype="0" accel="50000" decel="50000" fill="hold" nodeType="withEffect">
                                  <p:stCondLst>
                                    <p:cond delay="0"/>
                                  </p:stCondLst>
                                  <p:childTnLst>
                                    <p:animMotion origin="layout" path="M 0 0 L 0 0.25 E" pathEditMode="relative" ptsTypes="">
                                      <p:cBhvr>
                                        <p:cTn id="253" dur="2000" fill="hold"/>
                                        <p:tgtEl>
                                          <p:spTgt spid="48"/>
                                        </p:tgtEl>
                                        <p:attrNameLst>
                                          <p:attrName>ppt_x</p:attrName>
                                          <p:attrName>ppt_y</p:attrName>
                                        </p:attrNameLst>
                                      </p:cBhvr>
                                    </p:animMotion>
                                  </p:childTnLst>
                                </p:cTn>
                              </p:par>
                              <p:par>
                                <p:cTn id="254" presetID="42" presetClass="path" presetSubtype="0" accel="50000" decel="50000" fill="hold" nodeType="withEffect">
                                  <p:stCondLst>
                                    <p:cond delay="0"/>
                                  </p:stCondLst>
                                  <p:childTnLst>
                                    <p:animMotion origin="layout" path="M 0 0 L 0 0.25 E" pathEditMode="relative" ptsTypes="">
                                      <p:cBhvr>
                                        <p:cTn id="255" dur="2000" fill="hold"/>
                                        <p:tgtEl>
                                          <p:spTgt spid="47"/>
                                        </p:tgtEl>
                                        <p:attrNameLst>
                                          <p:attrName>ppt_x</p:attrName>
                                          <p:attrName>ppt_y</p:attrName>
                                        </p:attrNameLst>
                                      </p:cBhvr>
                                    </p:animMotion>
                                  </p:childTnLst>
                                </p:cTn>
                              </p:par>
                              <p:par>
                                <p:cTn id="256" presetID="42" presetClass="path" presetSubtype="0" accel="50000" decel="50000" fill="hold" nodeType="withEffect">
                                  <p:stCondLst>
                                    <p:cond delay="0"/>
                                  </p:stCondLst>
                                  <p:childTnLst>
                                    <p:animMotion origin="layout" path="M 0 0 L 0 0.25 E" pathEditMode="relative" ptsTypes="">
                                      <p:cBhvr>
                                        <p:cTn id="257" dur="2000" fill="hold"/>
                                        <p:tgtEl>
                                          <p:spTgt spid="34"/>
                                        </p:tgtEl>
                                        <p:attrNameLst>
                                          <p:attrName>ppt_x</p:attrName>
                                          <p:attrName>ppt_y</p:attrName>
                                        </p:attrNameLst>
                                      </p:cBhvr>
                                    </p:animMotion>
                                  </p:childTnLst>
                                </p:cTn>
                              </p:par>
                              <p:par>
                                <p:cTn id="258" presetID="42" presetClass="path" presetSubtype="0" accel="50000" decel="50000" fill="hold" nodeType="withEffect">
                                  <p:stCondLst>
                                    <p:cond delay="0"/>
                                  </p:stCondLst>
                                  <p:childTnLst>
                                    <p:animMotion origin="layout" path="M -4.79167E-6 2.59259E-6 L -4.79167E-6 0.25 " pathEditMode="relative" rAng="0" ptsTypes="AA">
                                      <p:cBhvr>
                                        <p:cTn id="259" dur="2000" fill="hold"/>
                                        <p:tgtEl>
                                          <p:spTgt spid="19"/>
                                        </p:tgtEl>
                                        <p:attrNameLst>
                                          <p:attrName>ppt_x</p:attrName>
                                          <p:attrName>ppt_y</p:attrName>
                                        </p:attrNameLst>
                                      </p:cBhvr>
                                      <p:rCtr x="0" y="12500"/>
                                    </p:animMotion>
                                  </p:childTnLst>
                                </p:cTn>
                              </p:par>
                              <p:par>
                                <p:cTn id="260" presetID="42" presetClass="path" presetSubtype="0" accel="50000" decel="50000" fill="hold" nodeType="withEffect">
                                  <p:stCondLst>
                                    <p:cond delay="0"/>
                                  </p:stCondLst>
                                  <p:childTnLst>
                                    <p:animMotion origin="layout" path="M 0 0 L 0 0.25 E" pathEditMode="relative" ptsTypes="">
                                      <p:cBhvr>
                                        <p:cTn id="261" dur="2000" fill="hold"/>
                                        <p:tgtEl>
                                          <p:spTgt spid="14"/>
                                        </p:tgtEl>
                                        <p:attrNameLst>
                                          <p:attrName>ppt_x</p:attrName>
                                          <p:attrName>ppt_y</p:attrName>
                                        </p:attrNameLst>
                                      </p:cBhvr>
                                    </p:animMotion>
                                  </p:childTnLst>
                                </p:cTn>
                              </p:par>
                              <p:par>
                                <p:cTn id="262" presetID="42" presetClass="path" presetSubtype="0" accel="50000" decel="50000" fill="hold" nodeType="withEffect">
                                  <p:stCondLst>
                                    <p:cond delay="0"/>
                                  </p:stCondLst>
                                  <p:childTnLst>
                                    <p:animMotion origin="layout" path="M 0 0 L 0 0.25 E" pathEditMode="relative" ptsTypes="">
                                      <p:cBhvr>
                                        <p:cTn id="263" dur="2000" fill="hold"/>
                                        <p:tgtEl>
                                          <p:spTgt spid="12"/>
                                        </p:tgtEl>
                                        <p:attrNameLst>
                                          <p:attrName>ppt_x</p:attrName>
                                          <p:attrName>ppt_y</p:attrName>
                                        </p:attrNameLst>
                                      </p:cBhvr>
                                    </p:animMotion>
                                  </p:childTnLst>
                                </p:cTn>
                              </p:par>
                              <p:par>
                                <p:cTn id="264" presetID="42" presetClass="path" presetSubtype="0" accel="50000" decel="50000" fill="hold" nodeType="withEffect">
                                  <p:stCondLst>
                                    <p:cond delay="0"/>
                                  </p:stCondLst>
                                  <p:childTnLst>
                                    <p:animMotion origin="layout" path="M 0 0 L 0 0.25 E" pathEditMode="relative" ptsTypes="">
                                      <p:cBhvr>
                                        <p:cTn id="265" dur="2000" fill="hold"/>
                                        <p:tgtEl>
                                          <p:spTgt spid="3"/>
                                        </p:tgtEl>
                                        <p:attrNameLst>
                                          <p:attrName>ppt_x</p:attrName>
                                          <p:attrName>ppt_y</p:attrName>
                                        </p:attrNameLst>
                                      </p:cBhvr>
                                    </p:animMotion>
                                  </p:childTnLst>
                                </p:cTn>
                              </p:par>
                              <p:par>
                                <p:cTn id="266" presetID="42" presetClass="path" presetSubtype="0" accel="50000" decel="50000" fill="hold" nodeType="withEffect">
                                  <p:stCondLst>
                                    <p:cond delay="0"/>
                                  </p:stCondLst>
                                  <p:childTnLst>
                                    <p:animMotion origin="layout" path="M 0 0 L 0 0.25 E" pathEditMode="relative" ptsTypes="">
                                      <p:cBhvr>
                                        <p:cTn id="267" dur="2000" fill="hold"/>
                                        <p:tgtEl>
                                          <p:spTgt spid="33"/>
                                        </p:tgtEl>
                                        <p:attrNameLst>
                                          <p:attrName>ppt_x</p:attrName>
                                          <p:attrName>ppt_y</p:attrName>
                                        </p:attrNameLst>
                                      </p:cBhvr>
                                    </p:animMotion>
                                  </p:childTnLst>
                                </p:cTn>
                              </p:par>
                              <p:par>
                                <p:cTn id="268" presetID="42" presetClass="path" presetSubtype="0" accel="50000" decel="50000" fill="hold" nodeType="withEffect">
                                  <p:stCondLst>
                                    <p:cond delay="0"/>
                                  </p:stCondLst>
                                  <p:childTnLst>
                                    <p:animMotion origin="layout" path="M 0 0 L 0 0.25 E" pathEditMode="relative" ptsTypes="">
                                      <p:cBhvr>
                                        <p:cTn id="269" dur="2000" fill="hold"/>
                                        <p:tgtEl>
                                          <p:spTgt spid="11"/>
                                        </p:tgtEl>
                                        <p:attrNameLst>
                                          <p:attrName>ppt_x</p:attrName>
                                          <p:attrName>ppt_y</p:attrName>
                                        </p:attrNameLst>
                                      </p:cBhvr>
                                    </p:animMotion>
                                  </p:childTnLst>
                                </p:cTn>
                              </p:par>
                              <p:par>
                                <p:cTn id="270" presetID="42" presetClass="path" presetSubtype="0" accel="50000" decel="50000" fill="hold" nodeType="withEffect">
                                  <p:stCondLst>
                                    <p:cond delay="0"/>
                                  </p:stCondLst>
                                  <p:childTnLst>
                                    <p:animMotion origin="layout" path="M 0 0 L 0 0.25 E" pathEditMode="relative" ptsTypes="">
                                      <p:cBhvr>
                                        <p:cTn id="271" dur="2000" fill="hold"/>
                                        <p:tgtEl>
                                          <p:spTgt spid="25"/>
                                        </p:tgtEl>
                                        <p:attrNameLst>
                                          <p:attrName>ppt_x</p:attrName>
                                          <p:attrName>ppt_y</p:attrName>
                                        </p:attrNameLst>
                                      </p:cBhvr>
                                    </p:animMotion>
                                  </p:childTnLst>
                                </p:cTn>
                              </p:par>
                              <p:par>
                                <p:cTn id="272" presetID="42" presetClass="path" presetSubtype="0" accel="50000" decel="50000" fill="hold" nodeType="withEffect">
                                  <p:stCondLst>
                                    <p:cond delay="0"/>
                                  </p:stCondLst>
                                  <p:childTnLst>
                                    <p:animMotion origin="layout" path="M 0 0 L 0 0.25 E" pathEditMode="relative" ptsTypes="">
                                      <p:cBhvr>
                                        <p:cTn id="273" dur="2000" fill="hold"/>
                                        <p:tgtEl>
                                          <p:spTgt spid="29"/>
                                        </p:tgtEl>
                                        <p:attrNameLst>
                                          <p:attrName>ppt_x</p:attrName>
                                          <p:attrName>ppt_y</p:attrName>
                                        </p:attrNameLst>
                                      </p:cBhvr>
                                    </p:animMotion>
                                  </p:childTnLst>
                                </p:cTn>
                              </p:par>
                              <p:par>
                                <p:cTn id="274" presetID="42" presetClass="path" presetSubtype="0" accel="50000" decel="50000" fill="hold" nodeType="withEffect">
                                  <p:stCondLst>
                                    <p:cond delay="0"/>
                                  </p:stCondLst>
                                  <p:childTnLst>
                                    <p:animMotion origin="layout" path="M 0 0 L 0 0.25 E" pathEditMode="relative" ptsTypes="">
                                      <p:cBhvr>
                                        <p:cTn id="275" dur="2000" fill="hold"/>
                                        <p:tgtEl>
                                          <p:spTgt spid="20"/>
                                        </p:tgtEl>
                                        <p:attrNameLst>
                                          <p:attrName>ppt_x</p:attrName>
                                          <p:attrName>ppt_y</p:attrName>
                                        </p:attrNameLst>
                                      </p:cBhvr>
                                    </p:animMotion>
                                  </p:childTnLst>
                                </p:cTn>
                              </p:par>
                              <p:par>
                                <p:cTn id="276" presetID="42" presetClass="path" presetSubtype="0" accel="50000" decel="50000" fill="hold" nodeType="withEffect">
                                  <p:stCondLst>
                                    <p:cond delay="0"/>
                                  </p:stCondLst>
                                  <p:childTnLst>
                                    <p:animMotion origin="layout" path="M 0 0 L 0 0.25 E" pathEditMode="relative" ptsTypes="">
                                      <p:cBhvr>
                                        <p:cTn id="277" dur="2000" fill="hold"/>
                                        <p:tgtEl>
                                          <p:spTgt spid="15"/>
                                        </p:tgtEl>
                                        <p:attrNameLst>
                                          <p:attrName>ppt_x</p:attrName>
                                          <p:attrName>ppt_y</p:attrName>
                                        </p:attrNameLst>
                                      </p:cBhvr>
                                    </p:animMotion>
                                  </p:childTnLst>
                                </p:cTn>
                              </p:par>
                              <p:par>
                                <p:cTn id="278" presetID="42" presetClass="path" presetSubtype="0" accel="50000" decel="50000" fill="hold" nodeType="withEffect">
                                  <p:stCondLst>
                                    <p:cond delay="0"/>
                                  </p:stCondLst>
                                  <p:childTnLst>
                                    <p:animMotion origin="layout" path="M 0 0 L 0 0.25 E" pathEditMode="relative" ptsTypes="">
                                      <p:cBhvr>
                                        <p:cTn id="279" dur="2000" fill="hold"/>
                                        <p:tgtEl>
                                          <p:spTgt spid="16"/>
                                        </p:tgtEl>
                                        <p:attrNameLst>
                                          <p:attrName>ppt_x</p:attrName>
                                          <p:attrName>ppt_y</p:attrName>
                                        </p:attrNameLst>
                                      </p:cBhvr>
                                    </p:animMotion>
                                  </p:childTnLst>
                                </p:cTn>
                              </p:par>
                              <p:par>
                                <p:cTn id="280" presetID="42" presetClass="path" presetSubtype="0" accel="50000" decel="50000" fill="hold" nodeType="withEffect">
                                  <p:stCondLst>
                                    <p:cond delay="0"/>
                                  </p:stCondLst>
                                  <p:childTnLst>
                                    <p:animMotion origin="layout" path="M 0 0 L 0 0.25 E" pathEditMode="relative" ptsTypes="">
                                      <p:cBhvr>
                                        <p:cTn id="281" dur="2000" fill="hold"/>
                                        <p:tgtEl>
                                          <p:spTgt spid="23"/>
                                        </p:tgtEl>
                                        <p:attrNameLst>
                                          <p:attrName>ppt_x</p:attrName>
                                          <p:attrName>ppt_y</p:attrName>
                                        </p:attrNameLst>
                                      </p:cBhvr>
                                    </p:animMotion>
                                  </p:childTnLst>
                                </p:cTn>
                              </p:par>
                              <p:par>
                                <p:cTn id="282" presetID="42" presetClass="path" presetSubtype="0" accel="50000" decel="50000" fill="hold" nodeType="withEffect">
                                  <p:stCondLst>
                                    <p:cond delay="0"/>
                                  </p:stCondLst>
                                  <p:childTnLst>
                                    <p:animMotion origin="layout" path="M 0 0 L 0 0.25 E" pathEditMode="relative" ptsTypes="">
                                      <p:cBhvr>
                                        <p:cTn id="283" dur="2000" fill="hold"/>
                                        <p:tgtEl>
                                          <p:spTgt spid="53"/>
                                        </p:tgtEl>
                                        <p:attrNameLst>
                                          <p:attrName>ppt_x</p:attrName>
                                          <p:attrName>ppt_y</p:attrName>
                                        </p:attrNameLst>
                                      </p:cBhvr>
                                    </p:animMotion>
                                  </p:childTnLst>
                                </p:cTn>
                              </p:par>
                              <p:par>
                                <p:cTn id="284" presetID="42" presetClass="path" presetSubtype="0" accel="50000" decel="50000" fill="hold" nodeType="withEffect">
                                  <p:stCondLst>
                                    <p:cond delay="0"/>
                                  </p:stCondLst>
                                  <p:childTnLst>
                                    <p:animMotion origin="layout" path="M 0 0 L 0 0.25 E" pathEditMode="relative" ptsTypes="">
                                      <p:cBhvr>
                                        <p:cTn id="285" dur="2000" fill="hold"/>
                                        <p:tgtEl>
                                          <p:spTgt spid="57"/>
                                        </p:tgtEl>
                                        <p:attrNameLst>
                                          <p:attrName>ppt_x</p:attrName>
                                          <p:attrName>ppt_y</p:attrName>
                                        </p:attrNameLst>
                                      </p:cBhvr>
                                    </p:animMotion>
                                  </p:childTnLst>
                                </p:cTn>
                              </p:par>
                              <p:par>
                                <p:cTn id="286" presetID="42" presetClass="path" presetSubtype="0" accel="50000" decel="50000" fill="hold" nodeType="withEffect">
                                  <p:stCondLst>
                                    <p:cond delay="0"/>
                                  </p:stCondLst>
                                  <p:childTnLst>
                                    <p:animMotion origin="layout" path="M 0 0 L 0 0.25 E" pathEditMode="relative" ptsTypes="">
                                      <p:cBhvr>
                                        <p:cTn id="287" dur="2000" fill="hold"/>
                                        <p:tgtEl>
                                          <p:spTgt spid="4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6097379" y="3981134"/>
            <a:ext cx="2213483" cy="2023412"/>
            <a:chOff x="1164771" y="1415142"/>
            <a:chExt cx="1475655" cy="1348941"/>
          </a:xfrm>
          <a:effectLst>
            <a:outerShdw blurRad="50800" dist="38100" dir="2700000" algn="tl" rotWithShape="0">
              <a:prstClr val="black">
                <a:alpha val="40000"/>
              </a:prstClr>
            </a:outerShdw>
          </a:effectLst>
        </p:grpSpPr>
        <p:sp>
          <p:nvSpPr>
            <p:cNvPr id="11" name="Rounded Rectangle 10"/>
            <p:cNvSpPr/>
            <p:nvPr/>
          </p:nvSpPr>
          <p:spPr>
            <a:xfrm>
              <a:off x="1164772" y="1415142"/>
              <a:ext cx="1344148" cy="1348941"/>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sz="2700" dirty="0"/>
            </a:p>
          </p:txBody>
        </p:sp>
        <p:sp>
          <p:nvSpPr>
            <p:cNvPr id="12" name="Oval 11"/>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12"/>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13"/>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14"/>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15"/>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Flowchart: Connector 18"/>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0" name="Flowchart: Connector 19"/>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1" name="Flowchart: Connector 20"/>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2" name="Flowchart: Connector 21"/>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3" name="Flowchart: Connector 22"/>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6" name="Freeform 25"/>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28" name="Straight Connector 2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1352906" y="1640490"/>
              <a:ext cx="517468" cy="517803"/>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673922" y="1453835"/>
              <a:ext cx="966504" cy="430887"/>
            </a:xfrm>
            <a:prstGeom prst="rect">
              <a:avLst/>
            </a:prstGeom>
            <a:noFill/>
          </p:spPr>
          <p:txBody>
            <a:bodyPr wrap="square" rtlCol="0">
              <a:spAutoFit/>
            </a:bodyPr>
            <a:lstStyle/>
            <a:p>
              <a:r>
                <a:rPr lang="en-US" sz="3600" b="1" dirty="0"/>
                <a:t>CDS</a:t>
              </a:r>
              <a:endParaRPr lang="en-US" sz="2700" b="1" dirty="0"/>
            </a:p>
          </p:txBody>
        </p:sp>
      </p:grpSp>
      <p:grpSp>
        <p:nvGrpSpPr>
          <p:cNvPr id="61" name="!!Group 60"/>
          <p:cNvGrpSpPr/>
          <p:nvPr/>
        </p:nvGrpSpPr>
        <p:grpSpPr>
          <a:xfrm>
            <a:off x="2126252" y="3524828"/>
            <a:ext cx="2657982" cy="2573744"/>
            <a:chOff x="1164771" y="1415142"/>
            <a:chExt cx="1475655" cy="1348941"/>
          </a:xfrm>
          <a:effectLst>
            <a:outerShdw blurRad="50800" dist="38100" dir="2700000" algn="tl" rotWithShape="0">
              <a:prstClr val="black">
                <a:alpha val="40000"/>
              </a:prstClr>
            </a:outerShdw>
          </a:effectLst>
        </p:grpSpPr>
        <p:sp>
          <p:nvSpPr>
            <p:cNvPr id="62" name="Rounded Rectangle 61"/>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63" name="Oval 62"/>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4" name="Oval 63"/>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5" name="Oval 64"/>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6" name="Oval 65"/>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7" name="Oval 66"/>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8" name="Flowchart: Connector 67"/>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69" name="Flowchart: Connector 68"/>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0" name="Flowchart: Connector 69"/>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1" name="Flowchart: Connector 70"/>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2" name="Flowchart: Connector 71"/>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3" name="Freeform 72"/>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74" name="Straight Connector 73"/>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Arrow Connector 74"/>
            <p:cNvCxnSpPr/>
            <p:nvPr/>
          </p:nvCxnSpPr>
          <p:spPr>
            <a:xfrm>
              <a:off x="1329321" y="1885455"/>
              <a:ext cx="582713" cy="500240"/>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76" name="TextBox 75"/>
            <p:cNvSpPr txBox="1"/>
            <p:nvPr/>
          </p:nvSpPr>
          <p:spPr>
            <a:xfrm>
              <a:off x="1673922" y="1423756"/>
              <a:ext cx="966504" cy="338753"/>
            </a:xfrm>
            <a:prstGeom prst="rect">
              <a:avLst/>
            </a:prstGeom>
            <a:noFill/>
          </p:spPr>
          <p:txBody>
            <a:bodyPr wrap="square" rtlCol="0">
              <a:spAutoFit/>
            </a:bodyPr>
            <a:lstStyle/>
            <a:p>
              <a:r>
                <a:rPr lang="en-US" sz="3600" b="1" dirty="0"/>
                <a:t>DDS</a:t>
              </a:r>
              <a:endParaRPr lang="en-US" sz="2700" b="1" dirty="0"/>
            </a:p>
          </p:txBody>
        </p:sp>
      </p:grpSp>
      <p:grpSp>
        <p:nvGrpSpPr>
          <p:cNvPr id="98" name="!!Group 97"/>
          <p:cNvGrpSpPr/>
          <p:nvPr/>
        </p:nvGrpSpPr>
        <p:grpSpPr>
          <a:xfrm>
            <a:off x="9663252" y="4034804"/>
            <a:ext cx="2707035" cy="2033714"/>
            <a:chOff x="5334460" y="3172266"/>
            <a:chExt cx="1786183" cy="1355809"/>
          </a:xfrm>
          <a:effectLst>
            <a:outerShdw blurRad="50800" dist="38100" dir="2700000" algn="tl" rotWithShape="0">
              <a:prstClr val="black">
                <a:alpha val="40000"/>
              </a:prstClr>
            </a:outerShdw>
          </a:effectLst>
        </p:grpSpPr>
        <p:grpSp>
          <p:nvGrpSpPr>
            <p:cNvPr id="77" name="Group 76"/>
            <p:cNvGrpSpPr/>
            <p:nvPr/>
          </p:nvGrpSpPr>
          <p:grpSpPr>
            <a:xfrm>
              <a:off x="5334460" y="3172266"/>
              <a:ext cx="1499713" cy="1355809"/>
              <a:chOff x="1164771" y="1408274"/>
              <a:chExt cx="1499713" cy="1355809"/>
            </a:xfrm>
          </p:grpSpPr>
          <p:sp>
            <p:nvSpPr>
              <p:cNvPr id="78" name="Rounded Rectangle 77"/>
              <p:cNvSpPr/>
              <p:nvPr/>
            </p:nvSpPr>
            <p:spPr>
              <a:xfrm>
                <a:off x="1164772" y="1415142"/>
                <a:ext cx="1344148" cy="1348941"/>
              </a:xfrm>
              <a:prstGeom prst="roundRect">
                <a:avLst/>
              </a:prstGeom>
              <a:ln w="28575">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79" name="Oval 78"/>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0" name="Oval 79"/>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1" name="Oval 80"/>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2" name="Oval 81"/>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3" name="Oval 82"/>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4" name="Flowchart: Connector 83"/>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5" name="Flowchart: Connector 84"/>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6" name="Flowchart: Connector 85"/>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7" name="Flowchart: Connector 86"/>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8" name="Flowchart: Connector 87"/>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9" name="Freeform 88"/>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90" name="Straight Connector 89"/>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a:off x="1513114" y="1621384"/>
                <a:ext cx="487073" cy="350699"/>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92" name="TextBox 91"/>
              <p:cNvSpPr txBox="1"/>
              <p:nvPr/>
            </p:nvSpPr>
            <p:spPr>
              <a:xfrm>
                <a:off x="1697980" y="1408274"/>
                <a:ext cx="966504" cy="430887"/>
              </a:xfrm>
              <a:prstGeom prst="rect">
                <a:avLst/>
              </a:prstGeom>
              <a:noFill/>
            </p:spPr>
            <p:txBody>
              <a:bodyPr wrap="square" rtlCol="0">
                <a:spAutoFit/>
              </a:bodyPr>
              <a:lstStyle/>
              <a:p>
                <a:r>
                  <a:rPr lang="en-US" sz="3600" b="1" dirty="0"/>
                  <a:t>HDS</a:t>
                </a:r>
                <a:endParaRPr lang="en-US" sz="2700" b="1" dirty="0"/>
              </a:p>
            </p:txBody>
          </p:sp>
        </p:grpSp>
        <p:pic>
          <p:nvPicPr>
            <p:cNvPr id="94" name="Picture 9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483" y="3317994"/>
              <a:ext cx="1775160" cy="794249"/>
            </a:xfrm>
            <a:prstGeom prst="rect">
              <a:avLst/>
            </a:prstGeom>
          </p:spPr>
        </p:pic>
      </p:grpSp>
      <p:grpSp>
        <p:nvGrpSpPr>
          <p:cNvPr id="101" name="Group 100"/>
          <p:cNvGrpSpPr/>
          <p:nvPr/>
        </p:nvGrpSpPr>
        <p:grpSpPr>
          <a:xfrm>
            <a:off x="13169816" y="4059867"/>
            <a:ext cx="2330019" cy="2028741"/>
            <a:chOff x="5929826" y="2123739"/>
            <a:chExt cx="1553346" cy="1352494"/>
          </a:xfrm>
          <a:effectLst>
            <a:outerShdw blurRad="50800" dist="38100" dir="2700000" algn="tl" rotWithShape="0">
              <a:prstClr val="black">
                <a:alpha val="40000"/>
              </a:prstClr>
            </a:outerShdw>
          </a:effectLst>
        </p:grpSpPr>
        <p:grpSp>
          <p:nvGrpSpPr>
            <p:cNvPr id="45" name="Group 44"/>
            <p:cNvGrpSpPr/>
            <p:nvPr/>
          </p:nvGrpSpPr>
          <p:grpSpPr>
            <a:xfrm>
              <a:off x="5929826" y="2123739"/>
              <a:ext cx="1553346" cy="1352494"/>
              <a:chOff x="1164771" y="1411589"/>
              <a:chExt cx="1553346" cy="1352494"/>
            </a:xfrm>
          </p:grpSpPr>
          <p:sp>
            <p:nvSpPr>
              <p:cNvPr id="46" name="Rounded Rectangle 45"/>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47" name="Oval 46"/>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8" name="Oval 47"/>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Oval 48"/>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0" name="Oval 49"/>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Oval 50"/>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2" name="Flowchart: Connector 51"/>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3" name="Flowchart: Connector 52"/>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4" name="Flowchart: Connector 53"/>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5" name="Flowchart: Connector 54"/>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6" name="Flowchart: Connector 55"/>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7" name="Freeform 56"/>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8" name="Straight Connector 5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Arrow Connector 58"/>
              <p:cNvCxnSpPr/>
              <p:nvPr/>
            </p:nvCxnSpPr>
            <p:spPr>
              <a:xfrm>
                <a:off x="1471134" y="1715094"/>
                <a:ext cx="518741" cy="355165"/>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751613" y="1411589"/>
                <a:ext cx="966504" cy="430887"/>
              </a:xfrm>
              <a:prstGeom prst="rect">
                <a:avLst/>
              </a:prstGeom>
              <a:noFill/>
            </p:spPr>
            <p:txBody>
              <a:bodyPr wrap="square" rtlCol="0">
                <a:spAutoFit/>
              </a:bodyPr>
              <a:lstStyle/>
              <a:p>
                <a:r>
                  <a:rPr lang="en-US" sz="3600" b="1" dirty="0"/>
                  <a:t>FDS</a:t>
                </a:r>
                <a:endParaRPr lang="en-US" sz="2700" b="1" dirty="0"/>
              </a:p>
            </p:txBody>
          </p:sp>
        </p:grpSp>
        <p:pic>
          <p:nvPicPr>
            <p:cNvPr id="100" name="Picture 99"/>
            <p:cNvPicPr>
              <a:picLocks noChangeAspect="1"/>
            </p:cNvPicPr>
            <p:nvPr/>
          </p:nvPicPr>
          <p:blipFill rotWithShape="1">
            <a:blip r:embed="rId2">
              <a:extLst>
                <a:ext uri="{28A0092B-C50C-407E-A947-70E740481C1C}">
                  <a14:useLocalDpi xmlns:a14="http://schemas.microsoft.com/office/drawing/2010/main" val="0"/>
                </a:ext>
              </a:extLst>
            </a:blip>
            <a:srcRect l="33989" t="23073" r="30758" b="22442"/>
            <a:stretch/>
          </p:blipFill>
          <p:spPr>
            <a:xfrm>
              <a:off x="6556242" y="2437939"/>
              <a:ext cx="674914" cy="479708"/>
            </a:xfrm>
            <a:prstGeom prst="rect">
              <a:avLst/>
            </a:prstGeom>
          </p:spPr>
        </p:pic>
      </p:grpSp>
    </p:spTree>
    <p:extLst>
      <p:ext uri="{BB962C8B-B14F-4D97-AF65-F5344CB8AC3E}">
        <p14:creationId xmlns:p14="http://schemas.microsoft.com/office/powerpoint/2010/main" val="3974126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5695212" y="3663635"/>
            <a:ext cx="2615649" cy="2383244"/>
            <a:chOff x="1164771" y="1415142"/>
            <a:chExt cx="1475655" cy="1348941"/>
          </a:xfrm>
          <a:effectLst>
            <a:outerShdw blurRad="50800" dist="38100" dir="2700000" algn="tl" rotWithShape="0">
              <a:prstClr val="black">
                <a:alpha val="40000"/>
              </a:prstClr>
            </a:outerShdw>
          </a:effectLst>
        </p:grpSpPr>
        <p:sp>
          <p:nvSpPr>
            <p:cNvPr id="11" name="Rounded Rectangle 10"/>
            <p:cNvSpPr/>
            <p:nvPr/>
          </p:nvSpPr>
          <p:spPr>
            <a:xfrm>
              <a:off x="1164772" y="1415142"/>
              <a:ext cx="1344148" cy="1348941"/>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sz="2700" dirty="0"/>
            </a:p>
          </p:txBody>
        </p:sp>
        <p:sp>
          <p:nvSpPr>
            <p:cNvPr id="12" name="Oval 11"/>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12"/>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13"/>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14"/>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15"/>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Flowchart: Connector 18"/>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0" name="Flowchart: Connector 19"/>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1" name="Flowchart: Connector 20"/>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2" name="Flowchart: Connector 21"/>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3" name="Flowchart: Connector 22"/>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6" name="Freeform 25"/>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28" name="Straight Connector 2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1352906" y="1640490"/>
              <a:ext cx="517468" cy="517803"/>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673922" y="1453835"/>
              <a:ext cx="966504" cy="365830"/>
            </a:xfrm>
            <a:prstGeom prst="rect">
              <a:avLst/>
            </a:prstGeom>
            <a:noFill/>
          </p:spPr>
          <p:txBody>
            <a:bodyPr wrap="square" rtlCol="0">
              <a:spAutoFit/>
            </a:bodyPr>
            <a:lstStyle/>
            <a:p>
              <a:r>
                <a:rPr lang="en-US" sz="3600" b="1" dirty="0"/>
                <a:t>CDS</a:t>
              </a:r>
              <a:endParaRPr lang="en-US" sz="2700" b="1" dirty="0"/>
            </a:p>
          </p:txBody>
        </p:sp>
      </p:grpSp>
      <p:grpSp>
        <p:nvGrpSpPr>
          <p:cNvPr id="61" name="!!Group 60"/>
          <p:cNvGrpSpPr/>
          <p:nvPr/>
        </p:nvGrpSpPr>
        <p:grpSpPr>
          <a:xfrm>
            <a:off x="2570752" y="4053994"/>
            <a:ext cx="2213483" cy="2023412"/>
            <a:chOff x="1164771" y="1415142"/>
            <a:chExt cx="1475655" cy="1348941"/>
          </a:xfrm>
          <a:effectLst>
            <a:outerShdw blurRad="50800" dist="38100" dir="2700000" algn="tl" rotWithShape="0">
              <a:prstClr val="black">
                <a:alpha val="40000"/>
              </a:prstClr>
            </a:outerShdw>
          </a:effectLst>
        </p:grpSpPr>
        <p:sp>
          <p:nvSpPr>
            <p:cNvPr id="62" name="Rounded Rectangle 61"/>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63" name="Oval 62"/>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4" name="Oval 63"/>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5" name="Oval 64"/>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6" name="Oval 65"/>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7" name="Oval 66"/>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8" name="Flowchart: Connector 67"/>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69" name="Flowchart: Connector 68"/>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0" name="Flowchart: Connector 69"/>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1" name="Flowchart: Connector 70"/>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2" name="Flowchart: Connector 71"/>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3" name="Freeform 72"/>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74" name="Straight Connector 73"/>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Arrow Connector 74"/>
            <p:cNvCxnSpPr/>
            <p:nvPr/>
          </p:nvCxnSpPr>
          <p:spPr>
            <a:xfrm>
              <a:off x="1329321" y="1885455"/>
              <a:ext cx="582713" cy="500240"/>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76" name="TextBox 75"/>
            <p:cNvSpPr txBox="1"/>
            <p:nvPr/>
          </p:nvSpPr>
          <p:spPr>
            <a:xfrm>
              <a:off x="1673922" y="1423756"/>
              <a:ext cx="966504" cy="430887"/>
            </a:xfrm>
            <a:prstGeom prst="rect">
              <a:avLst/>
            </a:prstGeom>
            <a:noFill/>
          </p:spPr>
          <p:txBody>
            <a:bodyPr wrap="square" rtlCol="0">
              <a:spAutoFit/>
            </a:bodyPr>
            <a:lstStyle/>
            <a:p>
              <a:r>
                <a:rPr lang="en-US" sz="3600" b="1" dirty="0"/>
                <a:t>DDS</a:t>
              </a:r>
              <a:endParaRPr lang="en-US" sz="2700" b="1" dirty="0"/>
            </a:p>
          </p:txBody>
        </p:sp>
      </p:grpSp>
      <p:grpSp>
        <p:nvGrpSpPr>
          <p:cNvPr id="98" name="!!Group 97"/>
          <p:cNvGrpSpPr/>
          <p:nvPr/>
        </p:nvGrpSpPr>
        <p:grpSpPr>
          <a:xfrm>
            <a:off x="9663252" y="4034804"/>
            <a:ext cx="2707035" cy="2033714"/>
            <a:chOff x="5334460" y="3172266"/>
            <a:chExt cx="1786183" cy="1355809"/>
          </a:xfrm>
          <a:effectLst>
            <a:outerShdw blurRad="50800" dist="38100" dir="2700000" algn="tl" rotWithShape="0">
              <a:prstClr val="black">
                <a:alpha val="40000"/>
              </a:prstClr>
            </a:outerShdw>
          </a:effectLst>
        </p:grpSpPr>
        <p:grpSp>
          <p:nvGrpSpPr>
            <p:cNvPr id="77" name="Group 76"/>
            <p:cNvGrpSpPr/>
            <p:nvPr/>
          </p:nvGrpSpPr>
          <p:grpSpPr>
            <a:xfrm>
              <a:off x="5334460" y="3172266"/>
              <a:ext cx="1499713" cy="1355809"/>
              <a:chOff x="1164771" y="1408274"/>
              <a:chExt cx="1499713" cy="1355809"/>
            </a:xfrm>
          </p:grpSpPr>
          <p:sp>
            <p:nvSpPr>
              <p:cNvPr id="78" name="Rounded Rectangle 77"/>
              <p:cNvSpPr/>
              <p:nvPr/>
            </p:nvSpPr>
            <p:spPr>
              <a:xfrm>
                <a:off x="1164772" y="1415142"/>
                <a:ext cx="1344148" cy="1348941"/>
              </a:xfrm>
              <a:prstGeom prst="roundRect">
                <a:avLst/>
              </a:prstGeom>
              <a:ln w="28575">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79" name="Oval 78"/>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0" name="Oval 79"/>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1" name="Oval 80"/>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2" name="Oval 81"/>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3" name="Oval 82"/>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4" name="Flowchart: Connector 83"/>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5" name="Flowchart: Connector 84"/>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6" name="Flowchart: Connector 85"/>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7" name="Flowchart: Connector 86"/>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8" name="Flowchart: Connector 87"/>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9" name="Freeform 88"/>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90" name="Straight Connector 89"/>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a:off x="1513114" y="1621384"/>
                <a:ext cx="487073" cy="350699"/>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92" name="TextBox 91"/>
              <p:cNvSpPr txBox="1"/>
              <p:nvPr/>
            </p:nvSpPr>
            <p:spPr>
              <a:xfrm>
                <a:off x="1697980" y="1408274"/>
                <a:ext cx="966504" cy="430887"/>
              </a:xfrm>
              <a:prstGeom prst="rect">
                <a:avLst/>
              </a:prstGeom>
              <a:noFill/>
            </p:spPr>
            <p:txBody>
              <a:bodyPr wrap="square" rtlCol="0">
                <a:spAutoFit/>
              </a:bodyPr>
              <a:lstStyle/>
              <a:p>
                <a:r>
                  <a:rPr lang="en-US" sz="3600" b="1" dirty="0"/>
                  <a:t>HDS</a:t>
                </a:r>
                <a:endParaRPr lang="en-US" sz="2700" b="1" dirty="0"/>
              </a:p>
            </p:txBody>
          </p:sp>
        </p:grpSp>
        <p:pic>
          <p:nvPicPr>
            <p:cNvPr id="94" name="Picture 9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483" y="3317994"/>
              <a:ext cx="1775160" cy="794249"/>
            </a:xfrm>
            <a:prstGeom prst="rect">
              <a:avLst/>
            </a:prstGeom>
          </p:spPr>
        </p:pic>
      </p:grpSp>
      <p:grpSp>
        <p:nvGrpSpPr>
          <p:cNvPr id="101" name="Group 100"/>
          <p:cNvGrpSpPr/>
          <p:nvPr/>
        </p:nvGrpSpPr>
        <p:grpSpPr>
          <a:xfrm>
            <a:off x="13169816" y="4059867"/>
            <a:ext cx="2330019" cy="2028741"/>
            <a:chOff x="5929826" y="2123739"/>
            <a:chExt cx="1553346" cy="1352494"/>
          </a:xfrm>
          <a:effectLst>
            <a:outerShdw blurRad="50800" dist="38100" dir="2700000" algn="tl" rotWithShape="0">
              <a:prstClr val="black">
                <a:alpha val="40000"/>
              </a:prstClr>
            </a:outerShdw>
          </a:effectLst>
        </p:grpSpPr>
        <p:grpSp>
          <p:nvGrpSpPr>
            <p:cNvPr id="45" name="Group 44"/>
            <p:cNvGrpSpPr/>
            <p:nvPr/>
          </p:nvGrpSpPr>
          <p:grpSpPr>
            <a:xfrm>
              <a:off x="5929826" y="2123739"/>
              <a:ext cx="1553346" cy="1352494"/>
              <a:chOff x="1164771" y="1411589"/>
              <a:chExt cx="1553346" cy="1352494"/>
            </a:xfrm>
          </p:grpSpPr>
          <p:sp>
            <p:nvSpPr>
              <p:cNvPr id="46" name="Rounded Rectangle 45"/>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47" name="Oval 46"/>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8" name="Oval 47"/>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Oval 48"/>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0" name="Oval 49"/>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Oval 50"/>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2" name="Flowchart: Connector 51"/>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3" name="Flowchart: Connector 52"/>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4" name="Flowchart: Connector 53"/>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5" name="Flowchart: Connector 54"/>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6" name="Flowchart: Connector 55"/>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7" name="Freeform 56"/>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8" name="Straight Connector 5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Arrow Connector 58"/>
              <p:cNvCxnSpPr/>
              <p:nvPr/>
            </p:nvCxnSpPr>
            <p:spPr>
              <a:xfrm>
                <a:off x="1471134" y="1715094"/>
                <a:ext cx="518741" cy="355165"/>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751613" y="1411589"/>
                <a:ext cx="966504" cy="430887"/>
              </a:xfrm>
              <a:prstGeom prst="rect">
                <a:avLst/>
              </a:prstGeom>
              <a:noFill/>
            </p:spPr>
            <p:txBody>
              <a:bodyPr wrap="square" rtlCol="0">
                <a:spAutoFit/>
              </a:bodyPr>
              <a:lstStyle/>
              <a:p>
                <a:r>
                  <a:rPr lang="en-US" sz="3600" b="1" dirty="0"/>
                  <a:t>FDS</a:t>
                </a:r>
                <a:endParaRPr lang="en-US" sz="2700" b="1" dirty="0"/>
              </a:p>
            </p:txBody>
          </p:sp>
        </p:grpSp>
        <p:pic>
          <p:nvPicPr>
            <p:cNvPr id="100" name="Picture 99"/>
            <p:cNvPicPr>
              <a:picLocks noChangeAspect="1"/>
            </p:cNvPicPr>
            <p:nvPr/>
          </p:nvPicPr>
          <p:blipFill rotWithShape="1">
            <a:blip r:embed="rId2">
              <a:extLst>
                <a:ext uri="{28A0092B-C50C-407E-A947-70E740481C1C}">
                  <a14:useLocalDpi xmlns:a14="http://schemas.microsoft.com/office/drawing/2010/main" val="0"/>
                </a:ext>
              </a:extLst>
            </a:blip>
            <a:srcRect l="33989" t="23073" r="30758" b="22442"/>
            <a:stretch/>
          </p:blipFill>
          <p:spPr>
            <a:xfrm>
              <a:off x="6556242" y="2437939"/>
              <a:ext cx="674914" cy="479708"/>
            </a:xfrm>
            <a:prstGeom prst="rect">
              <a:avLst/>
            </a:prstGeom>
          </p:spPr>
        </p:pic>
      </p:grpSp>
    </p:spTree>
    <p:extLst>
      <p:ext uri="{BB962C8B-B14F-4D97-AF65-F5344CB8AC3E}">
        <p14:creationId xmlns:p14="http://schemas.microsoft.com/office/powerpoint/2010/main" val="2209844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A diagram of skin layers&#10;&#10;Description automatically generated">
            <a:extLst>
              <a:ext uri="{FF2B5EF4-FFF2-40B4-BE49-F238E27FC236}">
                <a16:creationId xmlns:a16="http://schemas.microsoft.com/office/drawing/2014/main" id="{1E213CA0-9594-30E5-1CB0-2E42B43E7FE4}"/>
              </a:ext>
            </a:extLst>
          </p:cNvPr>
          <p:cNvPicPr>
            <a:picLocks noChangeAspect="1"/>
          </p:cNvPicPr>
          <p:nvPr/>
        </p:nvPicPr>
        <p:blipFill rotWithShape="1">
          <a:blip r:embed="rId2"/>
          <a:srcRect l="10123" t="16428" r="44691" b="8929"/>
          <a:stretch/>
        </p:blipFill>
        <p:spPr>
          <a:xfrm>
            <a:off x="2835662" y="1253780"/>
            <a:ext cx="8295956" cy="8818644"/>
          </a:xfrm>
          <a:prstGeom prst="rect">
            <a:avLst/>
          </a:prstGeom>
          <a:ln>
            <a:noFill/>
          </a:ln>
        </p:spPr>
      </p:pic>
      <p:pic>
        <p:nvPicPr>
          <p:cNvPr id="35" name="Picture 34" descr="A gold ball on a black background&#10;&#10;Description automatically generated">
            <a:extLst>
              <a:ext uri="{FF2B5EF4-FFF2-40B4-BE49-F238E27FC236}">
                <a16:creationId xmlns:a16="http://schemas.microsoft.com/office/drawing/2014/main" id="{76C8C79F-9D0E-8C8C-7966-1A560359E21D}"/>
              </a:ext>
            </a:extLst>
          </p:cNvPr>
          <p:cNvPicPr>
            <a:picLocks noChangeAspect="1"/>
          </p:cNvPicPr>
          <p:nvPr/>
        </p:nvPicPr>
        <p:blipFill>
          <a:blip r:embed="rId3"/>
          <a:stretch>
            <a:fillRect/>
          </a:stretch>
        </p:blipFill>
        <p:spPr>
          <a:xfrm flipH="1">
            <a:off x="7605884" y="1604629"/>
            <a:ext cx="347348" cy="346304"/>
          </a:xfrm>
          <a:prstGeom prst="rect">
            <a:avLst/>
          </a:prstGeom>
        </p:spPr>
      </p:pic>
      <p:pic>
        <p:nvPicPr>
          <p:cNvPr id="38" name="Picture 37" descr="A gold ball on a black background&#10;&#10;Description automatically generated">
            <a:extLst>
              <a:ext uri="{FF2B5EF4-FFF2-40B4-BE49-F238E27FC236}">
                <a16:creationId xmlns:a16="http://schemas.microsoft.com/office/drawing/2014/main" id="{1BA3CB92-95F7-A169-4082-BA21972B7FAA}"/>
              </a:ext>
            </a:extLst>
          </p:cNvPr>
          <p:cNvPicPr>
            <a:picLocks noChangeAspect="1"/>
          </p:cNvPicPr>
          <p:nvPr/>
        </p:nvPicPr>
        <p:blipFill>
          <a:blip r:embed="rId3"/>
          <a:stretch>
            <a:fillRect/>
          </a:stretch>
        </p:blipFill>
        <p:spPr>
          <a:xfrm flipH="1">
            <a:off x="4624897" y="1706231"/>
            <a:ext cx="296330" cy="323492"/>
          </a:xfrm>
          <a:prstGeom prst="rect">
            <a:avLst/>
          </a:prstGeom>
        </p:spPr>
      </p:pic>
      <p:pic>
        <p:nvPicPr>
          <p:cNvPr id="39" name="Picture 38" descr="A gold ball on a black background&#10;&#10;Description automatically generated">
            <a:extLst>
              <a:ext uri="{FF2B5EF4-FFF2-40B4-BE49-F238E27FC236}">
                <a16:creationId xmlns:a16="http://schemas.microsoft.com/office/drawing/2014/main" id="{47ABA344-C15E-D3E3-AA93-BC81DEA3973F}"/>
              </a:ext>
            </a:extLst>
          </p:cNvPr>
          <p:cNvPicPr>
            <a:picLocks noChangeAspect="1"/>
          </p:cNvPicPr>
          <p:nvPr/>
        </p:nvPicPr>
        <p:blipFill>
          <a:blip r:embed="rId3"/>
          <a:stretch>
            <a:fillRect/>
          </a:stretch>
        </p:blipFill>
        <p:spPr>
          <a:xfrm flipH="1">
            <a:off x="6361643" y="1375020"/>
            <a:ext cx="337238" cy="314250"/>
          </a:xfrm>
          <a:prstGeom prst="rect">
            <a:avLst/>
          </a:prstGeom>
        </p:spPr>
      </p:pic>
      <p:pic>
        <p:nvPicPr>
          <p:cNvPr id="40" name="Picture 39" descr="A gold ball on a black background&#10;&#10;Description automatically generated">
            <a:extLst>
              <a:ext uri="{FF2B5EF4-FFF2-40B4-BE49-F238E27FC236}">
                <a16:creationId xmlns:a16="http://schemas.microsoft.com/office/drawing/2014/main" id="{F4CEB6F2-3E79-EFB7-3F0F-222FF313B09B}"/>
              </a:ext>
            </a:extLst>
          </p:cNvPr>
          <p:cNvPicPr>
            <a:picLocks noChangeAspect="1"/>
          </p:cNvPicPr>
          <p:nvPr/>
        </p:nvPicPr>
        <p:blipFill>
          <a:blip r:embed="rId3"/>
          <a:stretch>
            <a:fillRect/>
          </a:stretch>
        </p:blipFill>
        <p:spPr>
          <a:xfrm flipH="1">
            <a:off x="7001477" y="1498639"/>
            <a:ext cx="301811" cy="279143"/>
          </a:xfrm>
          <a:prstGeom prst="rect">
            <a:avLst/>
          </a:prstGeom>
        </p:spPr>
      </p:pic>
      <p:pic>
        <p:nvPicPr>
          <p:cNvPr id="41" name="Picture 40" descr="A gold ball on a black background&#10;&#10;Description automatically generated">
            <a:extLst>
              <a:ext uri="{FF2B5EF4-FFF2-40B4-BE49-F238E27FC236}">
                <a16:creationId xmlns:a16="http://schemas.microsoft.com/office/drawing/2014/main" id="{95622B2A-C3A4-4D3B-EE31-B7A095071415}"/>
              </a:ext>
            </a:extLst>
          </p:cNvPr>
          <p:cNvPicPr>
            <a:picLocks noChangeAspect="1"/>
          </p:cNvPicPr>
          <p:nvPr/>
        </p:nvPicPr>
        <p:blipFill>
          <a:blip r:embed="rId3"/>
          <a:stretch>
            <a:fillRect/>
          </a:stretch>
        </p:blipFill>
        <p:spPr>
          <a:xfrm flipH="1">
            <a:off x="5508978" y="1645133"/>
            <a:ext cx="316995" cy="326997"/>
          </a:xfrm>
          <a:prstGeom prst="rect">
            <a:avLst/>
          </a:prstGeom>
        </p:spPr>
      </p:pic>
      <p:pic>
        <p:nvPicPr>
          <p:cNvPr id="42" name="Picture 41" descr="A gold ball on a black background&#10;&#10;Description automatically generated">
            <a:extLst>
              <a:ext uri="{FF2B5EF4-FFF2-40B4-BE49-F238E27FC236}">
                <a16:creationId xmlns:a16="http://schemas.microsoft.com/office/drawing/2014/main" id="{6B080AD4-613E-9F2F-54AB-E881191DEF1F}"/>
              </a:ext>
            </a:extLst>
          </p:cNvPr>
          <p:cNvPicPr>
            <a:picLocks noChangeAspect="1"/>
          </p:cNvPicPr>
          <p:nvPr/>
        </p:nvPicPr>
        <p:blipFill>
          <a:blip r:embed="rId3"/>
          <a:stretch>
            <a:fillRect/>
          </a:stretch>
        </p:blipFill>
        <p:spPr>
          <a:xfrm flipH="1">
            <a:off x="5878843" y="1253780"/>
            <a:ext cx="272984" cy="278366"/>
          </a:xfrm>
          <a:prstGeom prst="rect">
            <a:avLst/>
          </a:prstGeom>
        </p:spPr>
      </p:pic>
      <p:pic>
        <p:nvPicPr>
          <p:cNvPr id="9" name="Picture 8" descr="A gold ball on a black background&#10;&#10;Description automatically generated">
            <a:extLst>
              <a:ext uri="{FF2B5EF4-FFF2-40B4-BE49-F238E27FC236}">
                <a16:creationId xmlns:a16="http://schemas.microsoft.com/office/drawing/2014/main" id="{95622B2A-C3A4-4D3B-EE31-B7A095071415}"/>
              </a:ext>
            </a:extLst>
          </p:cNvPr>
          <p:cNvPicPr>
            <a:picLocks noChangeAspect="1"/>
          </p:cNvPicPr>
          <p:nvPr/>
        </p:nvPicPr>
        <p:blipFill>
          <a:blip r:embed="rId3"/>
          <a:stretch>
            <a:fillRect/>
          </a:stretch>
        </p:blipFill>
        <p:spPr>
          <a:xfrm flipH="1">
            <a:off x="8499290" y="1787433"/>
            <a:ext cx="316995" cy="326997"/>
          </a:xfrm>
          <a:prstGeom prst="rect">
            <a:avLst/>
          </a:prstGeom>
        </p:spPr>
      </p:pic>
      <p:grpSp>
        <p:nvGrpSpPr>
          <p:cNvPr id="3" name="Group 2"/>
          <p:cNvGrpSpPr/>
          <p:nvPr/>
        </p:nvGrpSpPr>
        <p:grpSpPr>
          <a:xfrm>
            <a:off x="4414148" y="3188871"/>
            <a:ext cx="526286" cy="536106"/>
            <a:chOff x="10113563" y="5283000"/>
            <a:chExt cx="455337" cy="447078"/>
          </a:xfrm>
        </p:grpSpPr>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24" name="Group 23"/>
          <p:cNvGrpSpPr/>
          <p:nvPr/>
        </p:nvGrpSpPr>
        <p:grpSpPr>
          <a:xfrm>
            <a:off x="5196969" y="3350261"/>
            <a:ext cx="622071" cy="414459"/>
            <a:chOff x="10113563" y="5283000"/>
            <a:chExt cx="455337" cy="447078"/>
          </a:xfrm>
        </p:grpSpPr>
        <p:pic>
          <p:nvPicPr>
            <p:cNvPr id="25" name="Pictur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26" name="Picture 2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27" name="Picture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28" name="Pictur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29" name="Picture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30" name="Picture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32" name="Group 31"/>
          <p:cNvGrpSpPr/>
          <p:nvPr/>
        </p:nvGrpSpPr>
        <p:grpSpPr>
          <a:xfrm>
            <a:off x="5718029" y="3392078"/>
            <a:ext cx="731564" cy="381968"/>
            <a:chOff x="10113563" y="5283000"/>
            <a:chExt cx="455337" cy="447078"/>
          </a:xfrm>
        </p:grpSpPr>
        <p:pic>
          <p:nvPicPr>
            <p:cNvPr id="33" name="Picture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34" name="Picture 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36" name="Pictur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43" name="Picture 4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44" name="Picture 4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45" name="Picture 4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46" name="Picture 4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47" name="Group 46"/>
          <p:cNvGrpSpPr/>
          <p:nvPr/>
        </p:nvGrpSpPr>
        <p:grpSpPr>
          <a:xfrm>
            <a:off x="6406145" y="3304373"/>
            <a:ext cx="733545" cy="461591"/>
            <a:chOff x="10113563" y="5283000"/>
            <a:chExt cx="455337" cy="447078"/>
          </a:xfrm>
        </p:grpSpPr>
        <p:pic>
          <p:nvPicPr>
            <p:cNvPr id="48" name="Picture 4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49" name="Picture 4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50" name="Picture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52" name="Picture 5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53" name="Picture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54" name="Picture 5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55" name="Group 54"/>
          <p:cNvGrpSpPr/>
          <p:nvPr/>
        </p:nvGrpSpPr>
        <p:grpSpPr>
          <a:xfrm>
            <a:off x="6769891" y="3333237"/>
            <a:ext cx="653513" cy="440808"/>
            <a:chOff x="10113563" y="5283000"/>
            <a:chExt cx="455337" cy="447078"/>
          </a:xfrm>
        </p:grpSpPr>
        <p:pic>
          <p:nvPicPr>
            <p:cNvPr id="56" name="Picture 5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57" name="Picture 5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58" name="Picture 5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59" name="Picture 5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60" name="Picture 5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61" name="Picture 6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62" name="Picture 6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63" name="Group 62"/>
          <p:cNvGrpSpPr/>
          <p:nvPr/>
        </p:nvGrpSpPr>
        <p:grpSpPr>
          <a:xfrm>
            <a:off x="7590587" y="3201826"/>
            <a:ext cx="737648" cy="523151"/>
            <a:chOff x="10113563" y="5283000"/>
            <a:chExt cx="455337" cy="447078"/>
          </a:xfrm>
        </p:grpSpPr>
        <p:pic>
          <p:nvPicPr>
            <p:cNvPr id="64" name="Picture 6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65" name="Picture 6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66" name="Picture 6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67" name="Picture 6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68" name="Picture 6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69" name="Picture 6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70" name="Picture 6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71" name="Group 70"/>
          <p:cNvGrpSpPr/>
          <p:nvPr/>
        </p:nvGrpSpPr>
        <p:grpSpPr>
          <a:xfrm>
            <a:off x="8382596" y="3260349"/>
            <a:ext cx="653513" cy="440808"/>
            <a:chOff x="10113563" y="5283000"/>
            <a:chExt cx="455337" cy="447078"/>
          </a:xfrm>
        </p:grpSpPr>
        <p:pic>
          <p:nvPicPr>
            <p:cNvPr id="72" name="Picture 7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73" name="Picture 7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74" name="Picture 7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75" name="Picture 7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76" name="Picture 7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77" name="Picture 7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78" name="Picture 7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sp>
        <p:nvSpPr>
          <p:cNvPr id="79" name="TextBox 78">
            <a:extLst>
              <a:ext uri="{FF2B5EF4-FFF2-40B4-BE49-F238E27FC236}">
                <a16:creationId xmlns:a16="http://schemas.microsoft.com/office/drawing/2014/main" id="{2B5F003E-3749-4ED7-BB14-5BE3D31AAA08}"/>
              </a:ext>
            </a:extLst>
          </p:cNvPr>
          <p:cNvSpPr txBox="1"/>
          <p:nvPr/>
        </p:nvSpPr>
        <p:spPr>
          <a:xfrm>
            <a:off x="12243548" y="3025589"/>
            <a:ext cx="5062817" cy="2585323"/>
          </a:xfrm>
          <a:prstGeom prst="rect">
            <a:avLst/>
          </a:prstGeom>
          <a:solidFill>
            <a:schemeClr val="accent6">
              <a:lumMod val="20000"/>
              <a:lumOff val="80000"/>
            </a:schemeClr>
          </a:solidFill>
          <a:ln w="28575"/>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2700" dirty="0"/>
              <a:t>CDS- CORNEUM DELIVERY SYSTEM </a:t>
            </a:r>
          </a:p>
          <a:p>
            <a:pPr algn="just"/>
            <a:r>
              <a:rPr lang="en-US" sz="2700" dirty="0"/>
              <a:t>Minimizing the penetration of the active ingredient and concentrating it on the outermost skin layers </a:t>
            </a:r>
          </a:p>
          <a:p>
            <a:endParaRPr lang="en-US" sz="2700" dirty="0"/>
          </a:p>
        </p:txBody>
      </p:sp>
    </p:spTree>
    <p:extLst>
      <p:ext uri="{BB962C8B-B14F-4D97-AF65-F5344CB8AC3E}">
        <p14:creationId xmlns:p14="http://schemas.microsoft.com/office/powerpoint/2010/main" val="3010535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par>
                                <p:cTn id="13" presetID="10"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par>
                                <p:cTn id="16" presetID="10" presetClass="entr" presetSubtype="0"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par>
                                <p:cTn id="19" presetID="10"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par>
                                <p:cTn id="22" presetID="10"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500"/>
                                        <p:tgtEl>
                                          <p:spTgt spid="40"/>
                                        </p:tgtEl>
                                      </p:cBhvr>
                                    </p:animEffect>
                                  </p:childTnLst>
                                </p:cTn>
                              </p:par>
                              <p:par>
                                <p:cTn id="25" presetID="10"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par>
                          <p:cTn id="31" fill="hold">
                            <p:stCondLst>
                              <p:cond delay="500"/>
                            </p:stCondLst>
                            <p:childTnLst>
                              <p:par>
                                <p:cTn id="32" presetID="42" presetClass="path" presetSubtype="0" accel="50000" decel="50000" fill="hold" nodeType="afterEffect">
                                  <p:stCondLst>
                                    <p:cond delay="0"/>
                                  </p:stCondLst>
                                  <p:childTnLst>
                                    <p:animMotion origin="layout" path="M 2.5E-6 -1.48148E-6 L -0.00117 0.13982 " pathEditMode="relative" rAng="0" ptsTypes="AA">
                                      <p:cBhvr>
                                        <p:cTn id="33" dur="2250" fill="hold"/>
                                        <p:tgtEl>
                                          <p:spTgt spid="38"/>
                                        </p:tgtEl>
                                        <p:attrNameLst>
                                          <p:attrName>ppt_x</p:attrName>
                                          <p:attrName>ppt_y</p:attrName>
                                        </p:attrNameLst>
                                      </p:cBhvr>
                                      <p:rCtr x="-65" y="6991"/>
                                    </p:animMotion>
                                  </p:childTnLst>
                                </p:cTn>
                              </p:par>
                              <p:par>
                                <p:cTn id="34" presetID="42" presetClass="path" presetSubtype="0" accel="50000" decel="50000" fill="hold" nodeType="withEffect">
                                  <p:stCondLst>
                                    <p:cond delay="0"/>
                                  </p:stCondLst>
                                  <p:childTnLst>
                                    <p:animMotion origin="layout" path="M 0.00013 -4.44444E-6 L -0.00573 0.1625 " pathEditMode="relative" rAng="0" ptsTypes="AA">
                                      <p:cBhvr>
                                        <p:cTn id="35" dur="2250" fill="hold"/>
                                        <p:tgtEl>
                                          <p:spTgt spid="41"/>
                                        </p:tgtEl>
                                        <p:attrNameLst>
                                          <p:attrName>ppt_x</p:attrName>
                                          <p:attrName>ppt_y</p:attrName>
                                        </p:attrNameLst>
                                      </p:cBhvr>
                                      <p:rCtr x="-299" y="8125"/>
                                    </p:animMotion>
                                  </p:childTnLst>
                                </p:cTn>
                              </p:par>
                              <p:par>
                                <p:cTn id="36" presetID="42" presetClass="path" presetSubtype="0" accel="50000" decel="50000" fill="hold" nodeType="withEffect">
                                  <p:stCondLst>
                                    <p:cond delay="0"/>
                                  </p:stCondLst>
                                  <p:childTnLst>
                                    <p:animMotion origin="layout" path="M 3.75E-6 3.33333E-6 L -0.00078 0.22384 " pathEditMode="relative" rAng="0" ptsTypes="AA">
                                      <p:cBhvr>
                                        <p:cTn id="37" dur="2500" fill="hold"/>
                                        <p:tgtEl>
                                          <p:spTgt spid="42"/>
                                        </p:tgtEl>
                                        <p:attrNameLst>
                                          <p:attrName>ppt_x</p:attrName>
                                          <p:attrName>ppt_y</p:attrName>
                                        </p:attrNameLst>
                                      </p:cBhvr>
                                      <p:rCtr x="-39" y="11181"/>
                                    </p:animMotion>
                                  </p:childTnLst>
                                </p:cTn>
                              </p:par>
                              <p:par>
                                <p:cTn id="38" presetID="42" presetClass="path" presetSubtype="0" accel="50000" decel="50000" fill="hold" nodeType="withEffect">
                                  <p:stCondLst>
                                    <p:cond delay="0"/>
                                  </p:stCondLst>
                                  <p:childTnLst>
                                    <p:animMotion origin="layout" path="M -1.25E-6 -2.59259E-6 L 0.003 0.19074 " pathEditMode="relative" rAng="0" ptsTypes="AA">
                                      <p:cBhvr>
                                        <p:cTn id="39" dur="2500" fill="hold"/>
                                        <p:tgtEl>
                                          <p:spTgt spid="39"/>
                                        </p:tgtEl>
                                        <p:attrNameLst>
                                          <p:attrName>ppt_x</p:attrName>
                                          <p:attrName>ppt_y</p:attrName>
                                        </p:attrNameLst>
                                      </p:cBhvr>
                                      <p:rCtr x="143" y="9537"/>
                                    </p:animMotion>
                                  </p:childTnLst>
                                </p:cTn>
                              </p:par>
                              <p:par>
                                <p:cTn id="40" presetID="42" presetClass="path" presetSubtype="0" accel="50000" decel="50000" fill="hold" nodeType="withEffect">
                                  <p:stCondLst>
                                    <p:cond delay="0"/>
                                  </p:stCondLst>
                                  <p:childTnLst>
                                    <p:animMotion origin="layout" path="M 4.375E-6 7.40741E-7 L -0.00821 0.17893 " pathEditMode="relative" rAng="0" ptsTypes="AA">
                                      <p:cBhvr>
                                        <p:cTn id="41" dur="2250" fill="hold"/>
                                        <p:tgtEl>
                                          <p:spTgt spid="40"/>
                                        </p:tgtEl>
                                        <p:attrNameLst>
                                          <p:attrName>ppt_x</p:attrName>
                                          <p:attrName>ppt_y</p:attrName>
                                        </p:attrNameLst>
                                      </p:cBhvr>
                                      <p:rCtr x="-417" y="8935"/>
                                    </p:animMotion>
                                  </p:childTnLst>
                                </p:cTn>
                              </p:par>
                              <p:par>
                                <p:cTn id="42" presetID="42" presetClass="path" presetSubtype="0" accel="50000" decel="50000" fill="hold" nodeType="withEffect">
                                  <p:stCondLst>
                                    <p:cond delay="0"/>
                                  </p:stCondLst>
                                  <p:childTnLst>
                                    <p:animMotion origin="layout" path="M -6.25E-7 4.81481E-6 L 0.00169 0.16134 " pathEditMode="relative" rAng="0" ptsTypes="AA">
                                      <p:cBhvr>
                                        <p:cTn id="43" dur="2250" fill="hold"/>
                                        <p:tgtEl>
                                          <p:spTgt spid="35"/>
                                        </p:tgtEl>
                                        <p:attrNameLst>
                                          <p:attrName>ppt_x</p:attrName>
                                          <p:attrName>ppt_y</p:attrName>
                                        </p:attrNameLst>
                                      </p:cBhvr>
                                      <p:rCtr x="78" y="8056"/>
                                    </p:animMotion>
                                  </p:childTnLst>
                                </p:cTn>
                              </p:par>
                              <p:par>
                                <p:cTn id="44" presetID="42" presetClass="path" presetSubtype="0" accel="50000" decel="50000" fill="hold" nodeType="withEffect">
                                  <p:stCondLst>
                                    <p:cond delay="0"/>
                                  </p:stCondLst>
                                  <p:childTnLst>
                                    <p:animMotion origin="layout" path="M 2.70833E-6 -3.33333E-6 L -0.00078 0.15 " pathEditMode="relative" rAng="0" ptsTypes="AA">
                                      <p:cBhvr>
                                        <p:cTn id="45" dur="2500" fill="hold"/>
                                        <p:tgtEl>
                                          <p:spTgt spid="9"/>
                                        </p:tgtEl>
                                        <p:attrNameLst>
                                          <p:attrName>ppt_x</p:attrName>
                                          <p:attrName>ppt_y</p:attrName>
                                        </p:attrNameLst>
                                      </p:cBhvr>
                                      <p:rCtr x="-39" y="7500"/>
                                    </p:animMotion>
                                  </p:childTnLst>
                                </p:cTn>
                              </p:par>
                            </p:childTnLst>
                          </p:cTn>
                        </p:par>
                        <p:par>
                          <p:cTn id="46" fill="hold">
                            <p:stCondLst>
                              <p:cond delay="3000"/>
                            </p:stCondLst>
                            <p:childTnLst>
                              <p:par>
                                <p:cTn id="47" presetID="6" presetClass="exit" presetSubtype="32" fill="hold" nodeType="afterEffect">
                                  <p:stCondLst>
                                    <p:cond delay="0"/>
                                  </p:stCondLst>
                                  <p:childTnLst>
                                    <p:animEffect transition="out" filter="circle(out)">
                                      <p:cBhvr>
                                        <p:cTn id="48" dur="1000"/>
                                        <p:tgtEl>
                                          <p:spTgt spid="38"/>
                                        </p:tgtEl>
                                      </p:cBhvr>
                                    </p:animEffect>
                                    <p:set>
                                      <p:cBhvr>
                                        <p:cTn id="49" dur="1" fill="hold">
                                          <p:stCondLst>
                                            <p:cond delay="999"/>
                                          </p:stCondLst>
                                        </p:cTn>
                                        <p:tgtEl>
                                          <p:spTgt spid="38"/>
                                        </p:tgtEl>
                                        <p:attrNameLst>
                                          <p:attrName>style.visibility</p:attrName>
                                        </p:attrNameLst>
                                      </p:cBhvr>
                                      <p:to>
                                        <p:strVal val="hidden"/>
                                      </p:to>
                                    </p:set>
                                  </p:childTnLst>
                                </p:cTn>
                              </p:par>
                              <p:par>
                                <p:cTn id="50" presetID="6" presetClass="exit" presetSubtype="32" fill="hold" nodeType="withEffect">
                                  <p:stCondLst>
                                    <p:cond delay="0"/>
                                  </p:stCondLst>
                                  <p:childTnLst>
                                    <p:animEffect transition="out" filter="circle(out)">
                                      <p:cBhvr>
                                        <p:cTn id="51" dur="1000"/>
                                        <p:tgtEl>
                                          <p:spTgt spid="41"/>
                                        </p:tgtEl>
                                      </p:cBhvr>
                                    </p:animEffect>
                                    <p:set>
                                      <p:cBhvr>
                                        <p:cTn id="52" dur="1" fill="hold">
                                          <p:stCondLst>
                                            <p:cond delay="999"/>
                                          </p:stCondLst>
                                        </p:cTn>
                                        <p:tgtEl>
                                          <p:spTgt spid="41"/>
                                        </p:tgtEl>
                                        <p:attrNameLst>
                                          <p:attrName>style.visibility</p:attrName>
                                        </p:attrNameLst>
                                      </p:cBhvr>
                                      <p:to>
                                        <p:strVal val="hidden"/>
                                      </p:to>
                                    </p:set>
                                  </p:childTnLst>
                                </p:cTn>
                              </p:par>
                              <p:par>
                                <p:cTn id="53" presetID="6" presetClass="exit" presetSubtype="32" fill="hold" nodeType="withEffect">
                                  <p:stCondLst>
                                    <p:cond delay="0"/>
                                  </p:stCondLst>
                                  <p:childTnLst>
                                    <p:animEffect transition="out" filter="circle(out)">
                                      <p:cBhvr>
                                        <p:cTn id="54" dur="1000"/>
                                        <p:tgtEl>
                                          <p:spTgt spid="42"/>
                                        </p:tgtEl>
                                      </p:cBhvr>
                                    </p:animEffect>
                                    <p:set>
                                      <p:cBhvr>
                                        <p:cTn id="55" dur="1" fill="hold">
                                          <p:stCondLst>
                                            <p:cond delay="999"/>
                                          </p:stCondLst>
                                        </p:cTn>
                                        <p:tgtEl>
                                          <p:spTgt spid="42"/>
                                        </p:tgtEl>
                                        <p:attrNameLst>
                                          <p:attrName>style.visibility</p:attrName>
                                        </p:attrNameLst>
                                      </p:cBhvr>
                                      <p:to>
                                        <p:strVal val="hidden"/>
                                      </p:to>
                                    </p:set>
                                  </p:childTnLst>
                                </p:cTn>
                              </p:par>
                              <p:par>
                                <p:cTn id="56" presetID="6" presetClass="exit" presetSubtype="32" fill="hold" nodeType="withEffect">
                                  <p:stCondLst>
                                    <p:cond delay="0"/>
                                  </p:stCondLst>
                                  <p:childTnLst>
                                    <p:animEffect transition="out" filter="circle(out)">
                                      <p:cBhvr>
                                        <p:cTn id="57" dur="1000"/>
                                        <p:tgtEl>
                                          <p:spTgt spid="39"/>
                                        </p:tgtEl>
                                      </p:cBhvr>
                                    </p:animEffect>
                                    <p:set>
                                      <p:cBhvr>
                                        <p:cTn id="58" dur="1" fill="hold">
                                          <p:stCondLst>
                                            <p:cond delay="999"/>
                                          </p:stCondLst>
                                        </p:cTn>
                                        <p:tgtEl>
                                          <p:spTgt spid="39"/>
                                        </p:tgtEl>
                                        <p:attrNameLst>
                                          <p:attrName>style.visibility</p:attrName>
                                        </p:attrNameLst>
                                      </p:cBhvr>
                                      <p:to>
                                        <p:strVal val="hidden"/>
                                      </p:to>
                                    </p:set>
                                  </p:childTnLst>
                                </p:cTn>
                              </p:par>
                              <p:par>
                                <p:cTn id="59" presetID="6" presetClass="exit" presetSubtype="32" fill="hold" nodeType="withEffect">
                                  <p:stCondLst>
                                    <p:cond delay="0"/>
                                  </p:stCondLst>
                                  <p:childTnLst>
                                    <p:animEffect transition="out" filter="circle(out)">
                                      <p:cBhvr>
                                        <p:cTn id="60" dur="1000"/>
                                        <p:tgtEl>
                                          <p:spTgt spid="40"/>
                                        </p:tgtEl>
                                      </p:cBhvr>
                                    </p:animEffect>
                                    <p:set>
                                      <p:cBhvr>
                                        <p:cTn id="61" dur="1" fill="hold">
                                          <p:stCondLst>
                                            <p:cond delay="999"/>
                                          </p:stCondLst>
                                        </p:cTn>
                                        <p:tgtEl>
                                          <p:spTgt spid="40"/>
                                        </p:tgtEl>
                                        <p:attrNameLst>
                                          <p:attrName>style.visibility</p:attrName>
                                        </p:attrNameLst>
                                      </p:cBhvr>
                                      <p:to>
                                        <p:strVal val="hidden"/>
                                      </p:to>
                                    </p:set>
                                  </p:childTnLst>
                                </p:cTn>
                              </p:par>
                              <p:par>
                                <p:cTn id="62" presetID="6" presetClass="exit" presetSubtype="32" fill="hold" nodeType="withEffect">
                                  <p:stCondLst>
                                    <p:cond delay="0"/>
                                  </p:stCondLst>
                                  <p:childTnLst>
                                    <p:animEffect transition="out" filter="circle(out)">
                                      <p:cBhvr>
                                        <p:cTn id="63" dur="1000"/>
                                        <p:tgtEl>
                                          <p:spTgt spid="35"/>
                                        </p:tgtEl>
                                      </p:cBhvr>
                                    </p:animEffect>
                                    <p:set>
                                      <p:cBhvr>
                                        <p:cTn id="64" dur="1" fill="hold">
                                          <p:stCondLst>
                                            <p:cond delay="999"/>
                                          </p:stCondLst>
                                        </p:cTn>
                                        <p:tgtEl>
                                          <p:spTgt spid="35"/>
                                        </p:tgtEl>
                                        <p:attrNameLst>
                                          <p:attrName>style.visibility</p:attrName>
                                        </p:attrNameLst>
                                      </p:cBhvr>
                                      <p:to>
                                        <p:strVal val="hidden"/>
                                      </p:to>
                                    </p:set>
                                  </p:childTnLst>
                                </p:cTn>
                              </p:par>
                              <p:par>
                                <p:cTn id="65" presetID="6" presetClass="exit" presetSubtype="32" fill="hold" nodeType="withEffect">
                                  <p:stCondLst>
                                    <p:cond delay="0"/>
                                  </p:stCondLst>
                                  <p:childTnLst>
                                    <p:animEffect transition="out" filter="circle(out)">
                                      <p:cBhvr>
                                        <p:cTn id="66" dur="1000"/>
                                        <p:tgtEl>
                                          <p:spTgt spid="9"/>
                                        </p:tgtEl>
                                      </p:cBhvr>
                                    </p:animEffect>
                                    <p:set>
                                      <p:cBhvr>
                                        <p:cTn id="67" dur="1" fill="hold">
                                          <p:stCondLst>
                                            <p:cond delay="999"/>
                                          </p:stCondLst>
                                        </p:cTn>
                                        <p:tgtEl>
                                          <p:spTgt spid="9"/>
                                        </p:tgtEl>
                                        <p:attrNameLst>
                                          <p:attrName>style.visibility</p:attrName>
                                        </p:attrNameLst>
                                      </p:cBhvr>
                                      <p:to>
                                        <p:strVal val="hidden"/>
                                      </p:to>
                                    </p:set>
                                  </p:childTnLst>
                                </p:cTn>
                              </p:par>
                              <p:par>
                                <p:cTn id="68" presetID="53" presetClass="entr" presetSubtype="16" fill="hold" nodeType="withEffect">
                                  <p:stCondLst>
                                    <p:cond delay="0"/>
                                  </p:stCondLst>
                                  <p:childTnLst>
                                    <p:set>
                                      <p:cBhvr>
                                        <p:cTn id="69" dur="1" fill="hold">
                                          <p:stCondLst>
                                            <p:cond delay="0"/>
                                          </p:stCondLst>
                                        </p:cTn>
                                        <p:tgtEl>
                                          <p:spTgt spid="3"/>
                                        </p:tgtEl>
                                        <p:attrNameLst>
                                          <p:attrName>style.visibility</p:attrName>
                                        </p:attrNameLst>
                                      </p:cBhvr>
                                      <p:to>
                                        <p:strVal val="visible"/>
                                      </p:to>
                                    </p:set>
                                    <p:anim calcmode="lin" valueType="num">
                                      <p:cBhvr>
                                        <p:cTn id="70" dur="250" fill="hold"/>
                                        <p:tgtEl>
                                          <p:spTgt spid="3"/>
                                        </p:tgtEl>
                                        <p:attrNameLst>
                                          <p:attrName>ppt_w</p:attrName>
                                        </p:attrNameLst>
                                      </p:cBhvr>
                                      <p:tavLst>
                                        <p:tav tm="0">
                                          <p:val>
                                            <p:fltVal val="0"/>
                                          </p:val>
                                        </p:tav>
                                        <p:tav tm="100000">
                                          <p:val>
                                            <p:strVal val="#ppt_w"/>
                                          </p:val>
                                        </p:tav>
                                      </p:tavLst>
                                    </p:anim>
                                    <p:anim calcmode="lin" valueType="num">
                                      <p:cBhvr>
                                        <p:cTn id="71" dur="250" fill="hold"/>
                                        <p:tgtEl>
                                          <p:spTgt spid="3"/>
                                        </p:tgtEl>
                                        <p:attrNameLst>
                                          <p:attrName>ppt_h</p:attrName>
                                        </p:attrNameLst>
                                      </p:cBhvr>
                                      <p:tavLst>
                                        <p:tav tm="0">
                                          <p:val>
                                            <p:fltVal val="0"/>
                                          </p:val>
                                        </p:tav>
                                        <p:tav tm="100000">
                                          <p:val>
                                            <p:strVal val="#ppt_h"/>
                                          </p:val>
                                        </p:tav>
                                      </p:tavLst>
                                    </p:anim>
                                    <p:animEffect transition="in" filter="fade">
                                      <p:cBhvr>
                                        <p:cTn id="72" dur="250"/>
                                        <p:tgtEl>
                                          <p:spTgt spid="3"/>
                                        </p:tgtEl>
                                      </p:cBhvr>
                                    </p:animEffect>
                                  </p:childTnLst>
                                </p:cTn>
                              </p:par>
                              <p:par>
                                <p:cTn id="73" presetID="53" presetClass="entr" presetSubtype="16"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p:cTn id="75" dur="250" fill="hold"/>
                                        <p:tgtEl>
                                          <p:spTgt spid="24"/>
                                        </p:tgtEl>
                                        <p:attrNameLst>
                                          <p:attrName>ppt_w</p:attrName>
                                        </p:attrNameLst>
                                      </p:cBhvr>
                                      <p:tavLst>
                                        <p:tav tm="0">
                                          <p:val>
                                            <p:fltVal val="0"/>
                                          </p:val>
                                        </p:tav>
                                        <p:tav tm="100000">
                                          <p:val>
                                            <p:strVal val="#ppt_w"/>
                                          </p:val>
                                        </p:tav>
                                      </p:tavLst>
                                    </p:anim>
                                    <p:anim calcmode="lin" valueType="num">
                                      <p:cBhvr>
                                        <p:cTn id="76" dur="250" fill="hold"/>
                                        <p:tgtEl>
                                          <p:spTgt spid="24"/>
                                        </p:tgtEl>
                                        <p:attrNameLst>
                                          <p:attrName>ppt_h</p:attrName>
                                        </p:attrNameLst>
                                      </p:cBhvr>
                                      <p:tavLst>
                                        <p:tav tm="0">
                                          <p:val>
                                            <p:fltVal val="0"/>
                                          </p:val>
                                        </p:tav>
                                        <p:tav tm="100000">
                                          <p:val>
                                            <p:strVal val="#ppt_h"/>
                                          </p:val>
                                        </p:tav>
                                      </p:tavLst>
                                    </p:anim>
                                    <p:animEffect transition="in" filter="fade">
                                      <p:cBhvr>
                                        <p:cTn id="77" dur="250"/>
                                        <p:tgtEl>
                                          <p:spTgt spid="24"/>
                                        </p:tgtEl>
                                      </p:cBhvr>
                                    </p:animEffect>
                                  </p:childTnLst>
                                </p:cTn>
                              </p:par>
                              <p:par>
                                <p:cTn id="78" presetID="53" presetClass="entr" presetSubtype="16" fill="hold" nodeType="withEffect">
                                  <p:stCondLst>
                                    <p:cond delay="0"/>
                                  </p:stCondLst>
                                  <p:childTnLst>
                                    <p:set>
                                      <p:cBhvr>
                                        <p:cTn id="79" dur="1" fill="hold">
                                          <p:stCondLst>
                                            <p:cond delay="0"/>
                                          </p:stCondLst>
                                        </p:cTn>
                                        <p:tgtEl>
                                          <p:spTgt spid="32"/>
                                        </p:tgtEl>
                                        <p:attrNameLst>
                                          <p:attrName>style.visibility</p:attrName>
                                        </p:attrNameLst>
                                      </p:cBhvr>
                                      <p:to>
                                        <p:strVal val="visible"/>
                                      </p:to>
                                    </p:set>
                                    <p:anim calcmode="lin" valueType="num">
                                      <p:cBhvr>
                                        <p:cTn id="80" dur="250" fill="hold"/>
                                        <p:tgtEl>
                                          <p:spTgt spid="32"/>
                                        </p:tgtEl>
                                        <p:attrNameLst>
                                          <p:attrName>ppt_w</p:attrName>
                                        </p:attrNameLst>
                                      </p:cBhvr>
                                      <p:tavLst>
                                        <p:tav tm="0">
                                          <p:val>
                                            <p:fltVal val="0"/>
                                          </p:val>
                                        </p:tav>
                                        <p:tav tm="100000">
                                          <p:val>
                                            <p:strVal val="#ppt_w"/>
                                          </p:val>
                                        </p:tav>
                                      </p:tavLst>
                                    </p:anim>
                                    <p:anim calcmode="lin" valueType="num">
                                      <p:cBhvr>
                                        <p:cTn id="81" dur="250" fill="hold"/>
                                        <p:tgtEl>
                                          <p:spTgt spid="32"/>
                                        </p:tgtEl>
                                        <p:attrNameLst>
                                          <p:attrName>ppt_h</p:attrName>
                                        </p:attrNameLst>
                                      </p:cBhvr>
                                      <p:tavLst>
                                        <p:tav tm="0">
                                          <p:val>
                                            <p:fltVal val="0"/>
                                          </p:val>
                                        </p:tav>
                                        <p:tav tm="100000">
                                          <p:val>
                                            <p:strVal val="#ppt_h"/>
                                          </p:val>
                                        </p:tav>
                                      </p:tavLst>
                                    </p:anim>
                                    <p:animEffect transition="in" filter="fade">
                                      <p:cBhvr>
                                        <p:cTn id="82" dur="250"/>
                                        <p:tgtEl>
                                          <p:spTgt spid="32"/>
                                        </p:tgtEl>
                                      </p:cBhvr>
                                    </p:animEffect>
                                  </p:childTnLst>
                                </p:cTn>
                              </p:par>
                              <p:par>
                                <p:cTn id="83" presetID="53" presetClass="entr" presetSubtype="16" fill="hold" nodeType="withEffect">
                                  <p:stCondLst>
                                    <p:cond delay="0"/>
                                  </p:stCondLst>
                                  <p:childTnLst>
                                    <p:set>
                                      <p:cBhvr>
                                        <p:cTn id="84" dur="1" fill="hold">
                                          <p:stCondLst>
                                            <p:cond delay="0"/>
                                          </p:stCondLst>
                                        </p:cTn>
                                        <p:tgtEl>
                                          <p:spTgt spid="47"/>
                                        </p:tgtEl>
                                        <p:attrNameLst>
                                          <p:attrName>style.visibility</p:attrName>
                                        </p:attrNameLst>
                                      </p:cBhvr>
                                      <p:to>
                                        <p:strVal val="visible"/>
                                      </p:to>
                                    </p:set>
                                    <p:anim calcmode="lin" valueType="num">
                                      <p:cBhvr>
                                        <p:cTn id="85" dur="500" fill="hold"/>
                                        <p:tgtEl>
                                          <p:spTgt spid="47"/>
                                        </p:tgtEl>
                                        <p:attrNameLst>
                                          <p:attrName>ppt_w</p:attrName>
                                        </p:attrNameLst>
                                      </p:cBhvr>
                                      <p:tavLst>
                                        <p:tav tm="0">
                                          <p:val>
                                            <p:fltVal val="0"/>
                                          </p:val>
                                        </p:tav>
                                        <p:tav tm="100000">
                                          <p:val>
                                            <p:strVal val="#ppt_w"/>
                                          </p:val>
                                        </p:tav>
                                      </p:tavLst>
                                    </p:anim>
                                    <p:anim calcmode="lin" valueType="num">
                                      <p:cBhvr>
                                        <p:cTn id="86" dur="500" fill="hold"/>
                                        <p:tgtEl>
                                          <p:spTgt spid="47"/>
                                        </p:tgtEl>
                                        <p:attrNameLst>
                                          <p:attrName>ppt_h</p:attrName>
                                        </p:attrNameLst>
                                      </p:cBhvr>
                                      <p:tavLst>
                                        <p:tav tm="0">
                                          <p:val>
                                            <p:fltVal val="0"/>
                                          </p:val>
                                        </p:tav>
                                        <p:tav tm="100000">
                                          <p:val>
                                            <p:strVal val="#ppt_h"/>
                                          </p:val>
                                        </p:tav>
                                      </p:tavLst>
                                    </p:anim>
                                    <p:animEffect transition="in" filter="fade">
                                      <p:cBhvr>
                                        <p:cTn id="87" dur="500"/>
                                        <p:tgtEl>
                                          <p:spTgt spid="47"/>
                                        </p:tgtEl>
                                      </p:cBhvr>
                                    </p:animEffect>
                                  </p:childTnLst>
                                </p:cTn>
                              </p:par>
                              <p:par>
                                <p:cTn id="88" presetID="53" presetClass="entr" presetSubtype="16" fill="hold" nodeType="withEffect">
                                  <p:stCondLst>
                                    <p:cond delay="0"/>
                                  </p:stCondLst>
                                  <p:childTnLst>
                                    <p:set>
                                      <p:cBhvr>
                                        <p:cTn id="89" dur="1" fill="hold">
                                          <p:stCondLst>
                                            <p:cond delay="0"/>
                                          </p:stCondLst>
                                        </p:cTn>
                                        <p:tgtEl>
                                          <p:spTgt spid="55"/>
                                        </p:tgtEl>
                                        <p:attrNameLst>
                                          <p:attrName>style.visibility</p:attrName>
                                        </p:attrNameLst>
                                      </p:cBhvr>
                                      <p:to>
                                        <p:strVal val="visible"/>
                                      </p:to>
                                    </p:set>
                                    <p:anim calcmode="lin" valueType="num">
                                      <p:cBhvr>
                                        <p:cTn id="90" dur="250" fill="hold"/>
                                        <p:tgtEl>
                                          <p:spTgt spid="55"/>
                                        </p:tgtEl>
                                        <p:attrNameLst>
                                          <p:attrName>ppt_w</p:attrName>
                                        </p:attrNameLst>
                                      </p:cBhvr>
                                      <p:tavLst>
                                        <p:tav tm="0">
                                          <p:val>
                                            <p:fltVal val="0"/>
                                          </p:val>
                                        </p:tav>
                                        <p:tav tm="100000">
                                          <p:val>
                                            <p:strVal val="#ppt_w"/>
                                          </p:val>
                                        </p:tav>
                                      </p:tavLst>
                                    </p:anim>
                                    <p:anim calcmode="lin" valueType="num">
                                      <p:cBhvr>
                                        <p:cTn id="91" dur="250" fill="hold"/>
                                        <p:tgtEl>
                                          <p:spTgt spid="55"/>
                                        </p:tgtEl>
                                        <p:attrNameLst>
                                          <p:attrName>ppt_h</p:attrName>
                                        </p:attrNameLst>
                                      </p:cBhvr>
                                      <p:tavLst>
                                        <p:tav tm="0">
                                          <p:val>
                                            <p:fltVal val="0"/>
                                          </p:val>
                                        </p:tav>
                                        <p:tav tm="100000">
                                          <p:val>
                                            <p:strVal val="#ppt_h"/>
                                          </p:val>
                                        </p:tav>
                                      </p:tavLst>
                                    </p:anim>
                                    <p:animEffect transition="in" filter="fade">
                                      <p:cBhvr>
                                        <p:cTn id="92" dur="250"/>
                                        <p:tgtEl>
                                          <p:spTgt spid="55"/>
                                        </p:tgtEl>
                                      </p:cBhvr>
                                    </p:animEffect>
                                  </p:childTnLst>
                                </p:cTn>
                              </p:par>
                              <p:par>
                                <p:cTn id="93" presetID="53" presetClass="entr" presetSubtype="16" fill="hold" nodeType="withEffect">
                                  <p:stCondLst>
                                    <p:cond delay="0"/>
                                  </p:stCondLst>
                                  <p:childTnLst>
                                    <p:set>
                                      <p:cBhvr>
                                        <p:cTn id="94" dur="1" fill="hold">
                                          <p:stCondLst>
                                            <p:cond delay="0"/>
                                          </p:stCondLst>
                                        </p:cTn>
                                        <p:tgtEl>
                                          <p:spTgt spid="63"/>
                                        </p:tgtEl>
                                        <p:attrNameLst>
                                          <p:attrName>style.visibility</p:attrName>
                                        </p:attrNameLst>
                                      </p:cBhvr>
                                      <p:to>
                                        <p:strVal val="visible"/>
                                      </p:to>
                                    </p:set>
                                    <p:anim calcmode="lin" valueType="num">
                                      <p:cBhvr>
                                        <p:cTn id="95" dur="250" fill="hold"/>
                                        <p:tgtEl>
                                          <p:spTgt spid="63"/>
                                        </p:tgtEl>
                                        <p:attrNameLst>
                                          <p:attrName>ppt_w</p:attrName>
                                        </p:attrNameLst>
                                      </p:cBhvr>
                                      <p:tavLst>
                                        <p:tav tm="0">
                                          <p:val>
                                            <p:fltVal val="0"/>
                                          </p:val>
                                        </p:tav>
                                        <p:tav tm="100000">
                                          <p:val>
                                            <p:strVal val="#ppt_w"/>
                                          </p:val>
                                        </p:tav>
                                      </p:tavLst>
                                    </p:anim>
                                    <p:anim calcmode="lin" valueType="num">
                                      <p:cBhvr>
                                        <p:cTn id="96" dur="250" fill="hold"/>
                                        <p:tgtEl>
                                          <p:spTgt spid="63"/>
                                        </p:tgtEl>
                                        <p:attrNameLst>
                                          <p:attrName>ppt_h</p:attrName>
                                        </p:attrNameLst>
                                      </p:cBhvr>
                                      <p:tavLst>
                                        <p:tav tm="0">
                                          <p:val>
                                            <p:fltVal val="0"/>
                                          </p:val>
                                        </p:tav>
                                        <p:tav tm="100000">
                                          <p:val>
                                            <p:strVal val="#ppt_h"/>
                                          </p:val>
                                        </p:tav>
                                      </p:tavLst>
                                    </p:anim>
                                    <p:animEffect transition="in" filter="fade">
                                      <p:cBhvr>
                                        <p:cTn id="97" dur="250"/>
                                        <p:tgtEl>
                                          <p:spTgt spid="63"/>
                                        </p:tgtEl>
                                      </p:cBhvr>
                                    </p:animEffect>
                                  </p:childTnLst>
                                </p:cTn>
                              </p:par>
                              <p:par>
                                <p:cTn id="98" presetID="53" presetClass="entr" presetSubtype="16" fill="hold" nodeType="withEffect">
                                  <p:stCondLst>
                                    <p:cond delay="0"/>
                                  </p:stCondLst>
                                  <p:childTnLst>
                                    <p:set>
                                      <p:cBhvr>
                                        <p:cTn id="99" dur="1" fill="hold">
                                          <p:stCondLst>
                                            <p:cond delay="0"/>
                                          </p:stCondLst>
                                        </p:cTn>
                                        <p:tgtEl>
                                          <p:spTgt spid="71"/>
                                        </p:tgtEl>
                                        <p:attrNameLst>
                                          <p:attrName>style.visibility</p:attrName>
                                        </p:attrNameLst>
                                      </p:cBhvr>
                                      <p:to>
                                        <p:strVal val="visible"/>
                                      </p:to>
                                    </p:set>
                                    <p:anim calcmode="lin" valueType="num">
                                      <p:cBhvr>
                                        <p:cTn id="100" dur="250" fill="hold"/>
                                        <p:tgtEl>
                                          <p:spTgt spid="71"/>
                                        </p:tgtEl>
                                        <p:attrNameLst>
                                          <p:attrName>ppt_w</p:attrName>
                                        </p:attrNameLst>
                                      </p:cBhvr>
                                      <p:tavLst>
                                        <p:tav tm="0">
                                          <p:val>
                                            <p:fltVal val="0"/>
                                          </p:val>
                                        </p:tav>
                                        <p:tav tm="100000">
                                          <p:val>
                                            <p:strVal val="#ppt_w"/>
                                          </p:val>
                                        </p:tav>
                                      </p:tavLst>
                                    </p:anim>
                                    <p:anim calcmode="lin" valueType="num">
                                      <p:cBhvr>
                                        <p:cTn id="101" dur="250" fill="hold"/>
                                        <p:tgtEl>
                                          <p:spTgt spid="71"/>
                                        </p:tgtEl>
                                        <p:attrNameLst>
                                          <p:attrName>ppt_h</p:attrName>
                                        </p:attrNameLst>
                                      </p:cBhvr>
                                      <p:tavLst>
                                        <p:tav tm="0">
                                          <p:val>
                                            <p:fltVal val="0"/>
                                          </p:val>
                                        </p:tav>
                                        <p:tav tm="100000">
                                          <p:val>
                                            <p:strVal val="#ppt_h"/>
                                          </p:val>
                                        </p:tav>
                                      </p:tavLst>
                                    </p:anim>
                                    <p:animEffect transition="in" filter="fade">
                                      <p:cBhvr>
                                        <p:cTn id="102" dur="25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5695212" y="3663635"/>
            <a:ext cx="2615649" cy="2383244"/>
            <a:chOff x="1164771" y="1415142"/>
            <a:chExt cx="1475655" cy="1348941"/>
          </a:xfrm>
          <a:effectLst>
            <a:outerShdw blurRad="50800" dist="38100" dir="2700000" algn="tl" rotWithShape="0">
              <a:prstClr val="black">
                <a:alpha val="40000"/>
              </a:prstClr>
            </a:outerShdw>
          </a:effectLst>
        </p:grpSpPr>
        <p:sp>
          <p:nvSpPr>
            <p:cNvPr id="11" name="Rounded Rectangle 10"/>
            <p:cNvSpPr/>
            <p:nvPr/>
          </p:nvSpPr>
          <p:spPr>
            <a:xfrm>
              <a:off x="1164772" y="1415142"/>
              <a:ext cx="1344148" cy="1348941"/>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sz="2700" dirty="0"/>
            </a:p>
          </p:txBody>
        </p:sp>
        <p:sp>
          <p:nvSpPr>
            <p:cNvPr id="12" name="Oval 11"/>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12"/>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13"/>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14"/>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15"/>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Flowchart: Connector 18"/>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0" name="Flowchart: Connector 19"/>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1" name="Flowchart: Connector 20"/>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2" name="Flowchart: Connector 21"/>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3" name="Flowchart: Connector 22"/>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6" name="Freeform 25"/>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28" name="Straight Connector 2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1352906" y="1640490"/>
              <a:ext cx="517468" cy="517803"/>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673922" y="1453835"/>
              <a:ext cx="966504" cy="365830"/>
            </a:xfrm>
            <a:prstGeom prst="rect">
              <a:avLst/>
            </a:prstGeom>
            <a:noFill/>
          </p:spPr>
          <p:txBody>
            <a:bodyPr wrap="square" rtlCol="0">
              <a:spAutoFit/>
            </a:bodyPr>
            <a:lstStyle/>
            <a:p>
              <a:r>
                <a:rPr lang="en-US" sz="3600" b="1" dirty="0"/>
                <a:t>CDS</a:t>
              </a:r>
              <a:endParaRPr lang="en-US" sz="2700" b="1" dirty="0"/>
            </a:p>
          </p:txBody>
        </p:sp>
      </p:grpSp>
      <p:grpSp>
        <p:nvGrpSpPr>
          <p:cNvPr id="61" name="!!Group 60"/>
          <p:cNvGrpSpPr/>
          <p:nvPr/>
        </p:nvGrpSpPr>
        <p:grpSpPr>
          <a:xfrm>
            <a:off x="2570752" y="4053994"/>
            <a:ext cx="2213483" cy="2023412"/>
            <a:chOff x="1164771" y="1415142"/>
            <a:chExt cx="1475655" cy="1348941"/>
          </a:xfrm>
          <a:effectLst>
            <a:outerShdw blurRad="50800" dist="38100" dir="2700000" algn="tl" rotWithShape="0">
              <a:prstClr val="black">
                <a:alpha val="40000"/>
              </a:prstClr>
            </a:outerShdw>
          </a:effectLst>
        </p:grpSpPr>
        <p:sp>
          <p:nvSpPr>
            <p:cNvPr id="62" name="Rounded Rectangle 61"/>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63" name="Oval 62"/>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4" name="Oval 63"/>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5" name="Oval 64"/>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6" name="Oval 65"/>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7" name="Oval 66"/>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8" name="Flowchart: Connector 67"/>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69" name="Flowchart: Connector 68"/>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0" name="Flowchart: Connector 69"/>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1" name="Flowchart: Connector 70"/>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2" name="Flowchart: Connector 71"/>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3" name="Freeform 72"/>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74" name="Straight Connector 73"/>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Arrow Connector 74"/>
            <p:cNvCxnSpPr/>
            <p:nvPr/>
          </p:nvCxnSpPr>
          <p:spPr>
            <a:xfrm>
              <a:off x="1329321" y="1885455"/>
              <a:ext cx="582713" cy="500240"/>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76" name="TextBox 75"/>
            <p:cNvSpPr txBox="1"/>
            <p:nvPr/>
          </p:nvSpPr>
          <p:spPr>
            <a:xfrm>
              <a:off x="1673922" y="1423756"/>
              <a:ext cx="966504" cy="430887"/>
            </a:xfrm>
            <a:prstGeom prst="rect">
              <a:avLst/>
            </a:prstGeom>
            <a:noFill/>
          </p:spPr>
          <p:txBody>
            <a:bodyPr wrap="square" rtlCol="0">
              <a:spAutoFit/>
            </a:bodyPr>
            <a:lstStyle/>
            <a:p>
              <a:r>
                <a:rPr lang="en-US" sz="3600" b="1" dirty="0"/>
                <a:t>DDS</a:t>
              </a:r>
              <a:endParaRPr lang="en-US" sz="2700" b="1" dirty="0"/>
            </a:p>
          </p:txBody>
        </p:sp>
      </p:grpSp>
      <p:grpSp>
        <p:nvGrpSpPr>
          <p:cNvPr id="98" name="!!Group 97"/>
          <p:cNvGrpSpPr/>
          <p:nvPr/>
        </p:nvGrpSpPr>
        <p:grpSpPr>
          <a:xfrm>
            <a:off x="9663252" y="4034804"/>
            <a:ext cx="2707035" cy="2033714"/>
            <a:chOff x="5334460" y="3172266"/>
            <a:chExt cx="1786183" cy="1355809"/>
          </a:xfrm>
          <a:effectLst>
            <a:outerShdw blurRad="50800" dist="38100" dir="2700000" algn="tl" rotWithShape="0">
              <a:prstClr val="black">
                <a:alpha val="40000"/>
              </a:prstClr>
            </a:outerShdw>
          </a:effectLst>
        </p:grpSpPr>
        <p:grpSp>
          <p:nvGrpSpPr>
            <p:cNvPr id="77" name="Group 76"/>
            <p:cNvGrpSpPr/>
            <p:nvPr/>
          </p:nvGrpSpPr>
          <p:grpSpPr>
            <a:xfrm>
              <a:off x="5334460" y="3172266"/>
              <a:ext cx="1499713" cy="1355809"/>
              <a:chOff x="1164771" y="1408274"/>
              <a:chExt cx="1499713" cy="1355809"/>
            </a:xfrm>
          </p:grpSpPr>
          <p:sp>
            <p:nvSpPr>
              <p:cNvPr id="78" name="Rounded Rectangle 77"/>
              <p:cNvSpPr/>
              <p:nvPr/>
            </p:nvSpPr>
            <p:spPr>
              <a:xfrm>
                <a:off x="1164772" y="1415142"/>
                <a:ext cx="1344148" cy="1348941"/>
              </a:xfrm>
              <a:prstGeom prst="roundRect">
                <a:avLst/>
              </a:prstGeom>
              <a:ln w="28575">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79" name="Oval 78"/>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0" name="Oval 79"/>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1" name="Oval 80"/>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2" name="Oval 81"/>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3" name="Oval 82"/>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4" name="Flowchart: Connector 83"/>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5" name="Flowchart: Connector 84"/>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6" name="Flowchart: Connector 85"/>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7" name="Flowchart: Connector 86"/>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8" name="Flowchart: Connector 87"/>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9" name="Freeform 88"/>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90" name="Straight Connector 89"/>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a:off x="1513114" y="1621384"/>
                <a:ext cx="487073" cy="350699"/>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92" name="TextBox 91"/>
              <p:cNvSpPr txBox="1"/>
              <p:nvPr/>
            </p:nvSpPr>
            <p:spPr>
              <a:xfrm>
                <a:off x="1697980" y="1408274"/>
                <a:ext cx="966504" cy="430887"/>
              </a:xfrm>
              <a:prstGeom prst="rect">
                <a:avLst/>
              </a:prstGeom>
              <a:noFill/>
            </p:spPr>
            <p:txBody>
              <a:bodyPr wrap="square" rtlCol="0">
                <a:spAutoFit/>
              </a:bodyPr>
              <a:lstStyle/>
              <a:p>
                <a:r>
                  <a:rPr lang="en-US" sz="3600" b="1" dirty="0"/>
                  <a:t>HDS</a:t>
                </a:r>
                <a:endParaRPr lang="en-US" sz="2700" b="1" dirty="0"/>
              </a:p>
            </p:txBody>
          </p:sp>
        </p:grpSp>
        <p:pic>
          <p:nvPicPr>
            <p:cNvPr id="94" name="Picture 9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483" y="3317994"/>
              <a:ext cx="1775160" cy="794249"/>
            </a:xfrm>
            <a:prstGeom prst="rect">
              <a:avLst/>
            </a:prstGeom>
          </p:spPr>
        </p:pic>
      </p:grpSp>
      <p:grpSp>
        <p:nvGrpSpPr>
          <p:cNvPr id="101" name="Group 100"/>
          <p:cNvGrpSpPr/>
          <p:nvPr/>
        </p:nvGrpSpPr>
        <p:grpSpPr>
          <a:xfrm>
            <a:off x="13169816" y="4059867"/>
            <a:ext cx="2330019" cy="2028741"/>
            <a:chOff x="5929826" y="2123739"/>
            <a:chExt cx="1553346" cy="1352494"/>
          </a:xfrm>
          <a:effectLst>
            <a:outerShdw blurRad="50800" dist="38100" dir="2700000" algn="tl" rotWithShape="0">
              <a:prstClr val="black">
                <a:alpha val="40000"/>
              </a:prstClr>
            </a:outerShdw>
          </a:effectLst>
        </p:grpSpPr>
        <p:grpSp>
          <p:nvGrpSpPr>
            <p:cNvPr id="45" name="Group 44"/>
            <p:cNvGrpSpPr/>
            <p:nvPr/>
          </p:nvGrpSpPr>
          <p:grpSpPr>
            <a:xfrm>
              <a:off x="5929826" y="2123739"/>
              <a:ext cx="1553346" cy="1352494"/>
              <a:chOff x="1164771" y="1411589"/>
              <a:chExt cx="1553346" cy="1352494"/>
            </a:xfrm>
          </p:grpSpPr>
          <p:sp>
            <p:nvSpPr>
              <p:cNvPr id="46" name="Rounded Rectangle 45"/>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47" name="Oval 46"/>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8" name="Oval 47"/>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Oval 48"/>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0" name="Oval 49"/>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Oval 50"/>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2" name="Flowchart: Connector 51"/>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3" name="Flowchart: Connector 52"/>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4" name="Flowchart: Connector 53"/>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5" name="Flowchart: Connector 54"/>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6" name="Flowchart: Connector 55"/>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7" name="Freeform 56"/>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8" name="Straight Connector 5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Arrow Connector 58"/>
              <p:cNvCxnSpPr/>
              <p:nvPr/>
            </p:nvCxnSpPr>
            <p:spPr>
              <a:xfrm>
                <a:off x="1471134" y="1715094"/>
                <a:ext cx="518741" cy="355165"/>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751613" y="1411589"/>
                <a:ext cx="966504" cy="430887"/>
              </a:xfrm>
              <a:prstGeom prst="rect">
                <a:avLst/>
              </a:prstGeom>
              <a:noFill/>
            </p:spPr>
            <p:txBody>
              <a:bodyPr wrap="square" rtlCol="0">
                <a:spAutoFit/>
              </a:bodyPr>
              <a:lstStyle/>
              <a:p>
                <a:r>
                  <a:rPr lang="en-US" sz="3600" b="1" dirty="0"/>
                  <a:t>FDS</a:t>
                </a:r>
                <a:endParaRPr lang="en-US" sz="2700" b="1" dirty="0"/>
              </a:p>
            </p:txBody>
          </p:sp>
        </p:grpSp>
        <p:pic>
          <p:nvPicPr>
            <p:cNvPr id="100" name="Picture 99"/>
            <p:cNvPicPr>
              <a:picLocks noChangeAspect="1"/>
            </p:cNvPicPr>
            <p:nvPr/>
          </p:nvPicPr>
          <p:blipFill rotWithShape="1">
            <a:blip r:embed="rId2">
              <a:extLst>
                <a:ext uri="{28A0092B-C50C-407E-A947-70E740481C1C}">
                  <a14:useLocalDpi xmlns:a14="http://schemas.microsoft.com/office/drawing/2010/main" val="0"/>
                </a:ext>
              </a:extLst>
            </a:blip>
            <a:srcRect l="33989" t="23073" r="30758" b="22442"/>
            <a:stretch/>
          </p:blipFill>
          <p:spPr>
            <a:xfrm>
              <a:off x="6556242" y="2437939"/>
              <a:ext cx="674914" cy="479708"/>
            </a:xfrm>
            <a:prstGeom prst="rect">
              <a:avLst/>
            </a:prstGeom>
          </p:spPr>
        </p:pic>
      </p:grpSp>
    </p:spTree>
    <p:extLst>
      <p:ext uri="{BB962C8B-B14F-4D97-AF65-F5344CB8AC3E}">
        <p14:creationId xmlns:p14="http://schemas.microsoft.com/office/powerpoint/2010/main" val="74899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6097379" y="3981134"/>
            <a:ext cx="2213483" cy="2023412"/>
            <a:chOff x="1164771" y="1415142"/>
            <a:chExt cx="1475655" cy="1348941"/>
          </a:xfrm>
          <a:effectLst>
            <a:outerShdw blurRad="50800" dist="38100" dir="2700000" algn="tl" rotWithShape="0">
              <a:prstClr val="black">
                <a:alpha val="40000"/>
              </a:prstClr>
            </a:outerShdw>
          </a:effectLst>
        </p:grpSpPr>
        <p:sp>
          <p:nvSpPr>
            <p:cNvPr id="11" name="Rounded Rectangle 10"/>
            <p:cNvSpPr/>
            <p:nvPr/>
          </p:nvSpPr>
          <p:spPr>
            <a:xfrm>
              <a:off x="1164772" y="1415142"/>
              <a:ext cx="1344148" cy="1348941"/>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sz="2700" dirty="0"/>
            </a:p>
          </p:txBody>
        </p:sp>
        <p:sp>
          <p:nvSpPr>
            <p:cNvPr id="12" name="Oval 11"/>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12"/>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13"/>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14"/>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15"/>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Flowchart: Connector 18"/>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0" name="Flowchart: Connector 19"/>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1" name="Flowchart: Connector 20"/>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2" name="Flowchart: Connector 21"/>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3" name="Flowchart: Connector 22"/>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6" name="Freeform 25"/>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28" name="Straight Connector 2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1352906" y="1640490"/>
              <a:ext cx="517468" cy="517803"/>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673922" y="1453835"/>
              <a:ext cx="966504" cy="430887"/>
            </a:xfrm>
            <a:prstGeom prst="rect">
              <a:avLst/>
            </a:prstGeom>
            <a:noFill/>
          </p:spPr>
          <p:txBody>
            <a:bodyPr wrap="square" rtlCol="0">
              <a:spAutoFit/>
            </a:bodyPr>
            <a:lstStyle/>
            <a:p>
              <a:r>
                <a:rPr lang="en-US" sz="3600" b="1" dirty="0"/>
                <a:t>CDS</a:t>
              </a:r>
              <a:endParaRPr lang="en-US" sz="2700" b="1" dirty="0"/>
            </a:p>
          </p:txBody>
        </p:sp>
      </p:grpSp>
      <p:grpSp>
        <p:nvGrpSpPr>
          <p:cNvPr id="61" name="!!Group 60"/>
          <p:cNvGrpSpPr/>
          <p:nvPr/>
        </p:nvGrpSpPr>
        <p:grpSpPr>
          <a:xfrm>
            <a:off x="2570752" y="4053994"/>
            <a:ext cx="2213483" cy="2023412"/>
            <a:chOff x="1164771" y="1415142"/>
            <a:chExt cx="1475655" cy="1348941"/>
          </a:xfrm>
          <a:effectLst>
            <a:outerShdw blurRad="50800" dist="38100" dir="2700000" algn="tl" rotWithShape="0">
              <a:prstClr val="black">
                <a:alpha val="40000"/>
              </a:prstClr>
            </a:outerShdw>
          </a:effectLst>
        </p:grpSpPr>
        <p:sp>
          <p:nvSpPr>
            <p:cNvPr id="62" name="Rounded Rectangle 61"/>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63" name="Oval 62"/>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4" name="Oval 63"/>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5" name="Oval 64"/>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6" name="Oval 65"/>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7" name="Oval 66"/>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8" name="Flowchart: Connector 67"/>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69" name="Flowchart: Connector 68"/>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0" name="Flowchart: Connector 69"/>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1" name="Flowchart: Connector 70"/>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2" name="Flowchart: Connector 71"/>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3" name="Freeform 72"/>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74" name="Straight Connector 73"/>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Arrow Connector 74"/>
            <p:cNvCxnSpPr/>
            <p:nvPr/>
          </p:nvCxnSpPr>
          <p:spPr>
            <a:xfrm>
              <a:off x="1329321" y="1885455"/>
              <a:ext cx="582713" cy="500240"/>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76" name="TextBox 75"/>
            <p:cNvSpPr txBox="1"/>
            <p:nvPr/>
          </p:nvSpPr>
          <p:spPr>
            <a:xfrm>
              <a:off x="1673922" y="1423756"/>
              <a:ext cx="966504" cy="430887"/>
            </a:xfrm>
            <a:prstGeom prst="rect">
              <a:avLst/>
            </a:prstGeom>
            <a:noFill/>
          </p:spPr>
          <p:txBody>
            <a:bodyPr wrap="square" rtlCol="0">
              <a:spAutoFit/>
            </a:bodyPr>
            <a:lstStyle/>
            <a:p>
              <a:r>
                <a:rPr lang="en-US" sz="3600" b="1" dirty="0"/>
                <a:t>DDS</a:t>
              </a:r>
              <a:endParaRPr lang="en-US" sz="2700" b="1" dirty="0"/>
            </a:p>
          </p:txBody>
        </p:sp>
      </p:grpSp>
      <p:grpSp>
        <p:nvGrpSpPr>
          <p:cNvPr id="98" name="!!Group 97"/>
          <p:cNvGrpSpPr/>
          <p:nvPr/>
        </p:nvGrpSpPr>
        <p:grpSpPr>
          <a:xfrm>
            <a:off x="9451586" y="3505639"/>
            <a:ext cx="2918702" cy="2584046"/>
            <a:chOff x="5334460" y="3172266"/>
            <a:chExt cx="1786183" cy="1355809"/>
          </a:xfrm>
          <a:effectLst>
            <a:outerShdw blurRad="50800" dist="38100" dir="2700000" algn="tl" rotWithShape="0">
              <a:prstClr val="black">
                <a:alpha val="40000"/>
              </a:prstClr>
            </a:outerShdw>
          </a:effectLst>
        </p:grpSpPr>
        <p:grpSp>
          <p:nvGrpSpPr>
            <p:cNvPr id="77" name="Group 76"/>
            <p:cNvGrpSpPr/>
            <p:nvPr/>
          </p:nvGrpSpPr>
          <p:grpSpPr>
            <a:xfrm>
              <a:off x="5334460" y="3172266"/>
              <a:ext cx="1499713" cy="1355809"/>
              <a:chOff x="1164771" y="1408274"/>
              <a:chExt cx="1499713" cy="1355809"/>
            </a:xfrm>
          </p:grpSpPr>
          <p:sp>
            <p:nvSpPr>
              <p:cNvPr id="78" name="Rounded Rectangle 77"/>
              <p:cNvSpPr/>
              <p:nvPr/>
            </p:nvSpPr>
            <p:spPr>
              <a:xfrm>
                <a:off x="1164772" y="1415142"/>
                <a:ext cx="1344148" cy="1348941"/>
              </a:xfrm>
              <a:prstGeom prst="roundRect">
                <a:avLst/>
              </a:prstGeom>
              <a:ln w="28575">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79" name="Oval 78"/>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0" name="Oval 79"/>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1" name="Oval 80"/>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2" name="Oval 81"/>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3" name="Oval 82"/>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4" name="Flowchart: Connector 83"/>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5" name="Flowchart: Connector 84"/>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6" name="Flowchart: Connector 85"/>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7" name="Flowchart: Connector 86"/>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8" name="Flowchart: Connector 87"/>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9" name="Freeform 88"/>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90" name="Straight Connector 89"/>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a:off x="1513114" y="1621384"/>
                <a:ext cx="487073" cy="350699"/>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92" name="TextBox 91"/>
              <p:cNvSpPr txBox="1"/>
              <p:nvPr/>
            </p:nvSpPr>
            <p:spPr>
              <a:xfrm>
                <a:off x="1697980" y="1408274"/>
                <a:ext cx="966504" cy="339120"/>
              </a:xfrm>
              <a:prstGeom prst="rect">
                <a:avLst/>
              </a:prstGeom>
              <a:noFill/>
            </p:spPr>
            <p:txBody>
              <a:bodyPr wrap="square" rtlCol="0">
                <a:spAutoFit/>
              </a:bodyPr>
              <a:lstStyle/>
              <a:p>
                <a:r>
                  <a:rPr lang="en-US" sz="3600" b="1" dirty="0"/>
                  <a:t>HDS</a:t>
                </a:r>
                <a:endParaRPr lang="en-US" sz="2700" b="1" dirty="0"/>
              </a:p>
            </p:txBody>
          </p:sp>
        </p:grpSp>
        <p:pic>
          <p:nvPicPr>
            <p:cNvPr id="94" name="Picture 9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483" y="3317994"/>
              <a:ext cx="1775160" cy="794249"/>
            </a:xfrm>
            <a:prstGeom prst="rect">
              <a:avLst/>
            </a:prstGeom>
          </p:spPr>
        </p:pic>
      </p:grpSp>
      <p:grpSp>
        <p:nvGrpSpPr>
          <p:cNvPr id="101" name="Group 100"/>
          <p:cNvGrpSpPr/>
          <p:nvPr/>
        </p:nvGrpSpPr>
        <p:grpSpPr>
          <a:xfrm>
            <a:off x="13169816" y="4059867"/>
            <a:ext cx="2330019" cy="2028741"/>
            <a:chOff x="5929826" y="2123739"/>
            <a:chExt cx="1553346" cy="1352494"/>
          </a:xfrm>
          <a:effectLst>
            <a:outerShdw blurRad="50800" dist="38100" dir="2700000" algn="tl" rotWithShape="0">
              <a:prstClr val="black">
                <a:alpha val="40000"/>
              </a:prstClr>
            </a:outerShdw>
          </a:effectLst>
        </p:grpSpPr>
        <p:grpSp>
          <p:nvGrpSpPr>
            <p:cNvPr id="45" name="Group 44"/>
            <p:cNvGrpSpPr/>
            <p:nvPr/>
          </p:nvGrpSpPr>
          <p:grpSpPr>
            <a:xfrm>
              <a:off x="5929826" y="2123739"/>
              <a:ext cx="1553346" cy="1352494"/>
              <a:chOff x="1164771" y="1411589"/>
              <a:chExt cx="1553346" cy="1352494"/>
            </a:xfrm>
          </p:grpSpPr>
          <p:sp>
            <p:nvSpPr>
              <p:cNvPr id="46" name="Rounded Rectangle 45"/>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47" name="Oval 46"/>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8" name="Oval 47"/>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Oval 48"/>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0" name="Oval 49"/>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Oval 50"/>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2" name="Flowchart: Connector 51"/>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3" name="Flowchart: Connector 52"/>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4" name="Flowchart: Connector 53"/>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5" name="Flowchart: Connector 54"/>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6" name="Flowchart: Connector 55"/>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7" name="Freeform 56"/>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8" name="Straight Connector 5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Arrow Connector 58"/>
              <p:cNvCxnSpPr/>
              <p:nvPr/>
            </p:nvCxnSpPr>
            <p:spPr>
              <a:xfrm>
                <a:off x="1471134" y="1715094"/>
                <a:ext cx="518741" cy="355165"/>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751613" y="1411589"/>
                <a:ext cx="966504" cy="430887"/>
              </a:xfrm>
              <a:prstGeom prst="rect">
                <a:avLst/>
              </a:prstGeom>
              <a:noFill/>
            </p:spPr>
            <p:txBody>
              <a:bodyPr wrap="square" rtlCol="0">
                <a:spAutoFit/>
              </a:bodyPr>
              <a:lstStyle/>
              <a:p>
                <a:r>
                  <a:rPr lang="en-US" sz="3600" b="1" dirty="0"/>
                  <a:t>FDS</a:t>
                </a:r>
                <a:endParaRPr lang="en-US" sz="2700" b="1" dirty="0"/>
              </a:p>
            </p:txBody>
          </p:sp>
        </p:grpSp>
        <p:pic>
          <p:nvPicPr>
            <p:cNvPr id="100" name="Picture 99"/>
            <p:cNvPicPr>
              <a:picLocks noChangeAspect="1"/>
            </p:cNvPicPr>
            <p:nvPr/>
          </p:nvPicPr>
          <p:blipFill rotWithShape="1">
            <a:blip r:embed="rId2">
              <a:extLst>
                <a:ext uri="{28A0092B-C50C-407E-A947-70E740481C1C}">
                  <a14:useLocalDpi xmlns:a14="http://schemas.microsoft.com/office/drawing/2010/main" val="0"/>
                </a:ext>
              </a:extLst>
            </a:blip>
            <a:srcRect l="33989" t="23073" r="30758" b="22442"/>
            <a:stretch/>
          </p:blipFill>
          <p:spPr>
            <a:xfrm>
              <a:off x="6556242" y="2437939"/>
              <a:ext cx="674914" cy="479708"/>
            </a:xfrm>
            <a:prstGeom prst="rect">
              <a:avLst/>
            </a:prstGeom>
          </p:spPr>
        </p:pic>
      </p:grpSp>
    </p:spTree>
    <p:extLst>
      <p:ext uri="{BB962C8B-B14F-4D97-AF65-F5344CB8AC3E}">
        <p14:creationId xmlns:p14="http://schemas.microsoft.com/office/powerpoint/2010/main" val="698337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A diagram of skin layers&#10;&#10;Description automatically generated">
            <a:extLst>
              <a:ext uri="{FF2B5EF4-FFF2-40B4-BE49-F238E27FC236}">
                <a16:creationId xmlns:a16="http://schemas.microsoft.com/office/drawing/2014/main" id="{1E213CA0-9594-30E5-1CB0-2E42B43E7FE4}"/>
              </a:ext>
            </a:extLst>
          </p:cNvPr>
          <p:cNvPicPr>
            <a:picLocks noChangeAspect="1"/>
          </p:cNvPicPr>
          <p:nvPr/>
        </p:nvPicPr>
        <p:blipFill rotWithShape="1">
          <a:blip r:embed="rId3"/>
          <a:srcRect l="10123" t="16428" r="44691" b="8929"/>
          <a:stretch/>
        </p:blipFill>
        <p:spPr>
          <a:xfrm>
            <a:off x="2601017" y="1474712"/>
            <a:ext cx="7164237" cy="8047919"/>
          </a:xfrm>
          <a:prstGeom prst="rect">
            <a:avLst/>
          </a:prstGeom>
          <a:ln>
            <a:noFill/>
          </a:ln>
        </p:spPr>
      </p:pic>
      <p:pic>
        <p:nvPicPr>
          <p:cNvPr id="35" name="Picture 34" descr="A gold ball on a black background&#10;&#10;Description automatically generated">
            <a:extLst>
              <a:ext uri="{FF2B5EF4-FFF2-40B4-BE49-F238E27FC236}">
                <a16:creationId xmlns:a16="http://schemas.microsoft.com/office/drawing/2014/main" id="{76C8C79F-9D0E-8C8C-7966-1A560359E21D}"/>
              </a:ext>
            </a:extLst>
          </p:cNvPr>
          <p:cNvPicPr>
            <a:picLocks noChangeAspect="1"/>
          </p:cNvPicPr>
          <p:nvPr/>
        </p:nvPicPr>
        <p:blipFill>
          <a:blip r:embed="rId4"/>
          <a:stretch>
            <a:fillRect/>
          </a:stretch>
        </p:blipFill>
        <p:spPr>
          <a:xfrm flipH="1">
            <a:off x="8389428" y="2197985"/>
            <a:ext cx="370140" cy="323490"/>
          </a:xfrm>
          <a:prstGeom prst="rect">
            <a:avLst/>
          </a:prstGeom>
        </p:spPr>
      </p:pic>
      <p:pic>
        <p:nvPicPr>
          <p:cNvPr id="38" name="Picture 37" descr="A gold ball on a black background&#10;&#10;Description automatically generated">
            <a:extLst>
              <a:ext uri="{FF2B5EF4-FFF2-40B4-BE49-F238E27FC236}">
                <a16:creationId xmlns:a16="http://schemas.microsoft.com/office/drawing/2014/main" id="{1BA3CB92-95F7-A169-4082-BA21972B7FAA}"/>
              </a:ext>
            </a:extLst>
          </p:cNvPr>
          <p:cNvPicPr>
            <a:picLocks noChangeAspect="1"/>
          </p:cNvPicPr>
          <p:nvPr/>
        </p:nvPicPr>
        <p:blipFill>
          <a:blip r:embed="rId4"/>
          <a:stretch>
            <a:fillRect/>
          </a:stretch>
        </p:blipFill>
        <p:spPr>
          <a:xfrm flipH="1">
            <a:off x="4097783" y="2133286"/>
            <a:ext cx="314663" cy="343505"/>
          </a:xfrm>
          <a:prstGeom prst="rect">
            <a:avLst/>
          </a:prstGeom>
        </p:spPr>
      </p:pic>
      <p:pic>
        <p:nvPicPr>
          <p:cNvPr id="39" name="Picture 38" descr="A gold ball on a black background&#10;&#10;Description automatically generated">
            <a:extLst>
              <a:ext uri="{FF2B5EF4-FFF2-40B4-BE49-F238E27FC236}">
                <a16:creationId xmlns:a16="http://schemas.microsoft.com/office/drawing/2014/main" id="{47ABA344-C15E-D3E3-AA93-BC81DEA3973F}"/>
              </a:ext>
            </a:extLst>
          </p:cNvPr>
          <p:cNvPicPr>
            <a:picLocks noChangeAspect="1"/>
          </p:cNvPicPr>
          <p:nvPr/>
        </p:nvPicPr>
        <p:blipFill>
          <a:blip r:embed="rId4"/>
          <a:stretch>
            <a:fillRect/>
          </a:stretch>
        </p:blipFill>
        <p:spPr>
          <a:xfrm flipH="1">
            <a:off x="6836670" y="2521475"/>
            <a:ext cx="330912" cy="308355"/>
          </a:xfrm>
          <a:prstGeom prst="rect">
            <a:avLst/>
          </a:prstGeom>
        </p:spPr>
      </p:pic>
      <p:pic>
        <p:nvPicPr>
          <p:cNvPr id="40" name="Picture 39" descr="A gold ball on a black background&#10;&#10;Description automatically generated">
            <a:extLst>
              <a:ext uri="{FF2B5EF4-FFF2-40B4-BE49-F238E27FC236}">
                <a16:creationId xmlns:a16="http://schemas.microsoft.com/office/drawing/2014/main" id="{F4CEB6F2-3E79-EFB7-3F0F-222FF313B09B}"/>
              </a:ext>
            </a:extLst>
          </p:cNvPr>
          <p:cNvPicPr>
            <a:picLocks noChangeAspect="1"/>
          </p:cNvPicPr>
          <p:nvPr/>
        </p:nvPicPr>
        <p:blipFill>
          <a:blip r:embed="rId4"/>
          <a:stretch>
            <a:fillRect/>
          </a:stretch>
        </p:blipFill>
        <p:spPr>
          <a:xfrm flipH="1">
            <a:off x="7095464" y="1766661"/>
            <a:ext cx="255309" cy="236133"/>
          </a:xfrm>
          <a:prstGeom prst="rect">
            <a:avLst/>
          </a:prstGeom>
        </p:spPr>
      </p:pic>
      <p:pic>
        <p:nvPicPr>
          <p:cNvPr id="41" name="Picture 40" descr="A gold ball on a black background&#10;&#10;Description automatically generated">
            <a:extLst>
              <a:ext uri="{FF2B5EF4-FFF2-40B4-BE49-F238E27FC236}">
                <a16:creationId xmlns:a16="http://schemas.microsoft.com/office/drawing/2014/main" id="{95622B2A-C3A4-4D3B-EE31-B7A095071415}"/>
              </a:ext>
            </a:extLst>
          </p:cNvPr>
          <p:cNvPicPr>
            <a:picLocks noChangeAspect="1"/>
          </p:cNvPicPr>
          <p:nvPr/>
        </p:nvPicPr>
        <p:blipFill>
          <a:blip r:embed="rId4"/>
          <a:stretch>
            <a:fillRect/>
          </a:stretch>
        </p:blipFill>
        <p:spPr>
          <a:xfrm flipH="1">
            <a:off x="4874163" y="1960757"/>
            <a:ext cx="303453" cy="313029"/>
          </a:xfrm>
          <a:prstGeom prst="rect">
            <a:avLst/>
          </a:prstGeom>
        </p:spPr>
      </p:pic>
      <p:pic>
        <p:nvPicPr>
          <p:cNvPr id="42" name="Picture 41" descr="A gold ball on a black background&#10;&#10;Description automatically generated">
            <a:extLst>
              <a:ext uri="{FF2B5EF4-FFF2-40B4-BE49-F238E27FC236}">
                <a16:creationId xmlns:a16="http://schemas.microsoft.com/office/drawing/2014/main" id="{6B080AD4-613E-9F2F-54AB-E881191DEF1F}"/>
              </a:ext>
            </a:extLst>
          </p:cNvPr>
          <p:cNvPicPr>
            <a:picLocks noChangeAspect="1"/>
          </p:cNvPicPr>
          <p:nvPr/>
        </p:nvPicPr>
        <p:blipFill>
          <a:blip r:embed="rId4"/>
          <a:stretch>
            <a:fillRect/>
          </a:stretch>
        </p:blipFill>
        <p:spPr>
          <a:xfrm flipH="1">
            <a:off x="5499572" y="1704604"/>
            <a:ext cx="289988" cy="319787"/>
          </a:xfrm>
          <a:prstGeom prst="rect">
            <a:avLst/>
          </a:prstGeom>
        </p:spPr>
      </p:pic>
      <p:pic>
        <p:nvPicPr>
          <p:cNvPr id="63" name="Picture 62" descr="A gold ball on a black background&#10;&#10;Description automatically generated">
            <a:extLst>
              <a:ext uri="{FF2B5EF4-FFF2-40B4-BE49-F238E27FC236}">
                <a16:creationId xmlns:a16="http://schemas.microsoft.com/office/drawing/2014/main" id="{6B080AD4-613E-9F2F-54AB-E881191DEF1F}"/>
              </a:ext>
            </a:extLst>
          </p:cNvPr>
          <p:cNvPicPr>
            <a:picLocks noChangeAspect="1"/>
          </p:cNvPicPr>
          <p:nvPr/>
        </p:nvPicPr>
        <p:blipFill>
          <a:blip r:embed="rId4"/>
          <a:stretch>
            <a:fillRect/>
          </a:stretch>
        </p:blipFill>
        <p:spPr>
          <a:xfrm flipH="1">
            <a:off x="5830985" y="2201689"/>
            <a:ext cx="289988" cy="319787"/>
          </a:xfrm>
          <a:prstGeom prst="rect">
            <a:avLst/>
          </a:prstGeom>
        </p:spPr>
      </p:pic>
      <p:sp>
        <p:nvSpPr>
          <p:cNvPr id="10" name="TextBox 9">
            <a:extLst>
              <a:ext uri="{FF2B5EF4-FFF2-40B4-BE49-F238E27FC236}">
                <a16:creationId xmlns:a16="http://schemas.microsoft.com/office/drawing/2014/main" id="{753B0E2C-FCBE-4AEA-8F0D-26884FC86619}"/>
              </a:ext>
            </a:extLst>
          </p:cNvPr>
          <p:cNvSpPr txBox="1"/>
          <p:nvPr/>
        </p:nvSpPr>
        <p:spPr>
          <a:xfrm>
            <a:off x="12243548" y="3025589"/>
            <a:ext cx="5062817" cy="2585323"/>
          </a:xfrm>
          <a:prstGeom prst="rect">
            <a:avLst/>
          </a:prstGeom>
          <a:solidFill>
            <a:schemeClr val="accent6">
              <a:lumMod val="20000"/>
              <a:lumOff val="80000"/>
            </a:schemeClr>
          </a:solidFill>
          <a:ln w="28575"/>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2700" dirty="0"/>
              <a:t>HDS-HAIR DELIVERY SYSTEM</a:t>
            </a:r>
          </a:p>
          <a:p>
            <a:pPr algn="just"/>
            <a:r>
              <a:rPr lang="en-US" sz="2700" dirty="0"/>
              <a:t>NP adhere themselves to the hair stem and progressively deliver the active ingredients they contain to the hair cuticle for its part</a:t>
            </a:r>
          </a:p>
          <a:p>
            <a:endParaRPr lang="en-US" sz="2700" dirty="0"/>
          </a:p>
        </p:txBody>
      </p:sp>
    </p:spTree>
    <p:extLst>
      <p:ext uri="{BB962C8B-B14F-4D97-AF65-F5344CB8AC3E}">
        <p14:creationId xmlns:p14="http://schemas.microsoft.com/office/powerpoint/2010/main" val="1466375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par>
                                <p:cTn id="13" presetID="10" presetClass="entr" presetSubtype="0" fill="hold" nodeType="with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500"/>
                                        <p:tgtEl>
                                          <p:spTgt spid="63"/>
                                        </p:tgtEl>
                                      </p:cBhvr>
                                    </p:animEffect>
                                  </p:childTnLst>
                                </p:cTn>
                              </p:par>
                              <p:par>
                                <p:cTn id="16" presetID="10" presetClass="entr" presetSubtype="0" fill="hold"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19" presetID="10"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par>
                                <p:cTn id="22" presetID="10" presetClass="entr" presetSubtype="0"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500"/>
                                        <p:tgtEl>
                                          <p:spTgt spid="39"/>
                                        </p:tgtEl>
                                      </p:cBhvr>
                                    </p:animEffect>
                                  </p:childTnLst>
                                </p:cTn>
                              </p:par>
                              <p:par>
                                <p:cTn id="25" presetID="10"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2250"/>
                                        <p:tgtEl>
                                          <p:spTgt spid="40"/>
                                        </p:tgtEl>
                                      </p:cBhvr>
                                    </p:animEffect>
                                  </p:childTnLst>
                                </p:cTn>
                              </p:par>
                              <p:par>
                                <p:cTn id="31" presetID="8" presetClass="emph" presetSubtype="0" fill="hold" nodeType="withEffect">
                                  <p:stCondLst>
                                    <p:cond delay="0"/>
                                  </p:stCondLst>
                                  <p:childTnLst>
                                    <p:animRot by="21600000">
                                      <p:cBhvr>
                                        <p:cTn id="32" dur="2250" fill="hold"/>
                                        <p:tgtEl>
                                          <p:spTgt spid="40"/>
                                        </p:tgtEl>
                                        <p:attrNameLst>
                                          <p:attrName>r</p:attrName>
                                        </p:attrNameLst>
                                      </p:cBhvr>
                                    </p:animRot>
                                  </p:childTnLst>
                                </p:cTn>
                              </p:par>
                              <p:par>
                                <p:cTn id="33" presetID="8" presetClass="emph" presetSubtype="0" fill="hold" nodeType="withEffect">
                                  <p:stCondLst>
                                    <p:cond delay="0"/>
                                  </p:stCondLst>
                                  <p:childTnLst>
                                    <p:animRot by="21600000">
                                      <p:cBhvr>
                                        <p:cTn id="34" dur="2000" fill="hold"/>
                                        <p:tgtEl>
                                          <p:spTgt spid="39"/>
                                        </p:tgtEl>
                                        <p:attrNameLst>
                                          <p:attrName>r</p:attrName>
                                        </p:attrNameLst>
                                      </p:cBhvr>
                                    </p:animRot>
                                  </p:childTnLst>
                                </p:cTn>
                              </p:par>
                              <p:par>
                                <p:cTn id="35" presetID="8" presetClass="emph" presetSubtype="0" fill="hold" nodeType="withEffect">
                                  <p:stCondLst>
                                    <p:cond delay="0"/>
                                  </p:stCondLst>
                                  <p:childTnLst>
                                    <p:animRot by="21600000">
                                      <p:cBhvr>
                                        <p:cTn id="36" dur="2000" fill="hold"/>
                                        <p:tgtEl>
                                          <p:spTgt spid="35"/>
                                        </p:tgtEl>
                                        <p:attrNameLst>
                                          <p:attrName>r</p:attrName>
                                        </p:attrNameLst>
                                      </p:cBhvr>
                                    </p:animRot>
                                  </p:childTnLst>
                                </p:cTn>
                              </p:par>
                              <p:par>
                                <p:cTn id="37" presetID="8" presetClass="emph" presetSubtype="0" fill="hold" nodeType="withEffect">
                                  <p:stCondLst>
                                    <p:cond delay="0"/>
                                  </p:stCondLst>
                                  <p:childTnLst>
                                    <p:animRot by="21600000">
                                      <p:cBhvr>
                                        <p:cTn id="38" dur="2000" fill="hold"/>
                                        <p:tgtEl>
                                          <p:spTgt spid="63"/>
                                        </p:tgtEl>
                                        <p:attrNameLst>
                                          <p:attrName>r</p:attrName>
                                        </p:attrNameLst>
                                      </p:cBhvr>
                                    </p:animRot>
                                  </p:childTnLst>
                                </p:cTn>
                              </p:par>
                              <p:par>
                                <p:cTn id="39" presetID="8" presetClass="emph" presetSubtype="0" fill="hold" nodeType="withEffect">
                                  <p:stCondLst>
                                    <p:cond delay="0"/>
                                  </p:stCondLst>
                                  <p:childTnLst>
                                    <p:animRot by="21600000">
                                      <p:cBhvr>
                                        <p:cTn id="40" dur="2000" fill="hold"/>
                                        <p:tgtEl>
                                          <p:spTgt spid="42"/>
                                        </p:tgtEl>
                                        <p:attrNameLst>
                                          <p:attrName>r</p:attrName>
                                        </p:attrNameLst>
                                      </p:cBhvr>
                                    </p:animRot>
                                  </p:childTnLst>
                                </p:cTn>
                              </p:par>
                              <p:par>
                                <p:cTn id="41" presetID="8" presetClass="emph" presetSubtype="0" fill="hold" nodeType="withEffect">
                                  <p:stCondLst>
                                    <p:cond delay="0"/>
                                  </p:stCondLst>
                                  <p:childTnLst>
                                    <p:animRot by="21600000">
                                      <p:cBhvr>
                                        <p:cTn id="42" dur="2000" fill="hold"/>
                                        <p:tgtEl>
                                          <p:spTgt spid="41"/>
                                        </p:tgtEl>
                                        <p:attrNameLst>
                                          <p:attrName>r</p:attrName>
                                        </p:attrNameLst>
                                      </p:cBhvr>
                                    </p:animRot>
                                  </p:childTnLst>
                                </p:cTn>
                              </p:par>
                              <p:par>
                                <p:cTn id="43" presetID="8" presetClass="emph" presetSubtype="0" fill="hold" nodeType="withEffect">
                                  <p:stCondLst>
                                    <p:cond delay="0"/>
                                  </p:stCondLst>
                                  <p:childTnLst>
                                    <p:animRot by="21600000">
                                      <p:cBhvr>
                                        <p:cTn id="44" dur="2000" fill="hold"/>
                                        <p:tgtEl>
                                          <p:spTgt spid="38"/>
                                        </p:tgtEl>
                                        <p:attrNameLst>
                                          <p:attrName>r</p:attrName>
                                        </p:attrNameLst>
                                      </p:cBhvr>
                                    </p:animRot>
                                  </p:childTnLst>
                                </p:cTn>
                              </p:par>
                            </p:childTnLst>
                          </p:cTn>
                        </p:par>
                      </p:childTnLst>
                    </p:cTn>
                  </p:par>
                  <p:par>
                    <p:cTn id="45" fill="hold">
                      <p:stCondLst>
                        <p:cond delay="indefinite"/>
                      </p:stCondLst>
                      <p:childTnLst>
                        <p:par>
                          <p:cTn id="46" fill="hold">
                            <p:stCondLst>
                              <p:cond delay="0"/>
                            </p:stCondLst>
                            <p:childTnLst>
                              <p:par>
                                <p:cTn id="47" presetID="42" presetClass="path" presetSubtype="0" accel="50000" decel="50000" fill="hold" nodeType="clickEffect">
                                  <p:stCondLst>
                                    <p:cond delay="0"/>
                                  </p:stCondLst>
                                  <p:childTnLst>
                                    <p:animMotion origin="layout" path="M -0.00039 -0.00648 L 0.03711 0.09468 " pathEditMode="relative" rAng="0" ptsTypes="AA">
                                      <p:cBhvr>
                                        <p:cTn id="48" dur="5500" fill="hold"/>
                                        <p:tgtEl>
                                          <p:spTgt spid="38"/>
                                        </p:tgtEl>
                                        <p:attrNameLst>
                                          <p:attrName>ppt_x</p:attrName>
                                          <p:attrName>ppt_y</p:attrName>
                                        </p:attrNameLst>
                                      </p:cBhvr>
                                      <p:rCtr x="1875" y="5046"/>
                                    </p:animMotion>
                                  </p:childTnLst>
                                </p:cTn>
                              </p:par>
                              <p:par>
                                <p:cTn id="49" presetID="42" presetClass="path" presetSubtype="0" accel="50000" decel="50000" fill="hold" nodeType="withEffect">
                                  <p:stCondLst>
                                    <p:cond delay="0"/>
                                  </p:stCondLst>
                                  <p:childTnLst>
                                    <p:animMotion origin="layout" path="M -2.70833E-6 3.7037E-7 L 0.02748 0.08611 " pathEditMode="relative" rAng="0" ptsTypes="AA">
                                      <p:cBhvr>
                                        <p:cTn id="50" dur="4250" fill="hold"/>
                                        <p:tgtEl>
                                          <p:spTgt spid="63"/>
                                        </p:tgtEl>
                                        <p:attrNameLst>
                                          <p:attrName>ppt_x</p:attrName>
                                          <p:attrName>ppt_y</p:attrName>
                                        </p:attrNameLst>
                                      </p:cBhvr>
                                      <p:rCtr x="1367" y="4306"/>
                                    </p:animMotion>
                                  </p:childTnLst>
                                </p:cTn>
                              </p:par>
                              <p:par>
                                <p:cTn id="51" presetID="42" presetClass="path" presetSubtype="0" accel="50000" decel="50000" fill="hold" nodeType="withEffect">
                                  <p:stCondLst>
                                    <p:cond delay="0"/>
                                  </p:stCondLst>
                                  <p:childTnLst>
                                    <p:animMotion origin="layout" path="M 4.16667E-7 2.96296E-6 L -0.00078 0.06921 " pathEditMode="relative" rAng="0" ptsTypes="AA">
                                      <p:cBhvr>
                                        <p:cTn id="52" dur="4250" fill="hold"/>
                                        <p:tgtEl>
                                          <p:spTgt spid="41"/>
                                        </p:tgtEl>
                                        <p:attrNameLst>
                                          <p:attrName>ppt_x</p:attrName>
                                          <p:attrName>ppt_y</p:attrName>
                                        </p:attrNameLst>
                                      </p:cBhvr>
                                      <p:rCtr x="-39" y="3449"/>
                                    </p:animMotion>
                                  </p:childTnLst>
                                </p:cTn>
                              </p:par>
                              <p:par>
                                <p:cTn id="53" presetID="42" presetClass="path" presetSubtype="0" accel="50000" decel="50000" fill="hold" nodeType="withEffect">
                                  <p:stCondLst>
                                    <p:cond delay="0"/>
                                  </p:stCondLst>
                                  <p:childTnLst>
                                    <p:animMotion origin="layout" path="M -3.75E-6 2.77556E-17 L 0.04128 0.17639 " pathEditMode="relative" rAng="0" ptsTypes="AA">
                                      <p:cBhvr>
                                        <p:cTn id="54" dur="4250" fill="hold"/>
                                        <p:tgtEl>
                                          <p:spTgt spid="42"/>
                                        </p:tgtEl>
                                        <p:attrNameLst>
                                          <p:attrName>ppt_x</p:attrName>
                                          <p:attrName>ppt_y</p:attrName>
                                        </p:attrNameLst>
                                      </p:cBhvr>
                                      <p:rCtr x="2057" y="8819"/>
                                    </p:animMotion>
                                  </p:childTnLst>
                                </p:cTn>
                              </p:par>
                              <p:par>
                                <p:cTn id="55" presetID="42" presetClass="path" presetSubtype="0" accel="50000" decel="50000" fill="hold" nodeType="withEffect">
                                  <p:stCondLst>
                                    <p:cond delay="0"/>
                                  </p:stCondLst>
                                  <p:childTnLst>
                                    <p:animMotion origin="layout" path="M -2.5E-6 -3.7037E-6 L -0.02995 0.05394 " pathEditMode="relative" rAng="0" ptsTypes="AA">
                                      <p:cBhvr>
                                        <p:cTn id="56" dur="4250" fill="hold"/>
                                        <p:tgtEl>
                                          <p:spTgt spid="39"/>
                                        </p:tgtEl>
                                        <p:attrNameLst>
                                          <p:attrName>ppt_x</p:attrName>
                                          <p:attrName>ppt_y</p:attrName>
                                        </p:attrNameLst>
                                      </p:cBhvr>
                                      <p:rCtr x="-1497" y="2685"/>
                                    </p:animMotion>
                                  </p:childTnLst>
                                </p:cTn>
                              </p:par>
                              <p:par>
                                <p:cTn id="57" presetID="42" presetClass="path" presetSubtype="0" accel="50000" decel="50000" fill="hold" nodeType="withEffect">
                                  <p:stCondLst>
                                    <p:cond delay="0"/>
                                  </p:stCondLst>
                                  <p:childTnLst>
                                    <p:animMotion origin="layout" path="M -1.875E-6 -1.85185E-6 L 0.04297 0.14051 " pathEditMode="relative" rAng="0" ptsTypes="AA">
                                      <p:cBhvr>
                                        <p:cTn id="58" dur="2250" fill="hold"/>
                                        <p:tgtEl>
                                          <p:spTgt spid="40"/>
                                        </p:tgtEl>
                                        <p:attrNameLst>
                                          <p:attrName>ppt_x</p:attrName>
                                          <p:attrName>ppt_y</p:attrName>
                                        </p:attrNameLst>
                                      </p:cBhvr>
                                      <p:rCtr x="2148" y="7014"/>
                                    </p:animMotion>
                                  </p:childTnLst>
                                </p:cTn>
                              </p:par>
                              <p:par>
                                <p:cTn id="59" presetID="42" presetClass="path" presetSubtype="0" accel="50000" decel="50000" fill="hold" nodeType="withEffect">
                                  <p:stCondLst>
                                    <p:cond delay="0"/>
                                  </p:stCondLst>
                                  <p:childTnLst>
                                    <p:animMotion origin="layout" path="M -2.08333E-7 1.85185E-6 L -0.03099 0.06157 " pathEditMode="relative" rAng="0" ptsTypes="AA">
                                      <p:cBhvr>
                                        <p:cTn id="60" dur="4000" fill="hold"/>
                                        <p:tgtEl>
                                          <p:spTgt spid="35"/>
                                        </p:tgtEl>
                                        <p:attrNameLst>
                                          <p:attrName>ppt_x</p:attrName>
                                          <p:attrName>ppt_y</p:attrName>
                                        </p:attrNameLst>
                                      </p:cBhvr>
                                      <p:rCtr x="-1549" y="3079"/>
                                    </p:animMotion>
                                  </p:childTnLst>
                                </p:cTn>
                              </p:par>
                            </p:childTnLst>
                          </p:cTn>
                        </p:par>
                        <p:par>
                          <p:cTn id="61" fill="hold">
                            <p:stCondLst>
                              <p:cond delay="5500"/>
                            </p:stCondLst>
                            <p:childTnLst>
                              <p:par>
                                <p:cTn id="62" presetID="6" presetClass="exit" presetSubtype="32" fill="hold" nodeType="afterEffect">
                                  <p:stCondLst>
                                    <p:cond delay="0"/>
                                  </p:stCondLst>
                                  <p:childTnLst>
                                    <p:animEffect transition="out" filter="circle(out)">
                                      <p:cBhvr>
                                        <p:cTn id="63" dur="2250"/>
                                        <p:tgtEl>
                                          <p:spTgt spid="35"/>
                                        </p:tgtEl>
                                      </p:cBhvr>
                                    </p:animEffect>
                                    <p:set>
                                      <p:cBhvr>
                                        <p:cTn id="64" dur="1" fill="hold">
                                          <p:stCondLst>
                                            <p:cond delay="2249"/>
                                          </p:stCondLst>
                                        </p:cTn>
                                        <p:tgtEl>
                                          <p:spTgt spid="35"/>
                                        </p:tgtEl>
                                        <p:attrNameLst>
                                          <p:attrName>style.visibility</p:attrName>
                                        </p:attrNameLst>
                                      </p:cBhvr>
                                      <p:to>
                                        <p:strVal val="hidden"/>
                                      </p:to>
                                    </p:set>
                                  </p:childTnLst>
                                  <p:subTnLst>
                                    <p:audio>
                                      <p:cMediaNode mute="1">
                                        <p:cTn display="0" masterRel="sameClick">
                                          <p:stCondLst>
                                            <p:cond evt="begin" delay="0">
                                              <p:tn val="62"/>
                                            </p:cond>
                                          </p:stCondLst>
                                          <p:endCondLst>
                                            <p:cond evt="onStopAudio" delay="0">
                                              <p:tgtEl>
                                                <p:sldTgt/>
                                              </p:tgtEl>
                                            </p:cond>
                                          </p:endCondLst>
                                        </p:cTn>
                                        <p:tgtEl>
                                          <p:sndTgt r:embed="rId2" name="whoosh.wav"/>
                                        </p:tgtEl>
                                      </p:cMediaNode>
                                    </p:audio>
                                  </p:subTnLst>
                                </p:cTn>
                              </p:par>
                              <p:par>
                                <p:cTn id="65" presetID="6" presetClass="exit" presetSubtype="32" fill="hold" nodeType="withEffect">
                                  <p:stCondLst>
                                    <p:cond delay="0"/>
                                  </p:stCondLst>
                                  <p:childTnLst>
                                    <p:animEffect transition="out" filter="circle(out)">
                                      <p:cBhvr>
                                        <p:cTn id="66" dur="2000"/>
                                        <p:tgtEl>
                                          <p:spTgt spid="40"/>
                                        </p:tgtEl>
                                      </p:cBhvr>
                                    </p:animEffect>
                                    <p:set>
                                      <p:cBhvr>
                                        <p:cTn id="67" dur="1" fill="hold">
                                          <p:stCondLst>
                                            <p:cond delay="1999"/>
                                          </p:stCondLst>
                                        </p:cTn>
                                        <p:tgtEl>
                                          <p:spTgt spid="40"/>
                                        </p:tgtEl>
                                        <p:attrNameLst>
                                          <p:attrName>style.visibility</p:attrName>
                                        </p:attrNameLst>
                                      </p:cBhvr>
                                      <p:to>
                                        <p:strVal val="hidden"/>
                                      </p:to>
                                    </p:set>
                                  </p:childTnLst>
                                </p:cTn>
                              </p:par>
                              <p:par>
                                <p:cTn id="68" presetID="6" presetClass="exit" presetSubtype="32" fill="hold" nodeType="withEffect">
                                  <p:stCondLst>
                                    <p:cond delay="0"/>
                                  </p:stCondLst>
                                  <p:childTnLst>
                                    <p:animEffect transition="out" filter="circle(out)">
                                      <p:cBhvr>
                                        <p:cTn id="69" dur="2000"/>
                                        <p:tgtEl>
                                          <p:spTgt spid="63"/>
                                        </p:tgtEl>
                                      </p:cBhvr>
                                    </p:animEffect>
                                    <p:set>
                                      <p:cBhvr>
                                        <p:cTn id="70" dur="1" fill="hold">
                                          <p:stCondLst>
                                            <p:cond delay="1999"/>
                                          </p:stCondLst>
                                        </p:cTn>
                                        <p:tgtEl>
                                          <p:spTgt spid="63"/>
                                        </p:tgtEl>
                                        <p:attrNameLst>
                                          <p:attrName>style.visibility</p:attrName>
                                        </p:attrNameLst>
                                      </p:cBhvr>
                                      <p:to>
                                        <p:strVal val="hidden"/>
                                      </p:to>
                                    </p:set>
                                  </p:childTnLst>
                                </p:cTn>
                              </p:par>
                              <p:par>
                                <p:cTn id="71" presetID="6" presetClass="exit" presetSubtype="32" fill="hold" nodeType="withEffect">
                                  <p:stCondLst>
                                    <p:cond delay="0"/>
                                  </p:stCondLst>
                                  <p:childTnLst>
                                    <p:animEffect transition="out" filter="circle(out)">
                                      <p:cBhvr>
                                        <p:cTn id="72" dur="2000"/>
                                        <p:tgtEl>
                                          <p:spTgt spid="39"/>
                                        </p:tgtEl>
                                      </p:cBhvr>
                                    </p:animEffect>
                                    <p:set>
                                      <p:cBhvr>
                                        <p:cTn id="73" dur="1" fill="hold">
                                          <p:stCondLst>
                                            <p:cond delay="1999"/>
                                          </p:stCondLst>
                                        </p:cTn>
                                        <p:tgtEl>
                                          <p:spTgt spid="39"/>
                                        </p:tgtEl>
                                        <p:attrNameLst>
                                          <p:attrName>style.visibility</p:attrName>
                                        </p:attrNameLst>
                                      </p:cBhvr>
                                      <p:to>
                                        <p:strVal val="hidden"/>
                                      </p:to>
                                    </p:set>
                                  </p:childTnLst>
                                </p:cTn>
                              </p:par>
                              <p:par>
                                <p:cTn id="74" presetID="6" presetClass="exit" presetSubtype="32" fill="hold" nodeType="withEffect">
                                  <p:stCondLst>
                                    <p:cond delay="0"/>
                                  </p:stCondLst>
                                  <p:childTnLst>
                                    <p:animEffect transition="out" filter="circle(out)">
                                      <p:cBhvr>
                                        <p:cTn id="75" dur="2000"/>
                                        <p:tgtEl>
                                          <p:spTgt spid="42"/>
                                        </p:tgtEl>
                                      </p:cBhvr>
                                    </p:animEffect>
                                    <p:set>
                                      <p:cBhvr>
                                        <p:cTn id="76" dur="1" fill="hold">
                                          <p:stCondLst>
                                            <p:cond delay="1999"/>
                                          </p:stCondLst>
                                        </p:cTn>
                                        <p:tgtEl>
                                          <p:spTgt spid="42"/>
                                        </p:tgtEl>
                                        <p:attrNameLst>
                                          <p:attrName>style.visibility</p:attrName>
                                        </p:attrNameLst>
                                      </p:cBhvr>
                                      <p:to>
                                        <p:strVal val="hidden"/>
                                      </p:to>
                                    </p:set>
                                  </p:childTnLst>
                                </p:cTn>
                              </p:par>
                              <p:par>
                                <p:cTn id="77" presetID="6" presetClass="exit" presetSubtype="32" fill="hold" nodeType="withEffect">
                                  <p:stCondLst>
                                    <p:cond delay="0"/>
                                  </p:stCondLst>
                                  <p:childTnLst>
                                    <p:animEffect transition="out" filter="circle(out)">
                                      <p:cBhvr>
                                        <p:cTn id="78" dur="2000"/>
                                        <p:tgtEl>
                                          <p:spTgt spid="41"/>
                                        </p:tgtEl>
                                      </p:cBhvr>
                                    </p:animEffect>
                                    <p:set>
                                      <p:cBhvr>
                                        <p:cTn id="79" dur="1" fill="hold">
                                          <p:stCondLst>
                                            <p:cond delay="1999"/>
                                          </p:stCondLst>
                                        </p:cTn>
                                        <p:tgtEl>
                                          <p:spTgt spid="41"/>
                                        </p:tgtEl>
                                        <p:attrNameLst>
                                          <p:attrName>style.visibility</p:attrName>
                                        </p:attrNameLst>
                                      </p:cBhvr>
                                      <p:to>
                                        <p:strVal val="hidden"/>
                                      </p:to>
                                    </p:set>
                                  </p:childTnLst>
                                </p:cTn>
                              </p:par>
                              <p:par>
                                <p:cTn id="80" presetID="6" presetClass="exit" presetSubtype="32" fill="hold" nodeType="withEffect">
                                  <p:stCondLst>
                                    <p:cond delay="0"/>
                                  </p:stCondLst>
                                  <p:childTnLst>
                                    <p:animEffect transition="out" filter="circle(out)">
                                      <p:cBhvr>
                                        <p:cTn id="81" dur="2000"/>
                                        <p:tgtEl>
                                          <p:spTgt spid="38"/>
                                        </p:tgtEl>
                                      </p:cBhvr>
                                    </p:animEffect>
                                    <p:set>
                                      <p:cBhvr>
                                        <p:cTn id="82" dur="1" fill="hold">
                                          <p:stCondLst>
                                            <p:cond delay="19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6097379" y="3981134"/>
            <a:ext cx="2213483" cy="2023412"/>
            <a:chOff x="1164771" y="1415142"/>
            <a:chExt cx="1475655" cy="1348941"/>
          </a:xfrm>
          <a:effectLst>
            <a:outerShdw blurRad="50800" dist="38100" dir="2700000" algn="tl" rotWithShape="0">
              <a:prstClr val="black">
                <a:alpha val="40000"/>
              </a:prstClr>
            </a:outerShdw>
          </a:effectLst>
        </p:grpSpPr>
        <p:sp>
          <p:nvSpPr>
            <p:cNvPr id="11" name="Rounded Rectangle 10"/>
            <p:cNvSpPr/>
            <p:nvPr/>
          </p:nvSpPr>
          <p:spPr>
            <a:xfrm>
              <a:off x="1164772" y="1415142"/>
              <a:ext cx="1344148" cy="1348941"/>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sz="2700" dirty="0"/>
            </a:p>
          </p:txBody>
        </p:sp>
        <p:sp>
          <p:nvSpPr>
            <p:cNvPr id="12" name="Oval 11"/>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12"/>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13"/>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14"/>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15"/>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Flowchart: Connector 18"/>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0" name="Flowchart: Connector 19"/>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1" name="Flowchart: Connector 20"/>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2" name="Flowchart: Connector 21"/>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3" name="Flowchart: Connector 22"/>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6" name="Freeform 25"/>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28" name="Straight Connector 2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1352906" y="1640490"/>
              <a:ext cx="517468" cy="517803"/>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673922" y="1453835"/>
              <a:ext cx="966504" cy="430887"/>
            </a:xfrm>
            <a:prstGeom prst="rect">
              <a:avLst/>
            </a:prstGeom>
            <a:noFill/>
          </p:spPr>
          <p:txBody>
            <a:bodyPr wrap="square" rtlCol="0">
              <a:spAutoFit/>
            </a:bodyPr>
            <a:lstStyle/>
            <a:p>
              <a:r>
                <a:rPr lang="en-US" sz="3600" b="1" dirty="0"/>
                <a:t>CDS</a:t>
              </a:r>
              <a:endParaRPr lang="en-US" sz="2700" b="1" dirty="0"/>
            </a:p>
          </p:txBody>
        </p:sp>
      </p:grpSp>
      <p:grpSp>
        <p:nvGrpSpPr>
          <p:cNvPr id="61" name="!!Group 60"/>
          <p:cNvGrpSpPr/>
          <p:nvPr/>
        </p:nvGrpSpPr>
        <p:grpSpPr>
          <a:xfrm>
            <a:off x="2570752" y="4053994"/>
            <a:ext cx="2213483" cy="2023412"/>
            <a:chOff x="1164771" y="1415142"/>
            <a:chExt cx="1475655" cy="1348941"/>
          </a:xfrm>
          <a:effectLst>
            <a:outerShdw blurRad="50800" dist="38100" dir="2700000" algn="tl" rotWithShape="0">
              <a:prstClr val="black">
                <a:alpha val="40000"/>
              </a:prstClr>
            </a:outerShdw>
          </a:effectLst>
        </p:grpSpPr>
        <p:sp>
          <p:nvSpPr>
            <p:cNvPr id="62" name="Rounded Rectangle 61"/>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63" name="Oval 62"/>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4" name="Oval 63"/>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5" name="Oval 64"/>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6" name="Oval 65"/>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7" name="Oval 66"/>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8" name="Flowchart: Connector 67"/>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69" name="Flowchart: Connector 68"/>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0" name="Flowchart: Connector 69"/>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1" name="Flowchart: Connector 70"/>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2" name="Flowchart: Connector 71"/>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3" name="Freeform 72"/>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74" name="Straight Connector 73"/>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Arrow Connector 74"/>
            <p:cNvCxnSpPr/>
            <p:nvPr/>
          </p:nvCxnSpPr>
          <p:spPr>
            <a:xfrm>
              <a:off x="1329321" y="1885455"/>
              <a:ext cx="582713" cy="500240"/>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76" name="TextBox 75"/>
            <p:cNvSpPr txBox="1"/>
            <p:nvPr/>
          </p:nvSpPr>
          <p:spPr>
            <a:xfrm>
              <a:off x="1673922" y="1423756"/>
              <a:ext cx="966504" cy="430887"/>
            </a:xfrm>
            <a:prstGeom prst="rect">
              <a:avLst/>
            </a:prstGeom>
            <a:noFill/>
          </p:spPr>
          <p:txBody>
            <a:bodyPr wrap="square" rtlCol="0">
              <a:spAutoFit/>
            </a:bodyPr>
            <a:lstStyle/>
            <a:p>
              <a:r>
                <a:rPr lang="en-US" sz="3600" b="1" dirty="0"/>
                <a:t>DDS</a:t>
              </a:r>
              <a:endParaRPr lang="en-US" sz="2700" b="1" dirty="0"/>
            </a:p>
          </p:txBody>
        </p:sp>
      </p:grpSp>
      <p:grpSp>
        <p:nvGrpSpPr>
          <p:cNvPr id="98" name="!!Group 97"/>
          <p:cNvGrpSpPr/>
          <p:nvPr/>
        </p:nvGrpSpPr>
        <p:grpSpPr>
          <a:xfrm>
            <a:off x="9451586" y="3505639"/>
            <a:ext cx="2918702" cy="2584046"/>
            <a:chOff x="5334460" y="3172266"/>
            <a:chExt cx="1786183" cy="1355809"/>
          </a:xfrm>
          <a:effectLst>
            <a:outerShdw blurRad="50800" dist="38100" dir="2700000" algn="tl" rotWithShape="0">
              <a:prstClr val="black">
                <a:alpha val="40000"/>
              </a:prstClr>
            </a:outerShdw>
          </a:effectLst>
        </p:grpSpPr>
        <p:grpSp>
          <p:nvGrpSpPr>
            <p:cNvPr id="77" name="Group 76"/>
            <p:cNvGrpSpPr/>
            <p:nvPr/>
          </p:nvGrpSpPr>
          <p:grpSpPr>
            <a:xfrm>
              <a:off x="5334460" y="3172266"/>
              <a:ext cx="1499713" cy="1355809"/>
              <a:chOff x="1164771" y="1408274"/>
              <a:chExt cx="1499713" cy="1355809"/>
            </a:xfrm>
          </p:grpSpPr>
          <p:sp>
            <p:nvSpPr>
              <p:cNvPr id="78" name="Rounded Rectangle 77"/>
              <p:cNvSpPr/>
              <p:nvPr/>
            </p:nvSpPr>
            <p:spPr>
              <a:xfrm>
                <a:off x="1164772" y="1415142"/>
                <a:ext cx="1344148" cy="1348941"/>
              </a:xfrm>
              <a:prstGeom prst="roundRect">
                <a:avLst/>
              </a:prstGeom>
              <a:ln w="28575">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79" name="Oval 78"/>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0" name="Oval 79"/>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1" name="Oval 80"/>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2" name="Oval 81"/>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3" name="Oval 82"/>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4" name="Flowchart: Connector 83"/>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5" name="Flowchart: Connector 84"/>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6" name="Flowchart: Connector 85"/>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7" name="Flowchart: Connector 86"/>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8" name="Flowchart: Connector 87"/>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9" name="Freeform 88"/>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90" name="Straight Connector 89"/>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a:off x="1513114" y="1621384"/>
                <a:ext cx="487073" cy="350699"/>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92" name="TextBox 91"/>
              <p:cNvSpPr txBox="1"/>
              <p:nvPr/>
            </p:nvSpPr>
            <p:spPr>
              <a:xfrm>
                <a:off x="1697980" y="1408274"/>
                <a:ext cx="966504" cy="339120"/>
              </a:xfrm>
              <a:prstGeom prst="rect">
                <a:avLst/>
              </a:prstGeom>
              <a:noFill/>
            </p:spPr>
            <p:txBody>
              <a:bodyPr wrap="square" rtlCol="0">
                <a:spAutoFit/>
              </a:bodyPr>
              <a:lstStyle/>
              <a:p>
                <a:r>
                  <a:rPr lang="en-US" sz="3600" b="1" dirty="0"/>
                  <a:t>HDS</a:t>
                </a:r>
                <a:endParaRPr lang="en-US" sz="2700" b="1" dirty="0"/>
              </a:p>
            </p:txBody>
          </p:sp>
        </p:grpSp>
        <p:pic>
          <p:nvPicPr>
            <p:cNvPr id="94" name="Picture 9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483" y="3317994"/>
              <a:ext cx="1775160" cy="794249"/>
            </a:xfrm>
            <a:prstGeom prst="rect">
              <a:avLst/>
            </a:prstGeom>
          </p:spPr>
        </p:pic>
      </p:grpSp>
      <p:grpSp>
        <p:nvGrpSpPr>
          <p:cNvPr id="101" name="Group 100"/>
          <p:cNvGrpSpPr/>
          <p:nvPr/>
        </p:nvGrpSpPr>
        <p:grpSpPr>
          <a:xfrm>
            <a:off x="13169816" y="4059867"/>
            <a:ext cx="2330019" cy="2028741"/>
            <a:chOff x="5929826" y="2123739"/>
            <a:chExt cx="1553346" cy="1352494"/>
          </a:xfrm>
          <a:effectLst>
            <a:outerShdw blurRad="50800" dist="38100" dir="2700000" algn="tl" rotWithShape="0">
              <a:prstClr val="black">
                <a:alpha val="40000"/>
              </a:prstClr>
            </a:outerShdw>
          </a:effectLst>
        </p:grpSpPr>
        <p:grpSp>
          <p:nvGrpSpPr>
            <p:cNvPr id="45" name="Group 44"/>
            <p:cNvGrpSpPr/>
            <p:nvPr/>
          </p:nvGrpSpPr>
          <p:grpSpPr>
            <a:xfrm>
              <a:off x="5929826" y="2123739"/>
              <a:ext cx="1553346" cy="1352494"/>
              <a:chOff x="1164771" y="1411589"/>
              <a:chExt cx="1553346" cy="1352494"/>
            </a:xfrm>
          </p:grpSpPr>
          <p:sp>
            <p:nvSpPr>
              <p:cNvPr id="46" name="Rounded Rectangle 45"/>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47" name="Oval 46"/>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8" name="Oval 47"/>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Oval 48"/>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0" name="Oval 49"/>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Oval 50"/>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2" name="Flowchart: Connector 51"/>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3" name="Flowchart: Connector 52"/>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4" name="Flowchart: Connector 53"/>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5" name="Flowchart: Connector 54"/>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6" name="Flowchart: Connector 55"/>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7" name="Freeform 56"/>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8" name="Straight Connector 5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Arrow Connector 58"/>
              <p:cNvCxnSpPr/>
              <p:nvPr/>
            </p:nvCxnSpPr>
            <p:spPr>
              <a:xfrm>
                <a:off x="1471134" y="1715094"/>
                <a:ext cx="518741" cy="355165"/>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751613" y="1411589"/>
                <a:ext cx="966504" cy="430887"/>
              </a:xfrm>
              <a:prstGeom prst="rect">
                <a:avLst/>
              </a:prstGeom>
              <a:noFill/>
            </p:spPr>
            <p:txBody>
              <a:bodyPr wrap="square" rtlCol="0">
                <a:spAutoFit/>
              </a:bodyPr>
              <a:lstStyle/>
              <a:p>
                <a:r>
                  <a:rPr lang="en-US" sz="3600" b="1" dirty="0"/>
                  <a:t>FDS</a:t>
                </a:r>
                <a:endParaRPr lang="en-US" sz="2700" b="1" dirty="0"/>
              </a:p>
            </p:txBody>
          </p:sp>
        </p:grpSp>
        <p:pic>
          <p:nvPicPr>
            <p:cNvPr id="100" name="Picture 99"/>
            <p:cNvPicPr>
              <a:picLocks noChangeAspect="1"/>
            </p:cNvPicPr>
            <p:nvPr/>
          </p:nvPicPr>
          <p:blipFill rotWithShape="1">
            <a:blip r:embed="rId2">
              <a:extLst>
                <a:ext uri="{28A0092B-C50C-407E-A947-70E740481C1C}">
                  <a14:useLocalDpi xmlns:a14="http://schemas.microsoft.com/office/drawing/2010/main" val="0"/>
                </a:ext>
              </a:extLst>
            </a:blip>
            <a:srcRect l="33989" t="23073" r="30758" b="22442"/>
            <a:stretch/>
          </p:blipFill>
          <p:spPr>
            <a:xfrm>
              <a:off x="6556242" y="2437939"/>
              <a:ext cx="674914" cy="479708"/>
            </a:xfrm>
            <a:prstGeom prst="rect">
              <a:avLst/>
            </a:prstGeom>
          </p:spPr>
        </p:pic>
      </p:grpSp>
    </p:spTree>
    <p:extLst>
      <p:ext uri="{BB962C8B-B14F-4D97-AF65-F5344CB8AC3E}">
        <p14:creationId xmlns:p14="http://schemas.microsoft.com/office/powerpoint/2010/main" val="902111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6097379" y="3981134"/>
            <a:ext cx="2213483" cy="2023412"/>
            <a:chOff x="1164771" y="1415142"/>
            <a:chExt cx="1475655" cy="1348941"/>
          </a:xfrm>
          <a:effectLst>
            <a:outerShdw blurRad="50800" dist="38100" dir="2700000" algn="tl" rotWithShape="0">
              <a:prstClr val="black">
                <a:alpha val="40000"/>
              </a:prstClr>
            </a:outerShdw>
          </a:effectLst>
        </p:grpSpPr>
        <p:sp>
          <p:nvSpPr>
            <p:cNvPr id="11" name="Rounded Rectangle 10"/>
            <p:cNvSpPr/>
            <p:nvPr/>
          </p:nvSpPr>
          <p:spPr>
            <a:xfrm>
              <a:off x="1164772" y="1415142"/>
              <a:ext cx="1344148" cy="1348941"/>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sz="2700" dirty="0"/>
            </a:p>
          </p:txBody>
        </p:sp>
        <p:sp>
          <p:nvSpPr>
            <p:cNvPr id="12" name="Oval 11"/>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Oval 12"/>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13"/>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14"/>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15"/>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Flowchart: Connector 18"/>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0" name="Flowchart: Connector 19"/>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1" name="Flowchart: Connector 20"/>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2" name="Flowchart: Connector 21"/>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3" name="Flowchart: Connector 22"/>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26" name="Freeform 25"/>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28" name="Straight Connector 2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1352906" y="1640490"/>
              <a:ext cx="517468" cy="517803"/>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673922" y="1453835"/>
              <a:ext cx="966504" cy="430887"/>
            </a:xfrm>
            <a:prstGeom prst="rect">
              <a:avLst/>
            </a:prstGeom>
            <a:noFill/>
          </p:spPr>
          <p:txBody>
            <a:bodyPr wrap="square" rtlCol="0">
              <a:spAutoFit/>
            </a:bodyPr>
            <a:lstStyle/>
            <a:p>
              <a:r>
                <a:rPr lang="en-US" sz="3600" b="1" dirty="0"/>
                <a:t>CDS</a:t>
              </a:r>
              <a:endParaRPr lang="en-US" sz="2700" b="1" dirty="0"/>
            </a:p>
          </p:txBody>
        </p:sp>
      </p:grpSp>
      <p:grpSp>
        <p:nvGrpSpPr>
          <p:cNvPr id="61" name="!!Group 60"/>
          <p:cNvGrpSpPr/>
          <p:nvPr/>
        </p:nvGrpSpPr>
        <p:grpSpPr>
          <a:xfrm>
            <a:off x="2570752" y="4053994"/>
            <a:ext cx="2213483" cy="2023412"/>
            <a:chOff x="1164771" y="1415142"/>
            <a:chExt cx="1475655" cy="1348941"/>
          </a:xfrm>
          <a:effectLst>
            <a:outerShdw blurRad="50800" dist="38100" dir="2700000" algn="tl" rotWithShape="0">
              <a:prstClr val="black">
                <a:alpha val="40000"/>
              </a:prstClr>
            </a:outerShdw>
          </a:effectLst>
        </p:grpSpPr>
        <p:sp>
          <p:nvSpPr>
            <p:cNvPr id="62" name="Rounded Rectangle 61"/>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63" name="Oval 62"/>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4" name="Oval 63"/>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5" name="Oval 64"/>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6" name="Oval 65"/>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7" name="Oval 66"/>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8" name="Flowchart: Connector 67"/>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69" name="Flowchart: Connector 68"/>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0" name="Flowchart: Connector 69"/>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1" name="Flowchart: Connector 70"/>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2" name="Flowchart: Connector 71"/>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73" name="Freeform 72"/>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74" name="Straight Connector 73"/>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Arrow Connector 74"/>
            <p:cNvCxnSpPr/>
            <p:nvPr/>
          </p:nvCxnSpPr>
          <p:spPr>
            <a:xfrm>
              <a:off x="1329321" y="1885455"/>
              <a:ext cx="582713" cy="500240"/>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76" name="TextBox 75"/>
            <p:cNvSpPr txBox="1"/>
            <p:nvPr/>
          </p:nvSpPr>
          <p:spPr>
            <a:xfrm>
              <a:off x="1673922" y="1423756"/>
              <a:ext cx="966504" cy="430887"/>
            </a:xfrm>
            <a:prstGeom prst="rect">
              <a:avLst/>
            </a:prstGeom>
            <a:noFill/>
          </p:spPr>
          <p:txBody>
            <a:bodyPr wrap="square" rtlCol="0">
              <a:spAutoFit/>
            </a:bodyPr>
            <a:lstStyle/>
            <a:p>
              <a:r>
                <a:rPr lang="en-US" sz="3600" b="1" dirty="0"/>
                <a:t>DDS</a:t>
              </a:r>
              <a:endParaRPr lang="en-US" sz="2700" b="1" dirty="0"/>
            </a:p>
          </p:txBody>
        </p:sp>
      </p:grpSp>
      <p:grpSp>
        <p:nvGrpSpPr>
          <p:cNvPr id="98" name="!!Group 97"/>
          <p:cNvGrpSpPr/>
          <p:nvPr/>
        </p:nvGrpSpPr>
        <p:grpSpPr>
          <a:xfrm>
            <a:off x="9663252" y="4034804"/>
            <a:ext cx="2707035" cy="2033714"/>
            <a:chOff x="5334460" y="3172266"/>
            <a:chExt cx="1786183" cy="1355809"/>
          </a:xfrm>
          <a:effectLst>
            <a:outerShdw blurRad="50800" dist="38100" dir="2700000" algn="tl" rotWithShape="0">
              <a:prstClr val="black">
                <a:alpha val="40000"/>
              </a:prstClr>
            </a:outerShdw>
          </a:effectLst>
        </p:grpSpPr>
        <p:grpSp>
          <p:nvGrpSpPr>
            <p:cNvPr id="77" name="Group 76"/>
            <p:cNvGrpSpPr/>
            <p:nvPr/>
          </p:nvGrpSpPr>
          <p:grpSpPr>
            <a:xfrm>
              <a:off x="5334460" y="3172266"/>
              <a:ext cx="1499713" cy="1355809"/>
              <a:chOff x="1164771" y="1408274"/>
              <a:chExt cx="1499713" cy="1355809"/>
            </a:xfrm>
          </p:grpSpPr>
          <p:sp>
            <p:nvSpPr>
              <p:cNvPr id="78" name="Rounded Rectangle 77"/>
              <p:cNvSpPr/>
              <p:nvPr/>
            </p:nvSpPr>
            <p:spPr>
              <a:xfrm>
                <a:off x="1164772" y="1415142"/>
                <a:ext cx="1344148" cy="1348941"/>
              </a:xfrm>
              <a:prstGeom prst="roundRect">
                <a:avLst/>
              </a:prstGeom>
              <a:ln w="28575">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79" name="Oval 78"/>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0" name="Oval 79"/>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1" name="Oval 80"/>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2" name="Oval 81"/>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3" name="Oval 82"/>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4" name="Flowchart: Connector 83"/>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5" name="Flowchart: Connector 84"/>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6" name="Flowchart: Connector 85"/>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7" name="Flowchart: Connector 86"/>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8" name="Flowchart: Connector 87"/>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89" name="Freeform 88"/>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90" name="Straight Connector 89"/>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a:off x="1513114" y="1621384"/>
                <a:ext cx="487073" cy="350699"/>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92" name="TextBox 91"/>
              <p:cNvSpPr txBox="1"/>
              <p:nvPr/>
            </p:nvSpPr>
            <p:spPr>
              <a:xfrm>
                <a:off x="1697980" y="1408274"/>
                <a:ext cx="966504" cy="430887"/>
              </a:xfrm>
              <a:prstGeom prst="rect">
                <a:avLst/>
              </a:prstGeom>
              <a:noFill/>
            </p:spPr>
            <p:txBody>
              <a:bodyPr wrap="square" rtlCol="0">
                <a:spAutoFit/>
              </a:bodyPr>
              <a:lstStyle/>
              <a:p>
                <a:r>
                  <a:rPr lang="en-US" sz="3600" b="1" dirty="0"/>
                  <a:t>HDS</a:t>
                </a:r>
                <a:endParaRPr lang="en-US" sz="2700" b="1" dirty="0"/>
              </a:p>
            </p:txBody>
          </p:sp>
        </p:grpSp>
        <p:pic>
          <p:nvPicPr>
            <p:cNvPr id="94" name="Picture 9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483" y="3317994"/>
              <a:ext cx="1775160" cy="794249"/>
            </a:xfrm>
            <a:prstGeom prst="rect">
              <a:avLst/>
            </a:prstGeom>
          </p:spPr>
        </p:pic>
      </p:grpSp>
      <p:grpSp>
        <p:nvGrpSpPr>
          <p:cNvPr id="101" name="Group 100"/>
          <p:cNvGrpSpPr/>
          <p:nvPr/>
        </p:nvGrpSpPr>
        <p:grpSpPr>
          <a:xfrm>
            <a:off x="13063984" y="3615368"/>
            <a:ext cx="2661443" cy="2424780"/>
            <a:chOff x="5929826" y="2123739"/>
            <a:chExt cx="1553346" cy="1352494"/>
          </a:xfrm>
          <a:effectLst>
            <a:outerShdw blurRad="50800" dist="38100" dir="2700000" algn="tl" rotWithShape="0">
              <a:prstClr val="black">
                <a:alpha val="40000"/>
              </a:prstClr>
            </a:outerShdw>
          </a:effectLst>
        </p:grpSpPr>
        <p:grpSp>
          <p:nvGrpSpPr>
            <p:cNvPr id="45" name="Group 44"/>
            <p:cNvGrpSpPr/>
            <p:nvPr/>
          </p:nvGrpSpPr>
          <p:grpSpPr>
            <a:xfrm>
              <a:off x="5929826" y="2123739"/>
              <a:ext cx="1553346" cy="1352494"/>
              <a:chOff x="1164771" y="1411589"/>
              <a:chExt cx="1553346" cy="1352494"/>
            </a:xfrm>
          </p:grpSpPr>
          <p:sp>
            <p:nvSpPr>
              <p:cNvPr id="46" name="Rounded Rectangle 45"/>
              <p:cNvSpPr/>
              <p:nvPr/>
            </p:nvSpPr>
            <p:spPr>
              <a:xfrm>
                <a:off x="1164772" y="1415142"/>
                <a:ext cx="1344148" cy="1348941"/>
              </a:xfrm>
              <a:prstGeom prst="round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dirty="0"/>
              </a:p>
            </p:txBody>
          </p:sp>
          <p:sp>
            <p:nvSpPr>
              <p:cNvPr id="47" name="Oval 46"/>
              <p:cNvSpPr/>
              <p:nvPr/>
            </p:nvSpPr>
            <p:spPr>
              <a:xfrm>
                <a:off x="1320979" y="24699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8" name="Oval 47"/>
              <p:cNvSpPr/>
              <p:nvPr/>
            </p:nvSpPr>
            <p:spPr>
              <a:xfrm>
                <a:off x="1513114" y="250371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Oval 48"/>
              <p:cNvSpPr/>
              <p:nvPr/>
            </p:nvSpPr>
            <p:spPr>
              <a:xfrm>
                <a:off x="2081346" y="25167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0" name="Oval 49"/>
              <p:cNvSpPr/>
              <p:nvPr/>
            </p:nvSpPr>
            <p:spPr>
              <a:xfrm>
                <a:off x="2330085" y="24928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Oval 50"/>
              <p:cNvSpPr/>
              <p:nvPr/>
            </p:nvSpPr>
            <p:spPr>
              <a:xfrm>
                <a:off x="1797230" y="250371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2" name="Flowchart: Connector 51"/>
              <p:cNvSpPr/>
              <p:nvPr/>
            </p:nvSpPr>
            <p:spPr>
              <a:xfrm>
                <a:off x="1575570" y="2350226"/>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3" name="Flowchart: Connector 52"/>
              <p:cNvSpPr/>
              <p:nvPr/>
            </p:nvSpPr>
            <p:spPr>
              <a:xfrm>
                <a:off x="1894252" y="236437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4" name="Flowchart: Connector 53"/>
              <p:cNvSpPr/>
              <p:nvPr/>
            </p:nvSpPr>
            <p:spPr>
              <a:xfrm>
                <a:off x="2107467" y="2373085"/>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5" name="Flowchart: Connector 54"/>
              <p:cNvSpPr/>
              <p:nvPr/>
            </p:nvSpPr>
            <p:spPr>
              <a:xfrm>
                <a:off x="2320682" y="2282730"/>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6" name="Flowchart: Connector 55"/>
              <p:cNvSpPr/>
              <p:nvPr/>
            </p:nvSpPr>
            <p:spPr>
              <a:xfrm>
                <a:off x="1347032" y="2313214"/>
                <a:ext cx="124102" cy="119741"/>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700"/>
              </a:p>
            </p:txBody>
          </p:sp>
          <p:sp>
            <p:nvSpPr>
              <p:cNvPr id="57" name="Freeform 56"/>
              <p:cNvSpPr/>
              <p:nvPr/>
            </p:nvSpPr>
            <p:spPr>
              <a:xfrm>
                <a:off x="1164771" y="2042476"/>
                <a:ext cx="1331762" cy="319724"/>
              </a:xfrm>
              <a:custGeom>
                <a:avLst/>
                <a:gdLst>
                  <a:gd name="connsiteX0" fmla="*/ 0 w 1331762"/>
                  <a:gd name="connsiteY0" fmla="*/ 319724 h 319724"/>
                  <a:gd name="connsiteX1" fmla="*/ 97972 w 1331762"/>
                  <a:gd name="connsiteY1" fmla="*/ 123781 h 319724"/>
                  <a:gd name="connsiteX2" fmla="*/ 185058 w 1331762"/>
                  <a:gd name="connsiteY2" fmla="*/ 232638 h 319724"/>
                  <a:gd name="connsiteX3" fmla="*/ 283029 w 1331762"/>
                  <a:gd name="connsiteY3" fmla="*/ 91124 h 319724"/>
                  <a:gd name="connsiteX4" fmla="*/ 446315 w 1331762"/>
                  <a:gd name="connsiteY4" fmla="*/ 221753 h 319724"/>
                  <a:gd name="connsiteX5" fmla="*/ 587829 w 1331762"/>
                  <a:gd name="connsiteY5" fmla="*/ 58467 h 319724"/>
                  <a:gd name="connsiteX6" fmla="*/ 587829 w 1331762"/>
                  <a:gd name="connsiteY6" fmla="*/ 58467 h 319724"/>
                  <a:gd name="connsiteX7" fmla="*/ 696686 w 1331762"/>
                  <a:gd name="connsiteY7" fmla="*/ 254410 h 319724"/>
                  <a:gd name="connsiteX8" fmla="*/ 772886 w 1331762"/>
                  <a:gd name="connsiteY8" fmla="*/ 47581 h 319724"/>
                  <a:gd name="connsiteX9" fmla="*/ 914400 w 1331762"/>
                  <a:gd name="connsiteY9" fmla="*/ 254410 h 319724"/>
                  <a:gd name="connsiteX10" fmla="*/ 1012372 w 1331762"/>
                  <a:gd name="connsiteY10" fmla="*/ 69353 h 319724"/>
                  <a:gd name="connsiteX11" fmla="*/ 1132115 w 1331762"/>
                  <a:gd name="connsiteY11" fmla="*/ 232638 h 319724"/>
                  <a:gd name="connsiteX12" fmla="*/ 1317172 w 1331762"/>
                  <a:gd name="connsiteY12" fmla="*/ 14924 h 319724"/>
                  <a:gd name="connsiteX13" fmla="*/ 1306286 w 1331762"/>
                  <a:gd name="connsiteY13" fmla="*/ 36695 h 31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1762" h="319724">
                    <a:moveTo>
                      <a:pt x="0" y="319724"/>
                    </a:moveTo>
                    <a:cubicBezTo>
                      <a:pt x="33564" y="229009"/>
                      <a:pt x="67129" y="138295"/>
                      <a:pt x="97972" y="123781"/>
                    </a:cubicBezTo>
                    <a:cubicBezTo>
                      <a:pt x="128815" y="109267"/>
                      <a:pt x="154215" y="238081"/>
                      <a:pt x="185058" y="232638"/>
                    </a:cubicBezTo>
                    <a:cubicBezTo>
                      <a:pt x="215901" y="227195"/>
                      <a:pt x="239486" y="92938"/>
                      <a:pt x="283029" y="91124"/>
                    </a:cubicBezTo>
                    <a:cubicBezTo>
                      <a:pt x="326572" y="89310"/>
                      <a:pt x="395515" y="227196"/>
                      <a:pt x="446315" y="221753"/>
                    </a:cubicBezTo>
                    <a:cubicBezTo>
                      <a:pt x="497115" y="216310"/>
                      <a:pt x="587829" y="58467"/>
                      <a:pt x="587829" y="58467"/>
                    </a:cubicBezTo>
                    <a:lnTo>
                      <a:pt x="587829" y="58467"/>
                    </a:lnTo>
                    <a:cubicBezTo>
                      <a:pt x="605972" y="91124"/>
                      <a:pt x="665843" y="256224"/>
                      <a:pt x="696686" y="254410"/>
                    </a:cubicBezTo>
                    <a:cubicBezTo>
                      <a:pt x="727529" y="252596"/>
                      <a:pt x="736600" y="47581"/>
                      <a:pt x="772886" y="47581"/>
                    </a:cubicBezTo>
                    <a:cubicBezTo>
                      <a:pt x="809172" y="47581"/>
                      <a:pt x="874486" y="250781"/>
                      <a:pt x="914400" y="254410"/>
                    </a:cubicBezTo>
                    <a:cubicBezTo>
                      <a:pt x="954314" y="258039"/>
                      <a:pt x="976086" y="72982"/>
                      <a:pt x="1012372" y="69353"/>
                    </a:cubicBezTo>
                    <a:cubicBezTo>
                      <a:pt x="1048658" y="65724"/>
                      <a:pt x="1081315" y="241709"/>
                      <a:pt x="1132115" y="232638"/>
                    </a:cubicBezTo>
                    <a:cubicBezTo>
                      <a:pt x="1182915" y="223567"/>
                      <a:pt x="1288144" y="47581"/>
                      <a:pt x="1317172" y="14924"/>
                    </a:cubicBezTo>
                    <a:cubicBezTo>
                      <a:pt x="1346200" y="-17733"/>
                      <a:pt x="1326243" y="9481"/>
                      <a:pt x="1306286" y="3669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8" name="Straight Connector 57"/>
              <p:cNvCxnSpPr/>
              <p:nvPr/>
            </p:nvCxnSpPr>
            <p:spPr>
              <a:xfrm>
                <a:off x="1175794" y="2023267"/>
                <a:ext cx="1328057"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Arrow Connector 58"/>
              <p:cNvCxnSpPr/>
              <p:nvPr/>
            </p:nvCxnSpPr>
            <p:spPr>
              <a:xfrm>
                <a:off x="1471134" y="1715094"/>
                <a:ext cx="518741" cy="355165"/>
              </a:xfrm>
              <a:prstGeom prst="straightConnector1">
                <a:avLst/>
              </a:prstGeom>
              <a:ln w="57150">
                <a:solidFill>
                  <a:schemeClr val="accent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751613" y="1411589"/>
                <a:ext cx="966504" cy="360511"/>
              </a:xfrm>
              <a:prstGeom prst="rect">
                <a:avLst/>
              </a:prstGeom>
              <a:noFill/>
            </p:spPr>
            <p:txBody>
              <a:bodyPr wrap="square" rtlCol="0">
                <a:spAutoFit/>
              </a:bodyPr>
              <a:lstStyle/>
              <a:p>
                <a:r>
                  <a:rPr lang="en-US" sz="3600" b="1" dirty="0"/>
                  <a:t>FDS</a:t>
                </a:r>
                <a:endParaRPr lang="en-US" sz="2700" b="1" dirty="0"/>
              </a:p>
            </p:txBody>
          </p:sp>
        </p:grpSp>
        <p:pic>
          <p:nvPicPr>
            <p:cNvPr id="100" name="Picture 99"/>
            <p:cNvPicPr>
              <a:picLocks noChangeAspect="1"/>
            </p:cNvPicPr>
            <p:nvPr/>
          </p:nvPicPr>
          <p:blipFill rotWithShape="1">
            <a:blip r:embed="rId2">
              <a:extLst>
                <a:ext uri="{28A0092B-C50C-407E-A947-70E740481C1C}">
                  <a14:useLocalDpi xmlns:a14="http://schemas.microsoft.com/office/drawing/2010/main" val="0"/>
                </a:ext>
              </a:extLst>
            </a:blip>
            <a:srcRect l="33989" t="23073" r="30758" b="22442"/>
            <a:stretch/>
          </p:blipFill>
          <p:spPr>
            <a:xfrm>
              <a:off x="6556242" y="2437939"/>
              <a:ext cx="674914" cy="479708"/>
            </a:xfrm>
            <a:prstGeom prst="rect">
              <a:avLst/>
            </a:prstGeom>
          </p:spPr>
        </p:pic>
      </p:grpSp>
    </p:spTree>
    <p:extLst>
      <p:ext uri="{BB962C8B-B14F-4D97-AF65-F5344CB8AC3E}">
        <p14:creationId xmlns:p14="http://schemas.microsoft.com/office/powerpoint/2010/main" val="2429116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625107" y="2206765"/>
            <a:ext cx="5880102" cy="624589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7747" y="2206764"/>
            <a:ext cx="297615" cy="343257"/>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11798" y="2000578"/>
            <a:ext cx="342096" cy="394559"/>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16710" y="2012087"/>
            <a:ext cx="319844" cy="368892"/>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06212" y="2012086"/>
            <a:ext cx="339782" cy="391889"/>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36553" y="2550020"/>
            <a:ext cx="293132" cy="338084"/>
          </a:xfrm>
          <a:prstGeom prst="rect">
            <a:avLst/>
          </a:prstGeom>
        </p:spPr>
      </p:pic>
      <p:grpSp>
        <p:nvGrpSpPr>
          <p:cNvPr id="16" name="Group 15"/>
          <p:cNvGrpSpPr/>
          <p:nvPr/>
        </p:nvGrpSpPr>
        <p:grpSpPr>
          <a:xfrm>
            <a:off x="6337559" y="6137384"/>
            <a:ext cx="924032" cy="848207"/>
            <a:chOff x="10113563" y="5283000"/>
            <a:chExt cx="455337" cy="447078"/>
          </a:xfrm>
        </p:grpSpPr>
        <p:pic>
          <p:nvPicPr>
            <p:cNvPr id="17" name="Picture 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18" name="Picture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19" name="Picture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20" name="Picture 1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21" name="Picture 2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23" name="Picture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24" name="Group 23"/>
          <p:cNvGrpSpPr/>
          <p:nvPr/>
        </p:nvGrpSpPr>
        <p:grpSpPr>
          <a:xfrm>
            <a:off x="6337558" y="8875862"/>
            <a:ext cx="1019726" cy="980520"/>
            <a:chOff x="10113563" y="5283000"/>
            <a:chExt cx="455337" cy="447078"/>
          </a:xfrm>
        </p:grpSpPr>
        <p:pic>
          <p:nvPicPr>
            <p:cNvPr id="25" name="Picture 2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26" name="Picture 2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27" name="Picture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28" name="Picture 2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29" name="Picture 2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30" name="Picture 2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8080" y="5633486"/>
              <a:ext cx="83749" cy="96592"/>
            </a:xfrm>
            <a:prstGeom prst="rect">
              <a:avLst/>
            </a:prstGeom>
          </p:spPr>
        </p:pic>
        <p:pic>
          <p:nvPicPr>
            <p:cNvPr id="31" name="Picture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32" name="Group 31"/>
          <p:cNvGrpSpPr/>
          <p:nvPr/>
        </p:nvGrpSpPr>
        <p:grpSpPr>
          <a:xfrm>
            <a:off x="6510332" y="4057514"/>
            <a:ext cx="683016" cy="782450"/>
            <a:chOff x="10113563" y="5283000"/>
            <a:chExt cx="455337" cy="447078"/>
          </a:xfrm>
        </p:grpSpPr>
        <p:pic>
          <p:nvPicPr>
            <p:cNvPr id="33" name="Picture 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34" name="Picture 3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35" name="Picture 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36" name="Picture 3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37" name="Picture 3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38" name="Picture 3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8079" y="5595490"/>
              <a:ext cx="116693" cy="134588"/>
            </a:xfrm>
            <a:prstGeom prst="rect">
              <a:avLst/>
            </a:prstGeom>
          </p:spPr>
        </p:pic>
        <p:pic>
          <p:nvPicPr>
            <p:cNvPr id="39" name="Picture 3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40" name="Group 39"/>
          <p:cNvGrpSpPr/>
          <p:nvPr/>
        </p:nvGrpSpPr>
        <p:grpSpPr>
          <a:xfrm rot="252824">
            <a:off x="6510332" y="3557594"/>
            <a:ext cx="683016" cy="812387"/>
            <a:chOff x="10113563" y="5283000"/>
            <a:chExt cx="455337" cy="447078"/>
          </a:xfrm>
        </p:grpSpPr>
        <p:pic>
          <p:nvPicPr>
            <p:cNvPr id="41" name="Picture 4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42" name="Picture 4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43" name="Picture 4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44" name="Picture 4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45" name="Pictur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46" name="Picture 4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8080" y="5633486"/>
              <a:ext cx="83749" cy="96592"/>
            </a:xfrm>
            <a:prstGeom prst="rect">
              <a:avLst/>
            </a:prstGeom>
          </p:spPr>
        </p:pic>
        <p:pic>
          <p:nvPicPr>
            <p:cNvPr id="47" name="Picture 4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grpSp>
        <p:nvGrpSpPr>
          <p:cNvPr id="48" name="Group 47"/>
          <p:cNvGrpSpPr/>
          <p:nvPr/>
        </p:nvGrpSpPr>
        <p:grpSpPr>
          <a:xfrm>
            <a:off x="6388871" y="4997004"/>
            <a:ext cx="679376" cy="860052"/>
            <a:chOff x="10113563" y="5283000"/>
            <a:chExt cx="455337" cy="447078"/>
          </a:xfrm>
        </p:grpSpPr>
        <p:pic>
          <p:nvPicPr>
            <p:cNvPr id="49" name="Picture 4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08657" y="5303687"/>
              <a:ext cx="116693" cy="134588"/>
            </a:xfrm>
            <a:prstGeom prst="rect">
              <a:avLst/>
            </a:prstGeom>
          </p:spPr>
        </p:pic>
        <p:pic>
          <p:nvPicPr>
            <p:cNvPr id="50" name="Picture 4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43835" y="5283000"/>
              <a:ext cx="116693" cy="134588"/>
            </a:xfrm>
            <a:prstGeom prst="rect">
              <a:avLst/>
            </a:prstGeom>
          </p:spPr>
        </p:pic>
        <p:pic>
          <p:nvPicPr>
            <p:cNvPr id="51" name="Picture 5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52207" y="5438275"/>
              <a:ext cx="116693" cy="134588"/>
            </a:xfrm>
            <a:prstGeom prst="rect">
              <a:avLst/>
            </a:prstGeom>
          </p:spPr>
        </p:pic>
        <p:pic>
          <p:nvPicPr>
            <p:cNvPr id="52" name="Picture 5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5342" y="5460902"/>
              <a:ext cx="116693" cy="134588"/>
            </a:xfrm>
            <a:prstGeom prst="rect">
              <a:avLst/>
            </a:prstGeom>
          </p:spPr>
        </p:pic>
        <p:pic>
          <p:nvPicPr>
            <p:cNvPr id="53" name="Picture 5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13563" y="5444944"/>
              <a:ext cx="116693" cy="134588"/>
            </a:xfrm>
            <a:prstGeom prst="rect">
              <a:avLst/>
            </a:prstGeom>
          </p:spPr>
        </p:pic>
        <p:pic>
          <p:nvPicPr>
            <p:cNvPr id="54" name="Picture 5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8080" y="5633486"/>
              <a:ext cx="83749" cy="96592"/>
            </a:xfrm>
            <a:prstGeom prst="rect">
              <a:avLst/>
            </a:prstGeom>
          </p:spPr>
        </p:pic>
        <p:pic>
          <p:nvPicPr>
            <p:cNvPr id="55" name="Picture 5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73364" y="5586032"/>
              <a:ext cx="116693" cy="134588"/>
            </a:xfrm>
            <a:prstGeom prst="rect">
              <a:avLst/>
            </a:prstGeom>
          </p:spPr>
        </p:pic>
      </p:grpSp>
      <p:sp>
        <p:nvSpPr>
          <p:cNvPr id="56" name="TextBox 55">
            <a:extLst>
              <a:ext uri="{FF2B5EF4-FFF2-40B4-BE49-F238E27FC236}">
                <a16:creationId xmlns:a16="http://schemas.microsoft.com/office/drawing/2014/main" id="{82F955D3-707C-40BF-9E22-E00521398CF8}"/>
              </a:ext>
            </a:extLst>
          </p:cNvPr>
          <p:cNvSpPr txBox="1"/>
          <p:nvPr/>
        </p:nvSpPr>
        <p:spPr>
          <a:xfrm>
            <a:off x="12243548" y="3025589"/>
            <a:ext cx="5062817" cy="2585323"/>
          </a:xfrm>
          <a:prstGeom prst="rect">
            <a:avLst/>
          </a:prstGeom>
          <a:solidFill>
            <a:schemeClr val="accent6">
              <a:lumMod val="20000"/>
              <a:lumOff val="80000"/>
            </a:schemeClr>
          </a:solidFill>
          <a:ln w="28575"/>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2700" dirty="0"/>
              <a:t>FDS- FOLLICULAR DELIVERY SYSTEM </a:t>
            </a:r>
          </a:p>
          <a:p>
            <a:pPr algn="just"/>
            <a:r>
              <a:rPr lang="en-US" sz="2700" dirty="0"/>
              <a:t>selectively Vehicles the active ingredients to the hair bulb and the sebaceous glands</a:t>
            </a:r>
          </a:p>
          <a:p>
            <a:endParaRPr lang="en-US" sz="2700" dirty="0"/>
          </a:p>
        </p:txBody>
      </p:sp>
    </p:spTree>
    <p:extLst>
      <p:ext uri="{BB962C8B-B14F-4D97-AF65-F5344CB8AC3E}">
        <p14:creationId xmlns:p14="http://schemas.microsoft.com/office/powerpoint/2010/main" val="377039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6" presetClass="emph" presetSubtype="0" fill="hold" nodeType="withEffect">
                                  <p:stCondLst>
                                    <p:cond delay="0"/>
                                  </p:stCondLst>
                                  <p:childTnLst>
                                    <p:animScale>
                                      <p:cBhvr>
                                        <p:cTn id="26" dur="6250" fill="hold"/>
                                        <p:tgtEl>
                                          <p:spTgt spid="6"/>
                                        </p:tgtEl>
                                      </p:cBhvr>
                                      <p:by x="400000" y="400000"/>
                                    </p:animScale>
                                  </p:childTnLst>
                                </p:cTn>
                              </p:par>
                            </p:childTnLst>
                          </p:cTn>
                        </p:par>
                        <p:par>
                          <p:cTn id="27" fill="hold">
                            <p:stCondLst>
                              <p:cond delay="6250"/>
                            </p:stCondLst>
                            <p:childTnLst>
                              <p:par>
                                <p:cTn id="28" presetID="42" presetClass="path" presetSubtype="0" accel="50000" decel="50000" fill="hold" nodeType="afterEffect">
                                  <p:stCondLst>
                                    <p:cond delay="0"/>
                                  </p:stCondLst>
                                  <p:childTnLst>
                                    <p:animMotion origin="layout" path="M -2.08333E-6 0 L 0.05586 0.16551 " pathEditMode="relative" rAng="0" ptsTypes="AA">
                                      <p:cBhvr>
                                        <p:cTn id="29" dur="2000" fill="hold"/>
                                        <p:tgtEl>
                                          <p:spTgt spid="8"/>
                                        </p:tgtEl>
                                        <p:attrNameLst>
                                          <p:attrName>ppt_x</p:attrName>
                                          <p:attrName>ppt_y</p:attrName>
                                        </p:attrNameLst>
                                      </p:cBhvr>
                                      <p:rCtr x="2786" y="8264"/>
                                    </p:animMotion>
                                  </p:childTnLst>
                                </p:cTn>
                              </p:par>
                              <p:par>
                                <p:cTn id="30" presetID="42" presetClass="path" presetSubtype="0" accel="50000" decel="50000" fill="hold" nodeType="withEffect">
                                  <p:stCondLst>
                                    <p:cond delay="0"/>
                                  </p:stCondLst>
                                  <p:childTnLst>
                                    <p:animMotion origin="layout" path="M -8.33333E-7 2.59259E-6 L 0.03438 0.13472 " pathEditMode="relative" rAng="0" ptsTypes="AA">
                                      <p:cBhvr>
                                        <p:cTn id="31" dur="2000" fill="hold"/>
                                        <p:tgtEl>
                                          <p:spTgt spid="9"/>
                                        </p:tgtEl>
                                        <p:attrNameLst>
                                          <p:attrName>ppt_x</p:attrName>
                                          <p:attrName>ppt_y</p:attrName>
                                        </p:attrNameLst>
                                      </p:cBhvr>
                                      <p:rCtr x="1719" y="6736"/>
                                    </p:animMotion>
                                  </p:childTnLst>
                                </p:cTn>
                              </p:par>
                              <p:par>
                                <p:cTn id="32" presetID="42" presetClass="path" presetSubtype="0" accel="50000" decel="50000" fill="hold" nodeType="withEffect">
                                  <p:stCondLst>
                                    <p:cond delay="0"/>
                                  </p:stCondLst>
                                  <p:childTnLst>
                                    <p:animMotion origin="layout" path="M -2.08333E-7 -3.33333E-6 L -0.01693 0.64537 " pathEditMode="relative" rAng="0" ptsTypes="AA">
                                      <p:cBhvr>
                                        <p:cTn id="33" dur="2000" fill="hold"/>
                                        <p:tgtEl>
                                          <p:spTgt spid="11"/>
                                        </p:tgtEl>
                                        <p:attrNameLst>
                                          <p:attrName>ppt_x</p:attrName>
                                          <p:attrName>ppt_y</p:attrName>
                                        </p:attrNameLst>
                                      </p:cBhvr>
                                      <p:rCtr x="-846" y="32269"/>
                                    </p:animMotion>
                                  </p:childTnLst>
                                </p:cTn>
                              </p:par>
                              <p:par>
                                <p:cTn id="34" presetID="0" presetClass="path" presetSubtype="0" accel="50000" decel="50000" fill="hold" nodeType="withEffect">
                                  <p:stCondLst>
                                    <p:cond delay="0"/>
                                  </p:stCondLst>
                                  <p:childTnLst>
                                    <p:animMotion origin="layout" path="M 0.00065 -0.00093 L 0.00065 -0.0007 C -0.00052 0.00301 -0.00182 0.00717 -0.00286 0.01134 C -0.00365 0.01435 -0.00365 0.01805 -0.00469 0.0206 L -0.00807 0.02986 L -0.0099 0.03935 C -0.01016 0.04074 -0.01029 0.04259 -0.01081 0.04398 C -0.01185 0.04699 -0.01354 0.04976 -0.01419 0.05324 C -0.01458 0.05486 -0.01471 0.05648 -0.0151 0.05787 C -0.01615 0.06111 -0.01797 0.06365 -0.01862 0.06713 L -0.02031 0.07638 C -0.02057 0.07801 -0.0207 0.07986 -0.02122 0.08101 C -0.02174 0.08263 -0.02253 0.08402 -0.02292 0.08588 C -0.0237 0.08865 -0.02409 0.09189 -0.02474 0.09513 C -0.025 0.09652 -0.02539 0.09814 -0.02552 0.09976 C -0.02591 0.10185 -0.02604 0.10393 -0.02643 0.10601 C -0.02695 0.10902 -0.02721 0.1125 -0.02812 0.11527 L -0.02995 0.1199 C -0.03177 0.13287 -0.02956 0.1199 -0.03255 0.13078 C -0.0362 0.14351 -0.03021 0.12662 -0.03516 0.14004 C -0.03542 0.14143 -0.03633 0.14907 -0.03685 0.15092 C -0.03789 0.15416 -0.03971 0.15671 -0.04036 0.16018 C -0.04062 0.1618 -0.04102 0.16319 -0.04128 0.16481 C -0.04154 0.16689 -0.04154 0.16921 -0.04219 0.17106 C -0.04245 0.17245 -0.04323 0.17314 -0.04388 0.17407 C -0.04792 0.19583 -0.04323 0.16875 -0.04648 0.19745 C -0.04687 0.20069 -0.04727 0.20393 -0.04818 0.20671 C -0.05026 0.21203 -0.05104 0.21319 -0.05169 0.2206 C -0.05221 0.22523 -0.05273 0.23518 -0.0543 0.23935 C -0.05495 0.24074 -0.05534 0.24259 -0.05612 0.24398 C -0.05677 0.24513 -0.05781 0.24606 -0.05872 0.24699 C -0.05924 0.24861 -0.05977 0.25023 -0.06042 0.25162 C -0.06094 0.25277 -0.06211 0.25463 -0.06211 0.25486 L -0.06211 0.25463 " pathEditMode="relative" rAng="0" ptsTypes="AAAAAAAAAAAAAAAAAAAAAAAAAAAAAAAAAA">
                                      <p:cBhvr>
                                        <p:cTn id="35" dur="2000" fill="hold"/>
                                        <p:tgtEl>
                                          <p:spTgt spid="10"/>
                                        </p:tgtEl>
                                        <p:attrNameLst>
                                          <p:attrName>ppt_x</p:attrName>
                                          <p:attrName>ppt_y</p:attrName>
                                        </p:attrNameLst>
                                      </p:cBhvr>
                                      <p:rCtr x="-3138" y="12778"/>
                                    </p:animMotion>
                                  </p:childTnLst>
                                </p:cTn>
                              </p:par>
                              <p:par>
                                <p:cTn id="36" presetID="0" presetClass="path" presetSubtype="0" accel="50000" decel="50000" fill="hold" nodeType="withEffect">
                                  <p:stCondLst>
                                    <p:cond delay="0"/>
                                  </p:stCondLst>
                                  <p:childTnLst>
                                    <p:animMotion origin="layout" path="M 2.91667E-6 -1.85185E-6 L 2.91667E-6 0.00023 C -0.00117 0.00602 -0.00196 0.01273 -0.00352 0.01852 C -0.00417 0.0206 -0.00482 0.02246 -0.00534 0.02477 C -0.00573 0.02616 -0.00573 0.02801 -0.00612 0.0294 C -0.0069 0.03125 -0.00808 0.03241 -0.00886 0.03403 C -0.00951 0.03542 -0.01003 0.03704 -0.01055 0.03866 C -0.01081 0.04005 -0.01172 0.04769 -0.01224 0.04954 C -0.01328 0.05278 -0.01576 0.0588 -0.01576 0.05903 C -0.01602 0.06088 -0.01615 0.06296 -0.01667 0.06505 C -0.01706 0.06667 -0.01797 0.06806 -0.01836 0.06968 C -0.01888 0.07107 -0.01888 0.07269 -0.01927 0.07431 C -0.01979 0.07639 -0.02058 0.07824 -0.02097 0.08056 C -0.02175 0.08357 -0.02175 0.08704 -0.02279 0.08982 L -0.0263 0.09908 C -0.02657 0.10116 -0.0267 0.10324 -0.02709 0.10533 C -0.02761 0.10695 -0.02839 0.10834 -0.02891 0.10996 C -0.02956 0.11204 -0.03008 0.11412 -0.0306 0.11621 C -0.03216 0.12246 -0.03125 0.12199 -0.03242 0.13009 C -0.0336 0.13889 -0.0336 0.13796 -0.03594 0.14398 C -0.0362 0.1456 -0.03659 0.14722 -0.03672 0.14861 C -0.03711 0.15185 -0.03711 0.15509 -0.03763 0.1581 C -0.03789 0.15972 -0.0388 0.16111 -0.03933 0.16273 C -0.03972 0.16574 -0.03985 0.16898 -0.04024 0.17199 C -0.04076 0.17616 -0.04193 0.18426 -0.04193 0.18449 C -0.04232 0.18959 -0.04206 0.19491 -0.04284 0.19977 C -0.04362 0.2044 -0.04558 0.20787 -0.04636 0.21227 C -0.04688 0.21528 -0.04714 0.21875 -0.04805 0.22153 C -0.0487 0.22315 -0.04935 0.22454 -0.04987 0.22616 C -0.05117 0.23125 -0.05144 0.23727 -0.05339 0.24167 C -0.05443 0.24445 -0.05664 0.24931 -0.05769 0.25255 C -0.05834 0.25463 -0.05899 0.25671 -0.05951 0.2588 C -0.05977 0.26019 -0.0599 0.26204 -0.06029 0.26343 C -0.06081 0.26459 -0.06146 0.26551 -0.06211 0.26644 C -0.06302 0.27176 -0.06302 0.27199 -0.06472 0.27732 C -0.06524 0.27894 -0.06602 0.28033 -0.06641 0.28195 C -0.06719 0.28496 -0.06771 0.2882 -0.06823 0.29144 C -0.06849 0.29352 -0.06849 0.2956 -0.06901 0.29746 C -0.07005 0.30093 -0.07188 0.30324 -0.07253 0.30695 L -0.07604 0.32546 L -0.07696 0.33009 C -0.07722 0.33171 -0.07774 0.3331 -0.07774 0.33472 L -0.07774 0.33796 L -0.07774 0.3382 " pathEditMode="relative" rAng="0" ptsTypes="AAAAAAAAAAAAAAAAAAAAAAAAAAAAAAAAAAAAAAAAAAAA">
                                      <p:cBhvr>
                                        <p:cTn id="37" dur="2000" fill="hold"/>
                                        <p:tgtEl>
                                          <p:spTgt spid="12"/>
                                        </p:tgtEl>
                                        <p:attrNameLst>
                                          <p:attrName>ppt_x</p:attrName>
                                          <p:attrName>ppt_y</p:attrName>
                                        </p:attrNameLst>
                                      </p:cBhvr>
                                      <p:rCtr x="-3893" y="16898"/>
                                    </p:animMotion>
                                  </p:childTnLst>
                                </p:cTn>
                              </p:par>
                            </p:childTnLst>
                          </p:cTn>
                        </p:par>
                        <p:par>
                          <p:cTn id="38" fill="hold">
                            <p:stCondLst>
                              <p:cond delay="8250"/>
                            </p:stCondLst>
                            <p:childTnLst>
                              <p:par>
                                <p:cTn id="39" presetID="6" presetClass="exit" presetSubtype="32" fill="hold" nodeType="afterEffect">
                                  <p:stCondLst>
                                    <p:cond delay="0"/>
                                  </p:stCondLst>
                                  <p:childTnLst>
                                    <p:animEffect transition="out" filter="circle(out)">
                                      <p:cBhvr>
                                        <p:cTn id="40" dur="1500"/>
                                        <p:tgtEl>
                                          <p:spTgt spid="8"/>
                                        </p:tgtEl>
                                      </p:cBhvr>
                                    </p:animEffect>
                                    <p:set>
                                      <p:cBhvr>
                                        <p:cTn id="41" dur="1" fill="hold">
                                          <p:stCondLst>
                                            <p:cond delay="1499"/>
                                          </p:stCondLst>
                                        </p:cTn>
                                        <p:tgtEl>
                                          <p:spTgt spid="8"/>
                                        </p:tgtEl>
                                        <p:attrNameLst>
                                          <p:attrName>style.visibility</p:attrName>
                                        </p:attrNameLst>
                                      </p:cBhvr>
                                      <p:to>
                                        <p:strVal val="hidden"/>
                                      </p:to>
                                    </p:set>
                                  </p:childTnLst>
                                </p:cTn>
                              </p:par>
                              <p:par>
                                <p:cTn id="42" presetID="6" presetClass="exit" presetSubtype="32" fill="hold" nodeType="withEffect">
                                  <p:stCondLst>
                                    <p:cond delay="0"/>
                                  </p:stCondLst>
                                  <p:childTnLst>
                                    <p:animEffect transition="out" filter="circle(out)">
                                      <p:cBhvr>
                                        <p:cTn id="43" dur="1500"/>
                                        <p:tgtEl>
                                          <p:spTgt spid="9"/>
                                        </p:tgtEl>
                                      </p:cBhvr>
                                    </p:animEffect>
                                    <p:set>
                                      <p:cBhvr>
                                        <p:cTn id="44" dur="1" fill="hold">
                                          <p:stCondLst>
                                            <p:cond delay="1499"/>
                                          </p:stCondLst>
                                        </p:cTn>
                                        <p:tgtEl>
                                          <p:spTgt spid="9"/>
                                        </p:tgtEl>
                                        <p:attrNameLst>
                                          <p:attrName>style.visibility</p:attrName>
                                        </p:attrNameLst>
                                      </p:cBhvr>
                                      <p:to>
                                        <p:strVal val="hidden"/>
                                      </p:to>
                                    </p:set>
                                  </p:childTnLst>
                                </p:cTn>
                              </p:par>
                              <p:par>
                                <p:cTn id="45" presetID="6" presetClass="exit" presetSubtype="32" fill="hold" nodeType="withEffect">
                                  <p:stCondLst>
                                    <p:cond delay="0"/>
                                  </p:stCondLst>
                                  <p:childTnLst>
                                    <p:animEffect transition="out" filter="circle(out)">
                                      <p:cBhvr>
                                        <p:cTn id="46" dur="1500"/>
                                        <p:tgtEl>
                                          <p:spTgt spid="11"/>
                                        </p:tgtEl>
                                      </p:cBhvr>
                                    </p:animEffect>
                                    <p:set>
                                      <p:cBhvr>
                                        <p:cTn id="47" dur="1" fill="hold">
                                          <p:stCondLst>
                                            <p:cond delay="1499"/>
                                          </p:stCondLst>
                                        </p:cTn>
                                        <p:tgtEl>
                                          <p:spTgt spid="11"/>
                                        </p:tgtEl>
                                        <p:attrNameLst>
                                          <p:attrName>style.visibility</p:attrName>
                                        </p:attrNameLst>
                                      </p:cBhvr>
                                      <p:to>
                                        <p:strVal val="hidden"/>
                                      </p:to>
                                    </p:set>
                                  </p:childTnLst>
                                </p:cTn>
                              </p:par>
                              <p:par>
                                <p:cTn id="48" presetID="6" presetClass="exit" presetSubtype="32" fill="hold" nodeType="withEffect">
                                  <p:stCondLst>
                                    <p:cond delay="0"/>
                                  </p:stCondLst>
                                  <p:childTnLst>
                                    <p:animEffect transition="out" filter="circle(out)">
                                      <p:cBhvr>
                                        <p:cTn id="49" dur="1500"/>
                                        <p:tgtEl>
                                          <p:spTgt spid="10"/>
                                        </p:tgtEl>
                                      </p:cBhvr>
                                    </p:animEffect>
                                    <p:set>
                                      <p:cBhvr>
                                        <p:cTn id="50" dur="1" fill="hold">
                                          <p:stCondLst>
                                            <p:cond delay="1499"/>
                                          </p:stCondLst>
                                        </p:cTn>
                                        <p:tgtEl>
                                          <p:spTgt spid="10"/>
                                        </p:tgtEl>
                                        <p:attrNameLst>
                                          <p:attrName>style.visibility</p:attrName>
                                        </p:attrNameLst>
                                      </p:cBhvr>
                                      <p:to>
                                        <p:strVal val="hidden"/>
                                      </p:to>
                                    </p:set>
                                  </p:childTnLst>
                                </p:cTn>
                              </p:par>
                              <p:par>
                                <p:cTn id="51" presetID="6" presetClass="exit" presetSubtype="32" fill="hold" nodeType="withEffect">
                                  <p:stCondLst>
                                    <p:cond delay="0"/>
                                  </p:stCondLst>
                                  <p:childTnLst>
                                    <p:animEffect transition="out" filter="circle(out)">
                                      <p:cBhvr>
                                        <p:cTn id="52" dur="1500"/>
                                        <p:tgtEl>
                                          <p:spTgt spid="12"/>
                                        </p:tgtEl>
                                      </p:cBhvr>
                                    </p:animEffect>
                                    <p:set>
                                      <p:cBhvr>
                                        <p:cTn id="53" dur="1" fill="hold">
                                          <p:stCondLst>
                                            <p:cond delay="1499"/>
                                          </p:stCondLst>
                                        </p:cTn>
                                        <p:tgtEl>
                                          <p:spTgt spid="12"/>
                                        </p:tgtEl>
                                        <p:attrNameLst>
                                          <p:attrName>style.visibility</p:attrName>
                                        </p:attrNameLst>
                                      </p:cBhvr>
                                      <p:to>
                                        <p:strVal val="hidden"/>
                                      </p:to>
                                    </p:set>
                                  </p:childTnLst>
                                </p:cTn>
                              </p:par>
                              <p:par>
                                <p:cTn id="54" presetID="53" presetClass="entr" presetSubtype="16" fill="hold" nodeType="withEffect">
                                  <p:stCondLst>
                                    <p:cond delay="250"/>
                                  </p:stCondLst>
                                  <p:childTnLst>
                                    <p:set>
                                      <p:cBhvr>
                                        <p:cTn id="55" dur="1" fill="hold">
                                          <p:stCondLst>
                                            <p:cond delay="0"/>
                                          </p:stCondLst>
                                        </p:cTn>
                                        <p:tgtEl>
                                          <p:spTgt spid="16"/>
                                        </p:tgtEl>
                                        <p:attrNameLst>
                                          <p:attrName>style.visibility</p:attrName>
                                        </p:attrNameLst>
                                      </p:cBhvr>
                                      <p:to>
                                        <p:strVal val="visible"/>
                                      </p:to>
                                    </p:set>
                                    <p:anim calcmode="lin" valueType="num">
                                      <p:cBhvr>
                                        <p:cTn id="56" dur="250" fill="hold"/>
                                        <p:tgtEl>
                                          <p:spTgt spid="16"/>
                                        </p:tgtEl>
                                        <p:attrNameLst>
                                          <p:attrName>ppt_w</p:attrName>
                                        </p:attrNameLst>
                                      </p:cBhvr>
                                      <p:tavLst>
                                        <p:tav tm="0">
                                          <p:val>
                                            <p:fltVal val="0"/>
                                          </p:val>
                                        </p:tav>
                                        <p:tav tm="100000">
                                          <p:val>
                                            <p:strVal val="#ppt_w"/>
                                          </p:val>
                                        </p:tav>
                                      </p:tavLst>
                                    </p:anim>
                                    <p:anim calcmode="lin" valueType="num">
                                      <p:cBhvr>
                                        <p:cTn id="57" dur="250" fill="hold"/>
                                        <p:tgtEl>
                                          <p:spTgt spid="16"/>
                                        </p:tgtEl>
                                        <p:attrNameLst>
                                          <p:attrName>ppt_h</p:attrName>
                                        </p:attrNameLst>
                                      </p:cBhvr>
                                      <p:tavLst>
                                        <p:tav tm="0">
                                          <p:val>
                                            <p:fltVal val="0"/>
                                          </p:val>
                                        </p:tav>
                                        <p:tav tm="100000">
                                          <p:val>
                                            <p:strVal val="#ppt_h"/>
                                          </p:val>
                                        </p:tav>
                                      </p:tavLst>
                                    </p:anim>
                                    <p:animEffect transition="in" filter="fade">
                                      <p:cBhvr>
                                        <p:cTn id="58" dur="250"/>
                                        <p:tgtEl>
                                          <p:spTgt spid="16"/>
                                        </p:tgtEl>
                                      </p:cBhvr>
                                    </p:animEffect>
                                  </p:childTnLst>
                                </p:cTn>
                              </p:par>
                              <p:par>
                                <p:cTn id="59" presetID="53" presetClass="entr" presetSubtype="16" fill="hold" nodeType="withEffect">
                                  <p:stCondLst>
                                    <p:cond delay="250"/>
                                  </p:stCondLst>
                                  <p:childTnLst>
                                    <p:set>
                                      <p:cBhvr>
                                        <p:cTn id="60" dur="1" fill="hold">
                                          <p:stCondLst>
                                            <p:cond delay="0"/>
                                          </p:stCondLst>
                                        </p:cTn>
                                        <p:tgtEl>
                                          <p:spTgt spid="24"/>
                                        </p:tgtEl>
                                        <p:attrNameLst>
                                          <p:attrName>style.visibility</p:attrName>
                                        </p:attrNameLst>
                                      </p:cBhvr>
                                      <p:to>
                                        <p:strVal val="visible"/>
                                      </p:to>
                                    </p:set>
                                    <p:anim calcmode="lin" valueType="num">
                                      <p:cBhvr>
                                        <p:cTn id="61" dur="250" fill="hold"/>
                                        <p:tgtEl>
                                          <p:spTgt spid="24"/>
                                        </p:tgtEl>
                                        <p:attrNameLst>
                                          <p:attrName>ppt_w</p:attrName>
                                        </p:attrNameLst>
                                      </p:cBhvr>
                                      <p:tavLst>
                                        <p:tav tm="0">
                                          <p:val>
                                            <p:fltVal val="0"/>
                                          </p:val>
                                        </p:tav>
                                        <p:tav tm="100000">
                                          <p:val>
                                            <p:strVal val="#ppt_w"/>
                                          </p:val>
                                        </p:tav>
                                      </p:tavLst>
                                    </p:anim>
                                    <p:anim calcmode="lin" valueType="num">
                                      <p:cBhvr>
                                        <p:cTn id="62" dur="250" fill="hold"/>
                                        <p:tgtEl>
                                          <p:spTgt spid="24"/>
                                        </p:tgtEl>
                                        <p:attrNameLst>
                                          <p:attrName>ppt_h</p:attrName>
                                        </p:attrNameLst>
                                      </p:cBhvr>
                                      <p:tavLst>
                                        <p:tav tm="0">
                                          <p:val>
                                            <p:fltVal val="0"/>
                                          </p:val>
                                        </p:tav>
                                        <p:tav tm="100000">
                                          <p:val>
                                            <p:strVal val="#ppt_h"/>
                                          </p:val>
                                        </p:tav>
                                      </p:tavLst>
                                    </p:anim>
                                    <p:animEffect transition="in" filter="fade">
                                      <p:cBhvr>
                                        <p:cTn id="63" dur="250"/>
                                        <p:tgtEl>
                                          <p:spTgt spid="24"/>
                                        </p:tgtEl>
                                      </p:cBhvr>
                                    </p:animEffect>
                                  </p:childTnLst>
                                </p:cTn>
                              </p:par>
                              <p:par>
                                <p:cTn id="64" presetID="53" presetClass="entr" presetSubtype="16" fill="hold" nodeType="withEffect">
                                  <p:stCondLst>
                                    <p:cond delay="250"/>
                                  </p:stCondLst>
                                  <p:childTnLst>
                                    <p:set>
                                      <p:cBhvr>
                                        <p:cTn id="65" dur="1" fill="hold">
                                          <p:stCondLst>
                                            <p:cond delay="0"/>
                                          </p:stCondLst>
                                        </p:cTn>
                                        <p:tgtEl>
                                          <p:spTgt spid="32"/>
                                        </p:tgtEl>
                                        <p:attrNameLst>
                                          <p:attrName>style.visibility</p:attrName>
                                        </p:attrNameLst>
                                      </p:cBhvr>
                                      <p:to>
                                        <p:strVal val="visible"/>
                                      </p:to>
                                    </p:set>
                                    <p:anim calcmode="lin" valueType="num">
                                      <p:cBhvr>
                                        <p:cTn id="66" dur="250" fill="hold"/>
                                        <p:tgtEl>
                                          <p:spTgt spid="32"/>
                                        </p:tgtEl>
                                        <p:attrNameLst>
                                          <p:attrName>ppt_w</p:attrName>
                                        </p:attrNameLst>
                                      </p:cBhvr>
                                      <p:tavLst>
                                        <p:tav tm="0">
                                          <p:val>
                                            <p:fltVal val="0"/>
                                          </p:val>
                                        </p:tav>
                                        <p:tav tm="100000">
                                          <p:val>
                                            <p:strVal val="#ppt_w"/>
                                          </p:val>
                                        </p:tav>
                                      </p:tavLst>
                                    </p:anim>
                                    <p:anim calcmode="lin" valueType="num">
                                      <p:cBhvr>
                                        <p:cTn id="67" dur="250" fill="hold"/>
                                        <p:tgtEl>
                                          <p:spTgt spid="32"/>
                                        </p:tgtEl>
                                        <p:attrNameLst>
                                          <p:attrName>ppt_h</p:attrName>
                                        </p:attrNameLst>
                                      </p:cBhvr>
                                      <p:tavLst>
                                        <p:tav tm="0">
                                          <p:val>
                                            <p:fltVal val="0"/>
                                          </p:val>
                                        </p:tav>
                                        <p:tav tm="100000">
                                          <p:val>
                                            <p:strVal val="#ppt_h"/>
                                          </p:val>
                                        </p:tav>
                                      </p:tavLst>
                                    </p:anim>
                                    <p:animEffect transition="in" filter="fade">
                                      <p:cBhvr>
                                        <p:cTn id="68" dur="250"/>
                                        <p:tgtEl>
                                          <p:spTgt spid="32"/>
                                        </p:tgtEl>
                                      </p:cBhvr>
                                    </p:animEffect>
                                  </p:childTnLst>
                                </p:cTn>
                              </p:par>
                              <p:par>
                                <p:cTn id="69" presetID="53" presetClass="entr" presetSubtype="16" fill="hold" nodeType="withEffect">
                                  <p:stCondLst>
                                    <p:cond delay="250"/>
                                  </p:stCondLst>
                                  <p:childTnLst>
                                    <p:set>
                                      <p:cBhvr>
                                        <p:cTn id="70" dur="1" fill="hold">
                                          <p:stCondLst>
                                            <p:cond delay="0"/>
                                          </p:stCondLst>
                                        </p:cTn>
                                        <p:tgtEl>
                                          <p:spTgt spid="40"/>
                                        </p:tgtEl>
                                        <p:attrNameLst>
                                          <p:attrName>style.visibility</p:attrName>
                                        </p:attrNameLst>
                                      </p:cBhvr>
                                      <p:to>
                                        <p:strVal val="visible"/>
                                      </p:to>
                                    </p:set>
                                    <p:anim calcmode="lin" valueType="num">
                                      <p:cBhvr>
                                        <p:cTn id="71" dur="250" fill="hold"/>
                                        <p:tgtEl>
                                          <p:spTgt spid="40"/>
                                        </p:tgtEl>
                                        <p:attrNameLst>
                                          <p:attrName>ppt_w</p:attrName>
                                        </p:attrNameLst>
                                      </p:cBhvr>
                                      <p:tavLst>
                                        <p:tav tm="0">
                                          <p:val>
                                            <p:fltVal val="0"/>
                                          </p:val>
                                        </p:tav>
                                        <p:tav tm="100000">
                                          <p:val>
                                            <p:strVal val="#ppt_w"/>
                                          </p:val>
                                        </p:tav>
                                      </p:tavLst>
                                    </p:anim>
                                    <p:anim calcmode="lin" valueType="num">
                                      <p:cBhvr>
                                        <p:cTn id="72" dur="250" fill="hold"/>
                                        <p:tgtEl>
                                          <p:spTgt spid="40"/>
                                        </p:tgtEl>
                                        <p:attrNameLst>
                                          <p:attrName>ppt_h</p:attrName>
                                        </p:attrNameLst>
                                      </p:cBhvr>
                                      <p:tavLst>
                                        <p:tav tm="0">
                                          <p:val>
                                            <p:fltVal val="0"/>
                                          </p:val>
                                        </p:tav>
                                        <p:tav tm="100000">
                                          <p:val>
                                            <p:strVal val="#ppt_h"/>
                                          </p:val>
                                        </p:tav>
                                      </p:tavLst>
                                    </p:anim>
                                    <p:animEffect transition="in" filter="fade">
                                      <p:cBhvr>
                                        <p:cTn id="73" dur="250"/>
                                        <p:tgtEl>
                                          <p:spTgt spid="40"/>
                                        </p:tgtEl>
                                      </p:cBhvr>
                                    </p:animEffect>
                                  </p:childTnLst>
                                </p:cTn>
                              </p:par>
                              <p:par>
                                <p:cTn id="74" presetID="53" presetClass="entr" presetSubtype="16" fill="hold" nodeType="withEffect">
                                  <p:stCondLst>
                                    <p:cond delay="250"/>
                                  </p:stCondLst>
                                  <p:childTnLst>
                                    <p:set>
                                      <p:cBhvr>
                                        <p:cTn id="75" dur="1" fill="hold">
                                          <p:stCondLst>
                                            <p:cond delay="0"/>
                                          </p:stCondLst>
                                        </p:cTn>
                                        <p:tgtEl>
                                          <p:spTgt spid="48"/>
                                        </p:tgtEl>
                                        <p:attrNameLst>
                                          <p:attrName>style.visibility</p:attrName>
                                        </p:attrNameLst>
                                      </p:cBhvr>
                                      <p:to>
                                        <p:strVal val="visible"/>
                                      </p:to>
                                    </p:set>
                                    <p:anim calcmode="lin" valueType="num">
                                      <p:cBhvr>
                                        <p:cTn id="76" dur="250" fill="hold"/>
                                        <p:tgtEl>
                                          <p:spTgt spid="48"/>
                                        </p:tgtEl>
                                        <p:attrNameLst>
                                          <p:attrName>ppt_w</p:attrName>
                                        </p:attrNameLst>
                                      </p:cBhvr>
                                      <p:tavLst>
                                        <p:tav tm="0">
                                          <p:val>
                                            <p:fltVal val="0"/>
                                          </p:val>
                                        </p:tav>
                                        <p:tav tm="100000">
                                          <p:val>
                                            <p:strVal val="#ppt_w"/>
                                          </p:val>
                                        </p:tav>
                                      </p:tavLst>
                                    </p:anim>
                                    <p:anim calcmode="lin" valueType="num">
                                      <p:cBhvr>
                                        <p:cTn id="77" dur="250" fill="hold"/>
                                        <p:tgtEl>
                                          <p:spTgt spid="48"/>
                                        </p:tgtEl>
                                        <p:attrNameLst>
                                          <p:attrName>ppt_h</p:attrName>
                                        </p:attrNameLst>
                                      </p:cBhvr>
                                      <p:tavLst>
                                        <p:tav tm="0">
                                          <p:val>
                                            <p:fltVal val="0"/>
                                          </p:val>
                                        </p:tav>
                                        <p:tav tm="100000">
                                          <p:val>
                                            <p:strVal val="#ppt_h"/>
                                          </p:val>
                                        </p:tav>
                                      </p:tavLst>
                                    </p:anim>
                                    <p:animEffect transition="in" filter="fade">
                                      <p:cBhvr>
                                        <p:cTn id="78" dur="2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7175" y="0"/>
            <a:ext cx="19268855" cy="10838731"/>
          </a:xfrm>
          <a:custGeom>
            <a:avLst/>
            <a:gdLst/>
            <a:ahLst/>
            <a:cxnLst/>
            <a:rect l="l" t="t" r="r" b="b"/>
            <a:pathLst>
              <a:path w="19268855" h="10838731">
                <a:moveTo>
                  <a:pt x="0" y="0"/>
                </a:moveTo>
                <a:lnTo>
                  <a:pt x="19268855" y="0"/>
                </a:lnTo>
                <a:lnTo>
                  <a:pt x="19268855" y="10838731"/>
                </a:lnTo>
                <a:lnTo>
                  <a:pt x="0" y="10838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4" name="Group 3">
            <a:extLst>
              <a:ext uri="{FF2B5EF4-FFF2-40B4-BE49-F238E27FC236}">
                <a16:creationId xmlns:a16="http://schemas.microsoft.com/office/drawing/2014/main" id="{2D1C4ADD-5DC8-4CC6-84EA-F3B6DE226717}"/>
              </a:ext>
            </a:extLst>
          </p:cNvPr>
          <p:cNvGrpSpPr/>
          <p:nvPr/>
        </p:nvGrpSpPr>
        <p:grpSpPr>
          <a:xfrm>
            <a:off x="9143999" y="-6016"/>
            <a:ext cx="9778923" cy="10927670"/>
            <a:chOff x="0" y="0"/>
            <a:chExt cx="2575519" cy="2878069"/>
          </a:xfrm>
        </p:grpSpPr>
        <p:sp>
          <p:nvSpPr>
            <p:cNvPr id="15" name="Freeform 4">
              <a:extLst>
                <a:ext uri="{FF2B5EF4-FFF2-40B4-BE49-F238E27FC236}">
                  <a16:creationId xmlns:a16="http://schemas.microsoft.com/office/drawing/2014/main" id="{E470FFFD-E6B4-400D-A39A-F9B332E81B4F}"/>
                </a:ext>
              </a:extLst>
            </p:cNvPr>
            <p:cNvSpPr/>
            <p:nvPr/>
          </p:nvSpPr>
          <p:spPr>
            <a:xfrm>
              <a:off x="0" y="0"/>
              <a:ext cx="2575519" cy="2878069"/>
            </a:xfrm>
            <a:custGeom>
              <a:avLst/>
              <a:gdLst/>
              <a:ahLst/>
              <a:cxnLst/>
              <a:rect l="l" t="t" r="r" b="b"/>
              <a:pathLst>
                <a:path w="2575519" h="2878069">
                  <a:moveTo>
                    <a:pt x="40376" y="0"/>
                  </a:moveTo>
                  <a:lnTo>
                    <a:pt x="2535142" y="0"/>
                  </a:lnTo>
                  <a:cubicBezTo>
                    <a:pt x="2545851" y="0"/>
                    <a:pt x="2556121" y="4254"/>
                    <a:pt x="2563693" y="11826"/>
                  </a:cubicBezTo>
                  <a:cubicBezTo>
                    <a:pt x="2571265" y="19398"/>
                    <a:pt x="2575519" y="29668"/>
                    <a:pt x="2575519" y="40376"/>
                  </a:cubicBezTo>
                  <a:lnTo>
                    <a:pt x="2575519" y="2837693"/>
                  </a:lnTo>
                  <a:cubicBezTo>
                    <a:pt x="2575519" y="2848401"/>
                    <a:pt x="2571265" y="2858671"/>
                    <a:pt x="2563693" y="2866243"/>
                  </a:cubicBezTo>
                  <a:cubicBezTo>
                    <a:pt x="2556121" y="2873815"/>
                    <a:pt x="2545851" y="2878069"/>
                    <a:pt x="2535142" y="2878069"/>
                  </a:cubicBezTo>
                  <a:lnTo>
                    <a:pt x="40376" y="2878069"/>
                  </a:lnTo>
                  <a:cubicBezTo>
                    <a:pt x="18077" y="2878069"/>
                    <a:pt x="0" y="2859992"/>
                    <a:pt x="0" y="2837693"/>
                  </a:cubicBezTo>
                  <a:lnTo>
                    <a:pt x="0" y="40376"/>
                  </a:lnTo>
                  <a:cubicBezTo>
                    <a:pt x="0" y="18077"/>
                    <a:pt x="18077" y="0"/>
                    <a:pt x="40376" y="0"/>
                  </a:cubicBezTo>
                  <a:close/>
                </a:path>
              </a:pathLst>
            </a:custGeom>
            <a:solidFill>
              <a:srgbClr val="D0E4E3"/>
            </a:solidFill>
            <a:ln cap="rnd">
              <a:noFill/>
              <a:prstDash val="solid"/>
              <a:round/>
            </a:ln>
          </p:spPr>
        </p:sp>
        <p:sp>
          <p:nvSpPr>
            <p:cNvPr id="16" name="TextBox 5">
              <a:extLst>
                <a:ext uri="{FF2B5EF4-FFF2-40B4-BE49-F238E27FC236}">
                  <a16:creationId xmlns:a16="http://schemas.microsoft.com/office/drawing/2014/main" id="{7BB4488B-9B1F-4C49-91CB-11C66A644EE6}"/>
                </a:ext>
              </a:extLst>
            </p:cNvPr>
            <p:cNvSpPr txBox="1"/>
            <p:nvPr/>
          </p:nvSpPr>
          <p:spPr>
            <a:xfrm>
              <a:off x="0" y="-28575"/>
              <a:ext cx="2575519" cy="2906644"/>
            </a:xfrm>
            <a:prstGeom prst="rect">
              <a:avLst/>
            </a:prstGeom>
          </p:spPr>
          <p:txBody>
            <a:bodyPr lIns="50800" tIns="50800" rIns="50800" bIns="50800" rtlCol="0" anchor="ctr"/>
            <a:lstStyle/>
            <a:p>
              <a:pPr marL="0" lvl="0" indent="0" algn="ctr">
                <a:lnSpc>
                  <a:spcPts val="3249"/>
                </a:lnSpc>
                <a:spcBef>
                  <a:spcPct val="0"/>
                </a:spcBef>
              </a:pPr>
              <a:endParaRPr/>
            </a:p>
          </p:txBody>
        </p:sp>
      </p:grpSp>
      <p:grpSp>
        <p:nvGrpSpPr>
          <p:cNvPr id="3" name="Group 3"/>
          <p:cNvGrpSpPr/>
          <p:nvPr/>
        </p:nvGrpSpPr>
        <p:grpSpPr>
          <a:xfrm>
            <a:off x="4254539" y="-440651"/>
            <a:ext cx="9778923" cy="10927670"/>
            <a:chOff x="0" y="0"/>
            <a:chExt cx="2575519" cy="2878069"/>
          </a:xfrm>
        </p:grpSpPr>
        <p:sp>
          <p:nvSpPr>
            <p:cNvPr id="4" name="Freeform 4"/>
            <p:cNvSpPr/>
            <p:nvPr/>
          </p:nvSpPr>
          <p:spPr>
            <a:xfrm>
              <a:off x="0" y="0"/>
              <a:ext cx="2575519" cy="2878069"/>
            </a:xfrm>
            <a:custGeom>
              <a:avLst/>
              <a:gdLst/>
              <a:ahLst/>
              <a:cxnLst/>
              <a:rect l="l" t="t" r="r" b="b"/>
              <a:pathLst>
                <a:path w="2575519" h="2878069">
                  <a:moveTo>
                    <a:pt x="40376" y="0"/>
                  </a:moveTo>
                  <a:lnTo>
                    <a:pt x="2535142" y="0"/>
                  </a:lnTo>
                  <a:cubicBezTo>
                    <a:pt x="2545851" y="0"/>
                    <a:pt x="2556121" y="4254"/>
                    <a:pt x="2563693" y="11826"/>
                  </a:cubicBezTo>
                  <a:cubicBezTo>
                    <a:pt x="2571265" y="19398"/>
                    <a:pt x="2575519" y="29668"/>
                    <a:pt x="2575519" y="40376"/>
                  </a:cubicBezTo>
                  <a:lnTo>
                    <a:pt x="2575519" y="2837693"/>
                  </a:lnTo>
                  <a:cubicBezTo>
                    <a:pt x="2575519" y="2848401"/>
                    <a:pt x="2571265" y="2858671"/>
                    <a:pt x="2563693" y="2866243"/>
                  </a:cubicBezTo>
                  <a:cubicBezTo>
                    <a:pt x="2556121" y="2873815"/>
                    <a:pt x="2545851" y="2878069"/>
                    <a:pt x="2535142" y="2878069"/>
                  </a:cubicBezTo>
                  <a:lnTo>
                    <a:pt x="40376" y="2878069"/>
                  </a:lnTo>
                  <a:cubicBezTo>
                    <a:pt x="18077" y="2878069"/>
                    <a:pt x="0" y="2859992"/>
                    <a:pt x="0" y="2837693"/>
                  </a:cubicBezTo>
                  <a:lnTo>
                    <a:pt x="0" y="40376"/>
                  </a:lnTo>
                  <a:cubicBezTo>
                    <a:pt x="0" y="18077"/>
                    <a:pt x="18077" y="0"/>
                    <a:pt x="40376" y="0"/>
                  </a:cubicBezTo>
                  <a:close/>
                </a:path>
              </a:pathLst>
            </a:custGeom>
            <a:solidFill>
              <a:srgbClr val="D0E4E3"/>
            </a:solidFill>
            <a:ln cap="rnd">
              <a:noFill/>
              <a:prstDash val="solid"/>
              <a:round/>
            </a:ln>
          </p:spPr>
        </p:sp>
        <p:sp>
          <p:nvSpPr>
            <p:cNvPr id="5" name="TextBox 5"/>
            <p:cNvSpPr txBox="1"/>
            <p:nvPr/>
          </p:nvSpPr>
          <p:spPr>
            <a:xfrm>
              <a:off x="0" y="-28575"/>
              <a:ext cx="2575519" cy="2906644"/>
            </a:xfrm>
            <a:prstGeom prst="rect">
              <a:avLst/>
            </a:prstGeom>
          </p:spPr>
          <p:txBody>
            <a:bodyPr lIns="50800" tIns="50800" rIns="50800" bIns="50800" rtlCol="0" anchor="ctr"/>
            <a:lstStyle/>
            <a:p>
              <a:pPr marL="0" lvl="0" indent="0" algn="ctr">
                <a:lnSpc>
                  <a:spcPts val="3249"/>
                </a:lnSpc>
                <a:spcBef>
                  <a:spcPct val="0"/>
                </a:spcBef>
              </a:pPr>
              <a:endParaRPr/>
            </a:p>
          </p:txBody>
        </p:sp>
      </p:grpSp>
      <p:grpSp>
        <p:nvGrpSpPr>
          <p:cNvPr id="17" name="Group 3">
            <a:extLst>
              <a:ext uri="{FF2B5EF4-FFF2-40B4-BE49-F238E27FC236}">
                <a16:creationId xmlns:a16="http://schemas.microsoft.com/office/drawing/2014/main" id="{D6AAC299-97B8-418B-B010-D6076D6499E0}"/>
              </a:ext>
            </a:extLst>
          </p:cNvPr>
          <p:cNvGrpSpPr/>
          <p:nvPr/>
        </p:nvGrpSpPr>
        <p:grpSpPr>
          <a:xfrm>
            <a:off x="-558305" y="-188946"/>
            <a:ext cx="9778923" cy="10927670"/>
            <a:chOff x="0" y="0"/>
            <a:chExt cx="2575519" cy="2878069"/>
          </a:xfrm>
        </p:grpSpPr>
        <p:sp>
          <p:nvSpPr>
            <p:cNvPr id="18" name="Freeform 4">
              <a:extLst>
                <a:ext uri="{FF2B5EF4-FFF2-40B4-BE49-F238E27FC236}">
                  <a16:creationId xmlns:a16="http://schemas.microsoft.com/office/drawing/2014/main" id="{52A1E26D-95D7-4748-8604-6AEF3ECDEF60}"/>
                </a:ext>
              </a:extLst>
            </p:cNvPr>
            <p:cNvSpPr/>
            <p:nvPr/>
          </p:nvSpPr>
          <p:spPr>
            <a:xfrm>
              <a:off x="0" y="0"/>
              <a:ext cx="2575519" cy="2878069"/>
            </a:xfrm>
            <a:custGeom>
              <a:avLst/>
              <a:gdLst/>
              <a:ahLst/>
              <a:cxnLst/>
              <a:rect l="l" t="t" r="r" b="b"/>
              <a:pathLst>
                <a:path w="2575519" h="2878069">
                  <a:moveTo>
                    <a:pt x="40376" y="0"/>
                  </a:moveTo>
                  <a:lnTo>
                    <a:pt x="2535142" y="0"/>
                  </a:lnTo>
                  <a:cubicBezTo>
                    <a:pt x="2545851" y="0"/>
                    <a:pt x="2556121" y="4254"/>
                    <a:pt x="2563693" y="11826"/>
                  </a:cubicBezTo>
                  <a:cubicBezTo>
                    <a:pt x="2571265" y="19398"/>
                    <a:pt x="2575519" y="29668"/>
                    <a:pt x="2575519" y="40376"/>
                  </a:cubicBezTo>
                  <a:lnTo>
                    <a:pt x="2575519" y="2837693"/>
                  </a:lnTo>
                  <a:cubicBezTo>
                    <a:pt x="2575519" y="2848401"/>
                    <a:pt x="2571265" y="2858671"/>
                    <a:pt x="2563693" y="2866243"/>
                  </a:cubicBezTo>
                  <a:cubicBezTo>
                    <a:pt x="2556121" y="2873815"/>
                    <a:pt x="2545851" y="2878069"/>
                    <a:pt x="2535142" y="2878069"/>
                  </a:cubicBezTo>
                  <a:lnTo>
                    <a:pt x="40376" y="2878069"/>
                  </a:lnTo>
                  <a:cubicBezTo>
                    <a:pt x="18077" y="2878069"/>
                    <a:pt x="0" y="2859992"/>
                    <a:pt x="0" y="2837693"/>
                  </a:cubicBezTo>
                  <a:lnTo>
                    <a:pt x="0" y="40376"/>
                  </a:lnTo>
                  <a:cubicBezTo>
                    <a:pt x="0" y="18077"/>
                    <a:pt x="18077" y="0"/>
                    <a:pt x="40376" y="0"/>
                  </a:cubicBezTo>
                  <a:close/>
                </a:path>
              </a:pathLst>
            </a:custGeom>
            <a:solidFill>
              <a:srgbClr val="D0E4E3"/>
            </a:solidFill>
            <a:ln cap="rnd">
              <a:noFill/>
              <a:prstDash val="solid"/>
              <a:round/>
            </a:ln>
          </p:spPr>
        </p:sp>
        <p:sp>
          <p:nvSpPr>
            <p:cNvPr id="19" name="TextBox 5">
              <a:extLst>
                <a:ext uri="{FF2B5EF4-FFF2-40B4-BE49-F238E27FC236}">
                  <a16:creationId xmlns:a16="http://schemas.microsoft.com/office/drawing/2014/main" id="{DD05C07D-083E-490D-88BE-37A351626574}"/>
                </a:ext>
              </a:extLst>
            </p:cNvPr>
            <p:cNvSpPr txBox="1"/>
            <p:nvPr/>
          </p:nvSpPr>
          <p:spPr>
            <a:xfrm>
              <a:off x="0" y="-28575"/>
              <a:ext cx="2575519" cy="2906644"/>
            </a:xfrm>
            <a:prstGeom prst="rect">
              <a:avLst/>
            </a:prstGeom>
          </p:spPr>
          <p:txBody>
            <a:bodyPr lIns="50800" tIns="50800" rIns="50800" bIns="50800" rtlCol="0" anchor="ctr"/>
            <a:lstStyle/>
            <a:p>
              <a:pPr marL="0" lvl="0" indent="0" algn="ctr">
                <a:lnSpc>
                  <a:spcPts val="3249"/>
                </a:lnSpc>
                <a:spcBef>
                  <a:spcPct val="0"/>
                </a:spcBef>
              </a:pPr>
              <a:endParaRPr/>
            </a:p>
          </p:txBody>
        </p:sp>
      </p:grpSp>
      <p:grpSp>
        <p:nvGrpSpPr>
          <p:cNvPr id="6" name="Group 6"/>
          <p:cNvGrpSpPr/>
          <p:nvPr/>
        </p:nvGrpSpPr>
        <p:grpSpPr>
          <a:xfrm>
            <a:off x="1791919" y="1825285"/>
            <a:ext cx="14704162" cy="7017429"/>
            <a:chOff x="0" y="0"/>
            <a:chExt cx="3554105" cy="1696165"/>
          </a:xfrm>
        </p:grpSpPr>
        <p:sp>
          <p:nvSpPr>
            <p:cNvPr id="7" name="Freeform 7"/>
            <p:cNvSpPr/>
            <p:nvPr/>
          </p:nvSpPr>
          <p:spPr>
            <a:xfrm>
              <a:off x="0" y="0"/>
              <a:ext cx="3554105" cy="1696165"/>
            </a:xfrm>
            <a:custGeom>
              <a:avLst/>
              <a:gdLst/>
              <a:ahLst/>
              <a:cxnLst/>
              <a:rect l="l" t="t" r="r" b="b"/>
              <a:pathLst>
                <a:path w="3554105" h="1696165">
                  <a:moveTo>
                    <a:pt x="26852" y="0"/>
                  </a:moveTo>
                  <a:lnTo>
                    <a:pt x="3527253" y="0"/>
                  </a:lnTo>
                  <a:cubicBezTo>
                    <a:pt x="3542083" y="0"/>
                    <a:pt x="3554105" y="12022"/>
                    <a:pt x="3554105" y="26852"/>
                  </a:cubicBezTo>
                  <a:lnTo>
                    <a:pt x="3554105" y="1669313"/>
                  </a:lnTo>
                  <a:cubicBezTo>
                    <a:pt x="3554105" y="1684143"/>
                    <a:pt x="3542083" y="1696165"/>
                    <a:pt x="3527253" y="1696165"/>
                  </a:cubicBezTo>
                  <a:lnTo>
                    <a:pt x="26852" y="1696165"/>
                  </a:lnTo>
                  <a:cubicBezTo>
                    <a:pt x="12022" y="1696165"/>
                    <a:pt x="0" y="1684143"/>
                    <a:pt x="0" y="1669313"/>
                  </a:cubicBezTo>
                  <a:lnTo>
                    <a:pt x="0" y="26852"/>
                  </a:lnTo>
                  <a:cubicBezTo>
                    <a:pt x="0" y="12022"/>
                    <a:pt x="12022" y="0"/>
                    <a:pt x="26852" y="0"/>
                  </a:cubicBezTo>
                  <a:close/>
                </a:path>
              </a:pathLst>
            </a:custGeom>
            <a:solidFill>
              <a:srgbClr val="D0E4E3"/>
            </a:solidFill>
            <a:ln cap="rnd">
              <a:noFill/>
              <a:prstDash val="solid"/>
              <a:round/>
            </a:ln>
          </p:spPr>
        </p:sp>
        <p:sp>
          <p:nvSpPr>
            <p:cNvPr id="8" name="TextBox 8"/>
            <p:cNvSpPr txBox="1"/>
            <p:nvPr/>
          </p:nvSpPr>
          <p:spPr>
            <a:xfrm>
              <a:off x="0" y="-28575"/>
              <a:ext cx="3554105" cy="1724740"/>
            </a:xfrm>
            <a:prstGeom prst="rect">
              <a:avLst/>
            </a:prstGeom>
          </p:spPr>
          <p:txBody>
            <a:bodyPr lIns="50800" tIns="50800" rIns="50800" bIns="50800" rtlCol="0" anchor="ctr"/>
            <a:lstStyle/>
            <a:p>
              <a:pPr marL="0" lvl="0" indent="0" algn="ctr">
                <a:lnSpc>
                  <a:spcPts val="3249"/>
                </a:lnSpc>
                <a:spcBef>
                  <a:spcPct val="0"/>
                </a:spcBef>
              </a:pPr>
              <a:endParaRPr/>
            </a:p>
          </p:txBody>
        </p:sp>
      </p:grpSp>
      <p:sp>
        <p:nvSpPr>
          <p:cNvPr id="11" name="Freeform 11"/>
          <p:cNvSpPr/>
          <p:nvPr/>
        </p:nvSpPr>
        <p:spPr>
          <a:xfrm rot="7828714">
            <a:off x="79228" y="-540433"/>
            <a:ext cx="981680" cy="1229895"/>
          </a:xfrm>
          <a:custGeom>
            <a:avLst/>
            <a:gdLst/>
            <a:ahLst/>
            <a:cxnLst/>
            <a:rect l="l" t="t" r="r" b="b"/>
            <a:pathLst>
              <a:path w="981680" h="1229895">
                <a:moveTo>
                  <a:pt x="0" y="0"/>
                </a:moveTo>
                <a:lnTo>
                  <a:pt x="981680" y="0"/>
                </a:lnTo>
                <a:lnTo>
                  <a:pt x="981680" y="1229895"/>
                </a:lnTo>
                <a:lnTo>
                  <a:pt x="0" y="12298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4401732" y="9562599"/>
            <a:ext cx="9484533" cy="768731"/>
          </a:xfrm>
          <a:prstGeom prst="rect">
            <a:avLst/>
          </a:prstGeom>
        </p:spPr>
        <p:txBody>
          <a:bodyPr lIns="0" tIns="0" rIns="0" bIns="0" rtlCol="0" anchor="t">
            <a:spAutoFit/>
          </a:bodyPr>
          <a:lstStyle/>
          <a:p>
            <a:pPr marL="0" lvl="0" indent="0" algn="ctr">
              <a:lnSpc>
                <a:spcPts val="3082"/>
              </a:lnSpc>
              <a:spcBef>
                <a:spcPct val="0"/>
              </a:spcBef>
            </a:pPr>
            <a:r>
              <a:rPr lang="en-US" sz="2300" u="none" spc="-46" dirty="0">
                <a:solidFill>
                  <a:srgbClr val="586EC4"/>
                </a:solidFill>
                <a:latin typeface="Nourd"/>
              </a:rPr>
              <a:t>I'm Rain, and I'll be sharing with you our business plan.</a:t>
            </a:r>
          </a:p>
          <a:p>
            <a:pPr marL="0" lvl="0" indent="0" algn="ctr">
              <a:lnSpc>
                <a:spcPts val="3082"/>
              </a:lnSpc>
              <a:spcBef>
                <a:spcPct val="0"/>
              </a:spcBef>
            </a:pPr>
            <a:r>
              <a:rPr lang="en-US" sz="2300" u="none" spc="-46" dirty="0">
                <a:solidFill>
                  <a:srgbClr val="586EC4"/>
                </a:solidFill>
                <a:latin typeface="Nourd"/>
              </a:rPr>
              <a:t>Follow us at @</a:t>
            </a:r>
            <a:r>
              <a:rPr lang="en-US" sz="2300" u="none" spc="-46" dirty="0" err="1">
                <a:solidFill>
                  <a:srgbClr val="586EC4"/>
                </a:solidFill>
                <a:latin typeface="Nourd"/>
              </a:rPr>
              <a:t>reallygreatsite</a:t>
            </a:r>
            <a:r>
              <a:rPr lang="en-US" sz="2300" u="none" spc="-46" dirty="0">
                <a:solidFill>
                  <a:srgbClr val="586EC4"/>
                </a:solidFill>
                <a:latin typeface="Nourd"/>
              </a:rPr>
              <a:t> to learn more. </a:t>
            </a:r>
          </a:p>
        </p:txBody>
      </p:sp>
      <p:pic>
        <p:nvPicPr>
          <p:cNvPr id="23" name="Picture 22">
            <a:extLst>
              <a:ext uri="{FF2B5EF4-FFF2-40B4-BE49-F238E27FC236}">
                <a16:creationId xmlns:a16="http://schemas.microsoft.com/office/drawing/2014/main" id="{40C80381-65D8-4E0F-A159-FEAB0239B6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02048" y="1608980"/>
            <a:ext cx="11550407" cy="8794917"/>
          </a:xfrm>
          <a:prstGeom prst="rect">
            <a:avLst/>
          </a:prstGeom>
        </p:spPr>
      </p:pic>
      <p:sp>
        <p:nvSpPr>
          <p:cNvPr id="24" name="TextBox 11">
            <a:extLst>
              <a:ext uri="{FF2B5EF4-FFF2-40B4-BE49-F238E27FC236}">
                <a16:creationId xmlns:a16="http://schemas.microsoft.com/office/drawing/2014/main" id="{557E3C63-92F6-4116-972B-645799F8E374}"/>
              </a:ext>
            </a:extLst>
          </p:cNvPr>
          <p:cNvSpPr txBox="1"/>
          <p:nvPr/>
        </p:nvSpPr>
        <p:spPr>
          <a:xfrm>
            <a:off x="1698441" y="585274"/>
            <a:ext cx="14981761" cy="750205"/>
          </a:xfrm>
          <a:prstGeom prst="rect">
            <a:avLst/>
          </a:prstGeom>
        </p:spPr>
        <p:txBody>
          <a:bodyPr wrap="square" lIns="0" tIns="0" rIns="0" bIns="0" rtlCol="0" anchor="t">
            <a:spAutoFit/>
          </a:bodyPr>
          <a:lstStyle/>
          <a:p>
            <a:pPr lvl="0" algn="ctr">
              <a:lnSpc>
                <a:spcPts val="5374"/>
              </a:lnSpc>
              <a:spcBef>
                <a:spcPct val="0"/>
              </a:spcBef>
            </a:pPr>
            <a:r>
              <a:rPr lang="en-US" sz="4400" spc="-150" dirty="0">
                <a:solidFill>
                  <a:srgbClr val="586EC4"/>
                </a:solidFill>
                <a:latin typeface="One Little Font Bold"/>
              </a:rPr>
              <a:t> </a:t>
            </a:r>
            <a:r>
              <a:rPr lang="en-US" sz="6000" spc="-150" dirty="0">
                <a:solidFill>
                  <a:srgbClr val="586EC4"/>
                </a:solidFill>
                <a:latin typeface="One Little Font Bold"/>
              </a:rPr>
              <a:t>Can you guess what I’m going to talk about next?</a:t>
            </a:r>
            <a:endParaRPr lang="en-US" sz="4400" spc="-150" dirty="0">
              <a:solidFill>
                <a:srgbClr val="586EC4"/>
              </a:solidFill>
              <a:latin typeface="One Little Font Bold"/>
            </a:endParaRPr>
          </a:p>
        </p:txBody>
      </p:sp>
      <p:sp>
        <p:nvSpPr>
          <p:cNvPr id="25" name="Freeform 11">
            <a:extLst>
              <a:ext uri="{FF2B5EF4-FFF2-40B4-BE49-F238E27FC236}">
                <a16:creationId xmlns:a16="http://schemas.microsoft.com/office/drawing/2014/main" id="{7D67BAAB-94E1-48DF-B706-70DE4BAA4690}"/>
              </a:ext>
            </a:extLst>
          </p:cNvPr>
          <p:cNvSpPr/>
          <p:nvPr/>
        </p:nvSpPr>
        <p:spPr>
          <a:xfrm rot="7828714">
            <a:off x="17212198" y="9662346"/>
            <a:ext cx="981680" cy="1229895"/>
          </a:xfrm>
          <a:custGeom>
            <a:avLst/>
            <a:gdLst/>
            <a:ahLst/>
            <a:cxnLst/>
            <a:rect l="l" t="t" r="r" b="b"/>
            <a:pathLst>
              <a:path w="981680" h="1229895">
                <a:moveTo>
                  <a:pt x="0" y="0"/>
                </a:moveTo>
                <a:lnTo>
                  <a:pt x="981680" y="0"/>
                </a:lnTo>
                <a:lnTo>
                  <a:pt x="981680" y="1229895"/>
                </a:lnTo>
                <a:lnTo>
                  <a:pt x="0" y="12298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6" name="Freeform 12">
            <a:extLst>
              <a:ext uri="{FF2B5EF4-FFF2-40B4-BE49-F238E27FC236}">
                <a16:creationId xmlns:a16="http://schemas.microsoft.com/office/drawing/2014/main" id="{7F9D7C8D-F23A-42FA-AC1B-648602B9163C}"/>
              </a:ext>
            </a:extLst>
          </p:cNvPr>
          <p:cNvSpPr/>
          <p:nvPr/>
        </p:nvSpPr>
        <p:spPr>
          <a:xfrm rot="2389935">
            <a:off x="10047020" y="5674452"/>
            <a:ext cx="888399" cy="864687"/>
          </a:xfrm>
          <a:custGeom>
            <a:avLst/>
            <a:gdLst/>
            <a:ahLst/>
            <a:cxnLst/>
            <a:rect l="l" t="t" r="r" b="b"/>
            <a:pathLst>
              <a:path w="1003854" h="960049">
                <a:moveTo>
                  <a:pt x="0" y="0"/>
                </a:moveTo>
                <a:lnTo>
                  <a:pt x="1003854" y="0"/>
                </a:lnTo>
                <a:lnTo>
                  <a:pt x="1003854" y="960049"/>
                </a:lnTo>
                <a:lnTo>
                  <a:pt x="0" y="9600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27" name="Freeform 12">
            <a:extLst>
              <a:ext uri="{FF2B5EF4-FFF2-40B4-BE49-F238E27FC236}">
                <a16:creationId xmlns:a16="http://schemas.microsoft.com/office/drawing/2014/main" id="{CFBD8902-59C1-4EB8-AA12-4D7B6AAD0466}"/>
              </a:ext>
            </a:extLst>
          </p:cNvPr>
          <p:cNvSpPr/>
          <p:nvPr/>
        </p:nvSpPr>
        <p:spPr>
          <a:xfrm rot="2389935">
            <a:off x="7527013" y="5674451"/>
            <a:ext cx="888399" cy="864687"/>
          </a:xfrm>
          <a:custGeom>
            <a:avLst/>
            <a:gdLst/>
            <a:ahLst/>
            <a:cxnLst/>
            <a:rect l="l" t="t" r="r" b="b"/>
            <a:pathLst>
              <a:path w="1003854" h="960049">
                <a:moveTo>
                  <a:pt x="0" y="0"/>
                </a:moveTo>
                <a:lnTo>
                  <a:pt x="1003854" y="0"/>
                </a:lnTo>
                <a:lnTo>
                  <a:pt x="1003854" y="960049"/>
                </a:lnTo>
                <a:lnTo>
                  <a:pt x="0" y="9600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Freeform 8">
            <a:extLst>
              <a:ext uri="{FF2B5EF4-FFF2-40B4-BE49-F238E27FC236}">
                <a16:creationId xmlns:a16="http://schemas.microsoft.com/office/drawing/2014/main" id="{3565E2AF-9F4A-4D9A-BF56-9967076487B7}"/>
              </a:ext>
            </a:extLst>
          </p:cNvPr>
          <p:cNvSpPr/>
          <p:nvPr/>
        </p:nvSpPr>
        <p:spPr>
          <a:xfrm rot="19719173">
            <a:off x="802199" y="4026921"/>
            <a:ext cx="1291548" cy="2753300"/>
          </a:xfrm>
          <a:custGeom>
            <a:avLst/>
            <a:gdLst/>
            <a:ahLst/>
            <a:cxnLst/>
            <a:rect l="l" t="t" r="r" b="b"/>
            <a:pathLst>
              <a:path w="1291548" h="2753300">
                <a:moveTo>
                  <a:pt x="0" y="0"/>
                </a:moveTo>
                <a:lnTo>
                  <a:pt x="1291548" y="0"/>
                </a:lnTo>
                <a:lnTo>
                  <a:pt x="1291548" y="2753299"/>
                </a:lnTo>
                <a:lnTo>
                  <a:pt x="0" y="27532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9" name="Freeform 9">
            <a:extLst>
              <a:ext uri="{FF2B5EF4-FFF2-40B4-BE49-F238E27FC236}">
                <a16:creationId xmlns:a16="http://schemas.microsoft.com/office/drawing/2014/main" id="{EF6FD227-09B1-4BBE-AB08-3B117C72D252}"/>
              </a:ext>
            </a:extLst>
          </p:cNvPr>
          <p:cNvSpPr/>
          <p:nvPr/>
        </p:nvSpPr>
        <p:spPr>
          <a:xfrm rot="-9396796">
            <a:off x="16860723" y="-17031"/>
            <a:ext cx="2640152" cy="2443341"/>
          </a:xfrm>
          <a:custGeom>
            <a:avLst/>
            <a:gdLst/>
            <a:ahLst/>
            <a:cxnLst/>
            <a:rect l="l" t="t" r="r" b="b"/>
            <a:pathLst>
              <a:path w="2640152" h="2443341">
                <a:moveTo>
                  <a:pt x="0" y="0"/>
                </a:moveTo>
                <a:lnTo>
                  <a:pt x="2640152" y="0"/>
                </a:lnTo>
                <a:lnTo>
                  <a:pt x="2640152" y="2443341"/>
                </a:lnTo>
                <a:lnTo>
                  <a:pt x="0" y="244334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 fill="hold"/>
                                        <p:tgtEl>
                                          <p:spTgt spid="27"/>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2000" fill="hold"/>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73228" y="-155739"/>
            <a:ext cx="19338096" cy="10877679"/>
          </a:xfrm>
          <a:custGeom>
            <a:avLst/>
            <a:gdLst/>
            <a:ahLst/>
            <a:cxnLst/>
            <a:rect l="l" t="t" r="r" b="b"/>
            <a:pathLst>
              <a:path w="19338096" h="10877679">
                <a:moveTo>
                  <a:pt x="0" y="0"/>
                </a:moveTo>
                <a:lnTo>
                  <a:pt x="19338097" y="0"/>
                </a:lnTo>
                <a:lnTo>
                  <a:pt x="19338097" y="10877680"/>
                </a:lnTo>
                <a:lnTo>
                  <a:pt x="0" y="108776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Rectangle 9">
            <a:extLst>
              <a:ext uri="{FF2B5EF4-FFF2-40B4-BE49-F238E27FC236}">
                <a16:creationId xmlns:a16="http://schemas.microsoft.com/office/drawing/2014/main" id="{ACEE6BF5-B80B-421F-9FFD-80B3B5C13AA1}"/>
              </a:ext>
            </a:extLst>
          </p:cNvPr>
          <p:cNvSpPr/>
          <p:nvPr/>
        </p:nvSpPr>
        <p:spPr>
          <a:xfrm>
            <a:off x="533400" y="571500"/>
            <a:ext cx="17221200" cy="899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7"/>
          <p:cNvSpPr/>
          <p:nvPr/>
        </p:nvSpPr>
        <p:spPr>
          <a:xfrm rot="-1571087">
            <a:off x="15688924" y="9104040"/>
            <a:ext cx="3117401" cy="816192"/>
          </a:xfrm>
          <a:custGeom>
            <a:avLst/>
            <a:gdLst/>
            <a:ahLst/>
            <a:cxnLst/>
            <a:rect l="l" t="t" r="r" b="b"/>
            <a:pathLst>
              <a:path w="3117401" h="816192">
                <a:moveTo>
                  <a:pt x="0" y="0"/>
                </a:moveTo>
                <a:lnTo>
                  <a:pt x="3117400" y="0"/>
                </a:lnTo>
                <a:lnTo>
                  <a:pt x="3117400" y="816192"/>
                </a:lnTo>
                <a:lnTo>
                  <a:pt x="0" y="8161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571087">
            <a:off x="-585997" y="978721"/>
            <a:ext cx="3117401" cy="816192"/>
          </a:xfrm>
          <a:custGeom>
            <a:avLst/>
            <a:gdLst/>
            <a:ahLst/>
            <a:cxnLst/>
            <a:rect l="l" t="t" r="r" b="b"/>
            <a:pathLst>
              <a:path w="3117401" h="816192">
                <a:moveTo>
                  <a:pt x="0" y="0"/>
                </a:moveTo>
                <a:lnTo>
                  <a:pt x="3117401" y="0"/>
                </a:lnTo>
                <a:lnTo>
                  <a:pt x="3117401" y="816192"/>
                </a:lnTo>
                <a:lnTo>
                  <a:pt x="0" y="8161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967710" y="8458116"/>
            <a:ext cx="2694177" cy="2297399"/>
          </a:xfrm>
          <a:custGeom>
            <a:avLst/>
            <a:gdLst/>
            <a:ahLst/>
            <a:cxnLst/>
            <a:rect l="l" t="t" r="r" b="b"/>
            <a:pathLst>
              <a:path w="2694177" h="2297399">
                <a:moveTo>
                  <a:pt x="0" y="0"/>
                </a:moveTo>
                <a:lnTo>
                  <a:pt x="2694178" y="0"/>
                </a:lnTo>
                <a:lnTo>
                  <a:pt x="2694178" y="2297398"/>
                </a:lnTo>
                <a:lnTo>
                  <a:pt x="0" y="229739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TextBox 9"/>
          <p:cNvSpPr txBox="1"/>
          <p:nvPr/>
        </p:nvSpPr>
        <p:spPr>
          <a:xfrm>
            <a:off x="2405527" y="783064"/>
            <a:ext cx="13269723" cy="1143000"/>
          </a:xfrm>
          <a:prstGeom prst="rect">
            <a:avLst/>
          </a:prstGeom>
        </p:spPr>
        <p:txBody>
          <a:bodyPr lIns="0" tIns="0" rIns="0" bIns="0" rtlCol="0" anchor="t">
            <a:spAutoFit/>
          </a:bodyPr>
          <a:lstStyle/>
          <a:p>
            <a:pPr marL="0" lvl="0" indent="0" algn="ctr">
              <a:lnSpc>
                <a:spcPts val="9000"/>
              </a:lnSpc>
              <a:spcBef>
                <a:spcPct val="0"/>
              </a:spcBef>
            </a:pPr>
            <a:r>
              <a:rPr lang="en-US" sz="7500" u="none" spc="-150" dirty="0">
                <a:solidFill>
                  <a:srgbClr val="586EC4"/>
                </a:solidFill>
                <a:latin typeface="One Little Font Bold"/>
              </a:rPr>
              <a:t>Why we need sunscreens?</a:t>
            </a:r>
          </a:p>
        </p:txBody>
      </p:sp>
      <p:pic>
        <p:nvPicPr>
          <p:cNvPr id="11" name="WhatsApp Video 2024-05-14 at 5.44.47 AM">
            <a:hlinkClick r:id="" action="ppaction://media"/>
            <a:extLst>
              <a:ext uri="{FF2B5EF4-FFF2-40B4-BE49-F238E27FC236}">
                <a16:creationId xmlns:a16="http://schemas.microsoft.com/office/drawing/2014/main" id="{093193E2-F5DB-4172-9CD5-1A1108F39897}"/>
              </a:ext>
            </a:extLst>
          </p:cNvPr>
          <p:cNvPicPr>
            <a:picLocks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9929607" y="2827155"/>
            <a:ext cx="7318017" cy="4472121"/>
          </a:xfrm>
          <a:prstGeom prst="rect">
            <a:avLst/>
          </a:prstGeom>
        </p:spPr>
      </p:pic>
      <p:sp>
        <p:nvSpPr>
          <p:cNvPr id="13" name="Rectangle 12">
            <a:extLst>
              <a:ext uri="{FF2B5EF4-FFF2-40B4-BE49-F238E27FC236}">
                <a16:creationId xmlns:a16="http://schemas.microsoft.com/office/drawing/2014/main" id="{550A9D3D-5986-4427-A1C8-3547EFB905A8}"/>
              </a:ext>
            </a:extLst>
          </p:cNvPr>
          <p:cNvSpPr/>
          <p:nvPr/>
        </p:nvSpPr>
        <p:spPr>
          <a:xfrm>
            <a:off x="1414195" y="2201095"/>
            <a:ext cx="9144000" cy="6653616"/>
          </a:xfrm>
          <a:prstGeom prst="rect">
            <a:avLst/>
          </a:prstGeom>
        </p:spPr>
        <p:txBody>
          <a:bodyPr wrap="square">
            <a:spAutoFit/>
          </a:bodyPr>
          <a:lstStyle/>
          <a:p>
            <a:pPr algn="just">
              <a:lnSpc>
                <a:spcPts val="4339"/>
              </a:lnSpc>
              <a:defRPr/>
            </a:pPr>
            <a:r>
              <a:rPr lang="en-US" sz="2800" b="1" dirty="0">
                <a:solidFill>
                  <a:srgbClr val="F877BB"/>
                </a:solidFill>
                <a:latin typeface="Palatino Linotype" panose="02040502050505030304" pitchFamily="18" charset="0"/>
              </a:rPr>
              <a:t>T</a:t>
            </a:r>
            <a:r>
              <a:rPr lang="en-US" sz="2400" b="1" dirty="0">
                <a:solidFill>
                  <a:srgbClr val="F877BB"/>
                </a:solidFill>
                <a:latin typeface="Palatino Linotype" panose="02040502050505030304" pitchFamily="18" charset="0"/>
              </a:rPr>
              <a:t>he skin's natural defense mechanisms, such as melanin production, which prevents the penetration of UV radiation into the deeper skin layers, decreasing the release of ROS and skin photosensitization, are insufficient for an effective skin protection.  In addition, melanin indirectly scavenges reactive oxygenated species (ROS) formed during the UV-inducing oxidative stress </a:t>
            </a:r>
            <a:r>
              <a:rPr lang="en-US" sz="2000" b="1" dirty="0">
                <a:solidFill>
                  <a:srgbClr val="F877BB"/>
                </a:solidFill>
                <a:latin typeface="Palatino Linotype" panose="02040502050505030304" pitchFamily="18" charset="0"/>
              </a:rPr>
              <a:t>on</a:t>
            </a:r>
            <a:r>
              <a:rPr lang="en-US" sz="2400" b="1" dirty="0">
                <a:solidFill>
                  <a:srgbClr val="F877BB"/>
                </a:solidFill>
                <a:latin typeface="Palatino Linotype" panose="02040502050505030304" pitchFamily="18" charset="0"/>
              </a:rPr>
              <a:t> the skin. </a:t>
            </a:r>
          </a:p>
          <a:p>
            <a:pPr algn="just">
              <a:lnSpc>
                <a:spcPts val="4339"/>
              </a:lnSpc>
              <a:defRPr/>
            </a:pPr>
            <a:r>
              <a:rPr lang="en-US" sz="2400" b="1" dirty="0">
                <a:solidFill>
                  <a:srgbClr val="F877BB"/>
                </a:solidFill>
                <a:latin typeface="Palatino Linotype" panose="02040502050505030304" pitchFamily="18" charset="0"/>
              </a:rPr>
              <a:t>The amounts of melanin in the skin depend on the phenotype. In most phenotypes, endogenous melanin is not enough for full protection, especially in the summertime.</a:t>
            </a:r>
          </a:p>
          <a:p>
            <a:pPr algn="just">
              <a:lnSpc>
                <a:spcPts val="4339"/>
              </a:lnSpc>
              <a:defRPr/>
            </a:pPr>
            <a:r>
              <a:rPr lang="en-US" sz="2400" b="1" dirty="0">
                <a:solidFill>
                  <a:srgbClr val="F877BB"/>
                </a:solidFill>
                <a:latin typeface="Palatino Linotype" panose="02040502050505030304" pitchFamily="18" charset="0"/>
              </a:rPr>
              <a:t>Therefore, the use of topical sunscreens and additional forms of protection is essential to prevent health issues.</a:t>
            </a:r>
          </a:p>
        </p:txBody>
      </p:sp>
      <p:sp>
        <p:nvSpPr>
          <p:cNvPr id="12" name="Rectangle 11">
            <a:extLst>
              <a:ext uri="{FF2B5EF4-FFF2-40B4-BE49-F238E27FC236}">
                <a16:creationId xmlns:a16="http://schemas.microsoft.com/office/drawing/2014/main" id="{E3154877-A64C-4C68-88DE-E56D7DDF2BB4}"/>
              </a:ext>
            </a:extLst>
          </p:cNvPr>
          <p:cNvSpPr/>
          <p:nvPr/>
        </p:nvSpPr>
        <p:spPr>
          <a:xfrm>
            <a:off x="935433" y="1926064"/>
            <a:ext cx="492251" cy="1169551"/>
          </a:xfrm>
          <a:prstGeom prst="rect">
            <a:avLst/>
          </a:prstGeom>
        </p:spPr>
        <p:txBody>
          <a:bodyPr wrap="none">
            <a:spAutoFit/>
          </a:bodyPr>
          <a:lstStyle/>
          <a:p>
            <a:pPr lvl="0" algn="ctr">
              <a:lnSpc>
                <a:spcPts val="8399"/>
              </a:lnSpc>
              <a:spcBef>
                <a:spcPct val="0"/>
              </a:spcBef>
            </a:pPr>
            <a:r>
              <a:rPr lang="en-US" sz="6000" spc="-139" dirty="0">
                <a:solidFill>
                  <a:srgbClr val="FFF5AC"/>
                </a:solidFill>
                <a:latin typeface="One Little Font Bold"/>
              </a:rPr>
              <a:t>1</a:t>
            </a:r>
          </a:p>
        </p:txBody>
      </p:sp>
      <p:sp>
        <p:nvSpPr>
          <p:cNvPr id="14" name="Rectangle 13">
            <a:extLst>
              <a:ext uri="{FF2B5EF4-FFF2-40B4-BE49-F238E27FC236}">
                <a16:creationId xmlns:a16="http://schemas.microsoft.com/office/drawing/2014/main" id="{D89AA98A-EFCF-4DCC-A129-40AAA4597CC1}"/>
              </a:ext>
            </a:extLst>
          </p:cNvPr>
          <p:cNvSpPr/>
          <p:nvPr/>
        </p:nvSpPr>
        <p:spPr>
          <a:xfrm>
            <a:off x="904174" y="5783259"/>
            <a:ext cx="554768" cy="1169551"/>
          </a:xfrm>
          <a:prstGeom prst="rect">
            <a:avLst/>
          </a:prstGeom>
        </p:spPr>
        <p:txBody>
          <a:bodyPr wrap="none">
            <a:spAutoFit/>
          </a:bodyPr>
          <a:lstStyle/>
          <a:p>
            <a:pPr lvl="0" algn="ctr">
              <a:lnSpc>
                <a:spcPts val="8399"/>
              </a:lnSpc>
              <a:spcBef>
                <a:spcPct val="0"/>
              </a:spcBef>
            </a:pPr>
            <a:r>
              <a:rPr lang="en-US" sz="6000" spc="-139" dirty="0">
                <a:solidFill>
                  <a:srgbClr val="FFF5AC"/>
                </a:solidFill>
                <a:latin typeface="One Little Font Bold"/>
              </a:rPr>
              <a:t>2</a:t>
            </a:r>
          </a:p>
        </p:txBody>
      </p:sp>
      <p:sp>
        <p:nvSpPr>
          <p:cNvPr id="15" name="Rectangle 14">
            <a:extLst>
              <a:ext uri="{FF2B5EF4-FFF2-40B4-BE49-F238E27FC236}">
                <a16:creationId xmlns:a16="http://schemas.microsoft.com/office/drawing/2014/main" id="{A147E70D-9ED6-438A-8FE2-413964F67EA1}"/>
              </a:ext>
            </a:extLst>
          </p:cNvPr>
          <p:cNvSpPr/>
          <p:nvPr/>
        </p:nvSpPr>
        <p:spPr>
          <a:xfrm>
            <a:off x="901770" y="7454579"/>
            <a:ext cx="559577" cy="1169551"/>
          </a:xfrm>
          <a:prstGeom prst="rect">
            <a:avLst/>
          </a:prstGeom>
        </p:spPr>
        <p:txBody>
          <a:bodyPr wrap="none">
            <a:spAutoFit/>
          </a:bodyPr>
          <a:lstStyle/>
          <a:p>
            <a:pPr lvl="0" algn="ctr">
              <a:lnSpc>
                <a:spcPts val="8399"/>
              </a:lnSpc>
              <a:spcBef>
                <a:spcPct val="0"/>
              </a:spcBef>
            </a:pPr>
            <a:r>
              <a:rPr lang="en-US" sz="6000" spc="-139" dirty="0">
                <a:solidFill>
                  <a:srgbClr val="FFF5AC"/>
                </a:solidFill>
                <a:latin typeface="One Little Font Bold"/>
              </a:rPr>
              <a:t>3</a:t>
            </a:r>
          </a:p>
        </p:txBody>
      </p:sp>
    </p:spTree>
    <p:extLst>
      <p:ext uri="{BB962C8B-B14F-4D97-AF65-F5344CB8AC3E}">
        <p14:creationId xmlns:p14="http://schemas.microsoft.com/office/powerpoint/2010/main" val="241553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625"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993386">
            <a:off x="15869990" y="8001505"/>
            <a:ext cx="5469114" cy="2645062"/>
          </a:xfrm>
          <a:custGeom>
            <a:avLst/>
            <a:gdLst/>
            <a:ahLst/>
            <a:cxnLst/>
            <a:rect l="l" t="t" r="r" b="b"/>
            <a:pathLst>
              <a:path w="5469114" h="2645062">
                <a:moveTo>
                  <a:pt x="0" y="0"/>
                </a:moveTo>
                <a:lnTo>
                  <a:pt x="5469113" y="0"/>
                </a:lnTo>
                <a:lnTo>
                  <a:pt x="5469113" y="2645062"/>
                </a:lnTo>
                <a:lnTo>
                  <a:pt x="0" y="26450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5">
            <a:extLst>
              <a:ext uri="{FF2B5EF4-FFF2-40B4-BE49-F238E27FC236}">
                <a16:creationId xmlns:a16="http://schemas.microsoft.com/office/drawing/2014/main" id="{D9D74359-F716-43F1-A10F-0B904C03F418}"/>
              </a:ext>
            </a:extLst>
          </p:cNvPr>
          <p:cNvSpPr txBox="1"/>
          <p:nvPr/>
        </p:nvSpPr>
        <p:spPr>
          <a:xfrm>
            <a:off x="9074810" y="1918892"/>
            <a:ext cx="983590" cy="992579"/>
          </a:xfrm>
          <a:prstGeom prst="rect">
            <a:avLst/>
          </a:prstGeom>
        </p:spPr>
        <p:txBody>
          <a:bodyPr wrap="square" lIns="0" tIns="0" rIns="0" bIns="0" rtlCol="0" anchor="t">
            <a:spAutoFit/>
          </a:bodyPr>
          <a:lstStyle/>
          <a:p>
            <a:pPr marL="0" lvl="0" indent="0" algn="ctr">
              <a:lnSpc>
                <a:spcPts val="8399"/>
              </a:lnSpc>
              <a:spcBef>
                <a:spcPct val="0"/>
              </a:spcBef>
            </a:pPr>
            <a:r>
              <a:rPr lang="en-US" sz="4800" spc="-139" dirty="0">
                <a:solidFill>
                  <a:srgbClr val="FACBCB"/>
                </a:solidFill>
                <a:latin typeface="One Little Font Bold"/>
              </a:rPr>
              <a:t>1</a:t>
            </a:r>
          </a:p>
        </p:txBody>
      </p:sp>
      <p:sp>
        <p:nvSpPr>
          <p:cNvPr id="18" name="TextBox 15">
            <a:extLst>
              <a:ext uri="{FF2B5EF4-FFF2-40B4-BE49-F238E27FC236}">
                <a16:creationId xmlns:a16="http://schemas.microsoft.com/office/drawing/2014/main" id="{3A0517CE-9DCF-4FC4-94D6-54B3E2880BDA}"/>
              </a:ext>
            </a:extLst>
          </p:cNvPr>
          <p:cNvSpPr txBox="1"/>
          <p:nvPr/>
        </p:nvSpPr>
        <p:spPr>
          <a:xfrm>
            <a:off x="9074810" y="2828338"/>
            <a:ext cx="983590" cy="992579"/>
          </a:xfrm>
          <a:prstGeom prst="rect">
            <a:avLst/>
          </a:prstGeom>
        </p:spPr>
        <p:txBody>
          <a:bodyPr wrap="square" lIns="0" tIns="0" rIns="0" bIns="0" rtlCol="0" anchor="t">
            <a:spAutoFit/>
          </a:bodyPr>
          <a:lstStyle/>
          <a:p>
            <a:pPr marL="0" lvl="0" indent="0" algn="ctr">
              <a:lnSpc>
                <a:spcPts val="8399"/>
              </a:lnSpc>
              <a:spcBef>
                <a:spcPct val="0"/>
              </a:spcBef>
            </a:pPr>
            <a:r>
              <a:rPr lang="en-US" sz="4800" spc="-139" dirty="0">
                <a:solidFill>
                  <a:srgbClr val="FACBCB"/>
                </a:solidFill>
                <a:latin typeface="One Little Font Bold"/>
              </a:rPr>
              <a:t>2</a:t>
            </a:r>
          </a:p>
        </p:txBody>
      </p:sp>
      <p:sp>
        <p:nvSpPr>
          <p:cNvPr id="19" name="TextBox 15">
            <a:extLst>
              <a:ext uri="{FF2B5EF4-FFF2-40B4-BE49-F238E27FC236}">
                <a16:creationId xmlns:a16="http://schemas.microsoft.com/office/drawing/2014/main" id="{EDD3AAD6-675B-4FA2-B2AD-52F4CBB9206D}"/>
              </a:ext>
            </a:extLst>
          </p:cNvPr>
          <p:cNvSpPr txBox="1"/>
          <p:nvPr/>
        </p:nvSpPr>
        <p:spPr>
          <a:xfrm>
            <a:off x="9074810" y="4288183"/>
            <a:ext cx="983590" cy="992579"/>
          </a:xfrm>
          <a:prstGeom prst="rect">
            <a:avLst/>
          </a:prstGeom>
        </p:spPr>
        <p:txBody>
          <a:bodyPr wrap="square" lIns="0" tIns="0" rIns="0" bIns="0" rtlCol="0" anchor="t">
            <a:spAutoFit/>
          </a:bodyPr>
          <a:lstStyle/>
          <a:p>
            <a:pPr marL="0" lvl="0" indent="0" algn="ctr">
              <a:lnSpc>
                <a:spcPts val="8399"/>
              </a:lnSpc>
              <a:spcBef>
                <a:spcPct val="0"/>
              </a:spcBef>
            </a:pPr>
            <a:r>
              <a:rPr lang="en-US" sz="4800" spc="-139" dirty="0">
                <a:solidFill>
                  <a:srgbClr val="FACBCB"/>
                </a:solidFill>
                <a:latin typeface="One Little Font Bold"/>
              </a:rPr>
              <a:t>3</a:t>
            </a:r>
          </a:p>
        </p:txBody>
      </p:sp>
      <p:sp>
        <p:nvSpPr>
          <p:cNvPr id="20" name="TextBox 15">
            <a:extLst>
              <a:ext uri="{FF2B5EF4-FFF2-40B4-BE49-F238E27FC236}">
                <a16:creationId xmlns:a16="http://schemas.microsoft.com/office/drawing/2014/main" id="{12649A37-657B-4C63-88F8-E9BB959991B0}"/>
              </a:ext>
            </a:extLst>
          </p:cNvPr>
          <p:cNvSpPr txBox="1"/>
          <p:nvPr/>
        </p:nvSpPr>
        <p:spPr>
          <a:xfrm>
            <a:off x="9074810" y="5522521"/>
            <a:ext cx="983590" cy="992579"/>
          </a:xfrm>
          <a:prstGeom prst="rect">
            <a:avLst/>
          </a:prstGeom>
        </p:spPr>
        <p:txBody>
          <a:bodyPr wrap="square" lIns="0" tIns="0" rIns="0" bIns="0" rtlCol="0" anchor="t">
            <a:spAutoFit/>
          </a:bodyPr>
          <a:lstStyle/>
          <a:p>
            <a:pPr marL="0" lvl="0" indent="0" algn="ctr">
              <a:lnSpc>
                <a:spcPts val="8399"/>
              </a:lnSpc>
              <a:spcBef>
                <a:spcPct val="0"/>
              </a:spcBef>
            </a:pPr>
            <a:r>
              <a:rPr lang="en-US" sz="4800" spc="-139" dirty="0">
                <a:solidFill>
                  <a:srgbClr val="FACBCB"/>
                </a:solidFill>
                <a:latin typeface="One Little Font Bold"/>
              </a:rPr>
              <a:t>4</a:t>
            </a:r>
          </a:p>
        </p:txBody>
      </p:sp>
      <p:sp>
        <p:nvSpPr>
          <p:cNvPr id="21" name="TextBox 15">
            <a:extLst>
              <a:ext uri="{FF2B5EF4-FFF2-40B4-BE49-F238E27FC236}">
                <a16:creationId xmlns:a16="http://schemas.microsoft.com/office/drawing/2014/main" id="{F488B28C-8B6F-452D-933F-93FE6ED63538}"/>
              </a:ext>
            </a:extLst>
          </p:cNvPr>
          <p:cNvSpPr txBox="1"/>
          <p:nvPr/>
        </p:nvSpPr>
        <p:spPr>
          <a:xfrm>
            <a:off x="9074810" y="7122721"/>
            <a:ext cx="983590" cy="992579"/>
          </a:xfrm>
          <a:prstGeom prst="rect">
            <a:avLst/>
          </a:prstGeom>
        </p:spPr>
        <p:txBody>
          <a:bodyPr wrap="square" lIns="0" tIns="0" rIns="0" bIns="0" rtlCol="0" anchor="t">
            <a:spAutoFit/>
          </a:bodyPr>
          <a:lstStyle/>
          <a:p>
            <a:pPr marL="0" lvl="0" indent="0" algn="ctr">
              <a:lnSpc>
                <a:spcPts val="8399"/>
              </a:lnSpc>
              <a:spcBef>
                <a:spcPct val="0"/>
              </a:spcBef>
            </a:pPr>
            <a:r>
              <a:rPr lang="en-US" sz="4800" spc="-139" dirty="0">
                <a:solidFill>
                  <a:srgbClr val="FACBCB"/>
                </a:solidFill>
                <a:latin typeface="One Little Font Bold"/>
              </a:rPr>
              <a:t>5</a:t>
            </a:r>
          </a:p>
        </p:txBody>
      </p:sp>
      <p:pic>
        <p:nvPicPr>
          <p:cNvPr id="8" name="Picture 7">
            <a:extLst>
              <a:ext uri="{FF2B5EF4-FFF2-40B4-BE49-F238E27FC236}">
                <a16:creationId xmlns:a16="http://schemas.microsoft.com/office/drawing/2014/main" id="{B03DF48C-9DA1-4CA0-9180-7DE408AAD07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90600" y="0"/>
            <a:ext cx="10287000" cy="10287000"/>
          </a:xfrm>
          <a:prstGeom prst="rect">
            <a:avLst/>
          </a:prstGeom>
        </p:spPr>
      </p:pic>
      <p:sp>
        <p:nvSpPr>
          <p:cNvPr id="4" name="TextBox 4"/>
          <p:cNvSpPr txBox="1"/>
          <p:nvPr/>
        </p:nvSpPr>
        <p:spPr>
          <a:xfrm>
            <a:off x="720223" y="610842"/>
            <a:ext cx="4781217" cy="1308050"/>
          </a:xfrm>
          <a:prstGeom prst="rect">
            <a:avLst/>
          </a:prstGeom>
        </p:spPr>
        <p:txBody>
          <a:bodyPr lIns="0" tIns="0" rIns="0" bIns="0" rtlCol="0" anchor="t">
            <a:spAutoFit/>
          </a:bodyPr>
          <a:lstStyle/>
          <a:p>
            <a:pPr marL="0" lvl="0" indent="0" algn="l">
              <a:lnSpc>
                <a:spcPts val="10199"/>
              </a:lnSpc>
              <a:spcBef>
                <a:spcPct val="0"/>
              </a:spcBef>
            </a:pPr>
            <a:r>
              <a:rPr lang="en-US" sz="8499" u="none" spc="-169" dirty="0">
                <a:solidFill>
                  <a:srgbClr val="FFFFFF"/>
                </a:solidFill>
                <a:latin typeface="One Little Font Bold"/>
              </a:rPr>
              <a:t>Sunscreens</a:t>
            </a:r>
          </a:p>
        </p:txBody>
      </p:sp>
      <p:sp>
        <p:nvSpPr>
          <p:cNvPr id="7" name="TextBox 7"/>
          <p:cNvSpPr txBox="1"/>
          <p:nvPr/>
        </p:nvSpPr>
        <p:spPr>
          <a:xfrm>
            <a:off x="10095834" y="2227383"/>
            <a:ext cx="7810500" cy="5934573"/>
          </a:xfrm>
          <a:prstGeom prst="rect">
            <a:avLst/>
          </a:prstGeom>
        </p:spPr>
        <p:txBody>
          <a:bodyPr wrap="square" lIns="0" tIns="0" rIns="0" bIns="0" rtlCol="0" anchor="t">
            <a:spAutoFit/>
          </a:bodyPr>
          <a:lstStyle/>
          <a:p>
            <a:pPr lvl="0" algn="just">
              <a:lnSpc>
                <a:spcPts val="3082"/>
              </a:lnSpc>
              <a:spcBef>
                <a:spcPct val="0"/>
              </a:spcBef>
            </a:pPr>
            <a:r>
              <a:rPr lang="en-US" sz="2300" spc="-46" dirty="0">
                <a:solidFill>
                  <a:srgbClr val="586EC4"/>
                </a:solidFill>
                <a:latin typeface="Nourd"/>
              </a:rPr>
              <a:t>UV filters can be chemical or physical</a:t>
            </a:r>
          </a:p>
          <a:p>
            <a:pPr lvl="0" algn="just">
              <a:lnSpc>
                <a:spcPts val="3082"/>
              </a:lnSpc>
              <a:spcBef>
                <a:spcPct val="0"/>
              </a:spcBef>
            </a:pPr>
            <a:endParaRPr lang="en-US" sz="2300" spc="-46" dirty="0">
              <a:solidFill>
                <a:srgbClr val="586EC4"/>
              </a:solidFill>
              <a:latin typeface="Nourd"/>
            </a:endParaRPr>
          </a:p>
          <a:p>
            <a:pPr lvl="0" algn="just">
              <a:lnSpc>
                <a:spcPts val="3082"/>
              </a:lnSpc>
              <a:spcBef>
                <a:spcPct val="0"/>
              </a:spcBef>
            </a:pPr>
            <a:r>
              <a:rPr lang="en-US" sz="2300" spc="-46" dirty="0">
                <a:solidFill>
                  <a:srgbClr val="586EC4"/>
                </a:solidFill>
                <a:latin typeface="Nourd"/>
              </a:rPr>
              <a:t>A suitable alternative to chemical filters is the use of physical UV filters (zinc oxide [ZnO] and titanium dioxide [TiO2]). But, they result in white cast on skin.</a:t>
            </a:r>
          </a:p>
          <a:p>
            <a:pPr lvl="0" algn="just">
              <a:lnSpc>
                <a:spcPts val="3082"/>
              </a:lnSpc>
              <a:spcBef>
                <a:spcPct val="0"/>
              </a:spcBef>
            </a:pPr>
            <a:endParaRPr lang="en-US" sz="2300" spc="-46" dirty="0">
              <a:solidFill>
                <a:srgbClr val="586EC4"/>
              </a:solidFill>
              <a:latin typeface="Nourd"/>
            </a:endParaRPr>
          </a:p>
          <a:p>
            <a:pPr lvl="0" algn="just">
              <a:lnSpc>
                <a:spcPts val="3082"/>
              </a:lnSpc>
              <a:spcBef>
                <a:spcPct val="0"/>
              </a:spcBef>
            </a:pPr>
            <a:r>
              <a:rPr lang="en-US" sz="2300" spc="-46" dirty="0">
                <a:solidFill>
                  <a:srgbClr val="586EC4"/>
                </a:solidFill>
                <a:latin typeface="Nourd"/>
              </a:rPr>
              <a:t>A way to overcome this problem is to decrease its particle size and/or incorporate these filters in nanoparticles</a:t>
            </a:r>
          </a:p>
          <a:p>
            <a:pPr lvl="0" algn="just">
              <a:lnSpc>
                <a:spcPts val="3082"/>
              </a:lnSpc>
              <a:spcBef>
                <a:spcPct val="0"/>
              </a:spcBef>
            </a:pPr>
            <a:endParaRPr lang="en-US" sz="2300" spc="-46" dirty="0">
              <a:solidFill>
                <a:srgbClr val="586EC4"/>
              </a:solidFill>
              <a:latin typeface="Nourd"/>
            </a:endParaRPr>
          </a:p>
          <a:p>
            <a:pPr lvl="0" algn="just">
              <a:lnSpc>
                <a:spcPts val="3082"/>
              </a:lnSpc>
              <a:spcBef>
                <a:spcPct val="0"/>
              </a:spcBef>
            </a:pPr>
            <a:r>
              <a:rPr lang="en-US" sz="2300" spc="-46" dirty="0">
                <a:solidFill>
                  <a:srgbClr val="586EC4"/>
                </a:solidFill>
                <a:latin typeface="Nourd"/>
              </a:rPr>
              <a:t>But titanium dioxide and zinc oxide nanoparticles were shown to trigger the formation of free radicals upon exposure to UV rays </a:t>
            </a:r>
          </a:p>
          <a:p>
            <a:pPr lvl="0" algn="just">
              <a:lnSpc>
                <a:spcPts val="3082"/>
              </a:lnSpc>
              <a:spcBef>
                <a:spcPct val="0"/>
              </a:spcBef>
            </a:pPr>
            <a:endParaRPr lang="en-US" sz="2300" spc="-46" dirty="0">
              <a:solidFill>
                <a:srgbClr val="586EC4"/>
              </a:solidFill>
              <a:latin typeface="Nourd"/>
            </a:endParaRPr>
          </a:p>
          <a:p>
            <a:pPr lvl="0" algn="just">
              <a:lnSpc>
                <a:spcPts val="3082"/>
              </a:lnSpc>
              <a:spcBef>
                <a:spcPct val="0"/>
              </a:spcBef>
            </a:pPr>
            <a:r>
              <a:rPr lang="en-US" sz="2300" spc="-46" dirty="0">
                <a:solidFill>
                  <a:srgbClr val="586EC4"/>
                </a:solidFill>
                <a:latin typeface="Nourd"/>
              </a:rPr>
              <a:t>To overcome this, nanoparticles were coated with materials that almost completely block the release of free radicals</a:t>
            </a:r>
            <a:r>
              <a:rPr lang="en-US" sz="2300" u="none" spc="-46" dirty="0">
                <a:solidFill>
                  <a:srgbClr val="586EC4"/>
                </a:solidFill>
                <a:latin typeface="Nourd"/>
              </a:rPr>
              <a:t>.</a:t>
            </a:r>
          </a:p>
        </p:txBody>
      </p:sp>
      <p:sp>
        <p:nvSpPr>
          <p:cNvPr id="13" name="Freeform 13"/>
          <p:cNvSpPr/>
          <p:nvPr/>
        </p:nvSpPr>
        <p:spPr>
          <a:xfrm rot="993386">
            <a:off x="8549794" y="-1170895"/>
            <a:ext cx="5469114" cy="2645062"/>
          </a:xfrm>
          <a:custGeom>
            <a:avLst/>
            <a:gdLst/>
            <a:ahLst/>
            <a:cxnLst/>
            <a:rect l="l" t="t" r="r" b="b"/>
            <a:pathLst>
              <a:path w="5469114" h="2645062">
                <a:moveTo>
                  <a:pt x="0" y="0"/>
                </a:moveTo>
                <a:lnTo>
                  <a:pt x="5469114" y="0"/>
                </a:lnTo>
                <a:lnTo>
                  <a:pt x="5469114" y="2645063"/>
                </a:lnTo>
                <a:lnTo>
                  <a:pt x="0" y="26450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3848477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B13B0B9-7067-4BEC-9DE5-D71AE0060612}"/>
              </a:ext>
            </a:extLst>
          </p:cNvPr>
          <p:cNvSpPr/>
          <p:nvPr/>
        </p:nvSpPr>
        <p:spPr>
          <a:xfrm>
            <a:off x="-69190" y="-182479"/>
            <a:ext cx="18357190" cy="10651958"/>
          </a:xfrm>
          <a:prstGeom prst="rect">
            <a:avLst/>
          </a:prstGeom>
          <a:solidFill>
            <a:srgbClr val="FA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18B72D0-20D1-4EA6-8004-00BCCD6F8F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1112" y="643720"/>
            <a:ext cx="9144000" cy="9144000"/>
          </a:xfrm>
          <a:prstGeom prst="rect">
            <a:avLst/>
          </a:prstGeom>
        </p:spPr>
      </p:pic>
      <p:sp>
        <p:nvSpPr>
          <p:cNvPr id="22" name="Oval 21">
            <a:extLst>
              <a:ext uri="{FF2B5EF4-FFF2-40B4-BE49-F238E27FC236}">
                <a16:creationId xmlns:a16="http://schemas.microsoft.com/office/drawing/2014/main" id="{B6DC2826-A48F-425E-A0E7-6C34A55B424B}"/>
              </a:ext>
            </a:extLst>
          </p:cNvPr>
          <p:cNvSpPr/>
          <p:nvPr/>
        </p:nvSpPr>
        <p:spPr>
          <a:xfrm>
            <a:off x="9207958" y="1601797"/>
            <a:ext cx="3206049" cy="75352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717420A-5428-4D82-AB27-85FE83A320ED}"/>
              </a:ext>
            </a:extLst>
          </p:cNvPr>
          <p:cNvSpPr/>
          <p:nvPr/>
        </p:nvSpPr>
        <p:spPr>
          <a:xfrm>
            <a:off x="5447665" y="5423432"/>
            <a:ext cx="3543656" cy="99257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5"/>
          <p:cNvSpPr/>
          <p:nvPr/>
        </p:nvSpPr>
        <p:spPr>
          <a:xfrm rot="993386">
            <a:off x="16018846" y="8001505"/>
            <a:ext cx="5469114" cy="2645062"/>
          </a:xfrm>
          <a:custGeom>
            <a:avLst/>
            <a:gdLst/>
            <a:ahLst/>
            <a:cxnLst/>
            <a:rect l="l" t="t" r="r" b="b"/>
            <a:pathLst>
              <a:path w="5469114" h="2645062">
                <a:moveTo>
                  <a:pt x="0" y="0"/>
                </a:moveTo>
                <a:lnTo>
                  <a:pt x="5469113" y="0"/>
                </a:lnTo>
                <a:lnTo>
                  <a:pt x="5469113" y="2645062"/>
                </a:lnTo>
                <a:lnTo>
                  <a:pt x="0" y="26450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11" name="Picture 10">
            <a:extLst>
              <a:ext uri="{FF2B5EF4-FFF2-40B4-BE49-F238E27FC236}">
                <a16:creationId xmlns:a16="http://schemas.microsoft.com/office/drawing/2014/main" id="{09B32FA7-82C2-43AB-91CF-F78A16216E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8751" y="5215720"/>
            <a:ext cx="4664956" cy="2154878"/>
          </a:xfrm>
          <a:prstGeom prst="rect">
            <a:avLst/>
          </a:prstGeom>
        </p:spPr>
      </p:pic>
      <p:pic>
        <p:nvPicPr>
          <p:cNvPr id="15" name="Picture 14">
            <a:extLst>
              <a:ext uri="{FF2B5EF4-FFF2-40B4-BE49-F238E27FC236}">
                <a16:creationId xmlns:a16="http://schemas.microsoft.com/office/drawing/2014/main" id="{403AAF06-9A67-4AB9-BCE7-AFABA4607FF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460358" y="1754973"/>
            <a:ext cx="5758452" cy="2185928"/>
          </a:xfrm>
          <a:prstGeom prst="rect">
            <a:avLst/>
          </a:prstGeom>
        </p:spPr>
      </p:pic>
      <p:sp>
        <p:nvSpPr>
          <p:cNvPr id="32" name="Freeform 9">
            <a:extLst>
              <a:ext uri="{FF2B5EF4-FFF2-40B4-BE49-F238E27FC236}">
                <a16:creationId xmlns:a16="http://schemas.microsoft.com/office/drawing/2014/main" id="{5DA0D5C5-8FF4-4E98-931E-E6F45798DFC5}"/>
              </a:ext>
            </a:extLst>
          </p:cNvPr>
          <p:cNvSpPr/>
          <p:nvPr/>
        </p:nvSpPr>
        <p:spPr>
          <a:xfrm rot="-9396796">
            <a:off x="-447591" y="8102366"/>
            <a:ext cx="2640152" cy="2443341"/>
          </a:xfrm>
          <a:custGeom>
            <a:avLst/>
            <a:gdLst/>
            <a:ahLst/>
            <a:cxnLst/>
            <a:rect l="l" t="t" r="r" b="b"/>
            <a:pathLst>
              <a:path w="2640152" h="2443341">
                <a:moveTo>
                  <a:pt x="0" y="0"/>
                </a:moveTo>
                <a:lnTo>
                  <a:pt x="2640152" y="0"/>
                </a:lnTo>
                <a:lnTo>
                  <a:pt x="2640152" y="2443341"/>
                </a:lnTo>
                <a:lnTo>
                  <a:pt x="0" y="244334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cxnSp>
        <p:nvCxnSpPr>
          <p:cNvPr id="34" name="Straight Connector 33">
            <a:extLst>
              <a:ext uri="{FF2B5EF4-FFF2-40B4-BE49-F238E27FC236}">
                <a16:creationId xmlns:a16="http://schemas.microsoft.com/office/drawing/2014/main" id="{411DCDD4-C645-45FD-8F58-0CEC887AE8D8}"/>
              </a:ext>
            </a:extLst>
          </p:cNvPr>
          <p:cNvCxnSpPr/>
          <p:nvPr/>
        </p:nvCxnSpPr>
        <p:spPr>
          <a:xfrm>
            <a:off x="1161701" y="5753100"/>
            <a:ext cx="1065587"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ED96BC77-30F2-4156-86E2-609F287F6E43}"/>
              </a:ext>
            </a:extLst>
          </p:cNvPr>
          <p:cNvCxnSpPr>
            <a:cxnSpLocks/>
          </p:cNvCxnSpPr>
          <p:nvPr/>
        </p:nvCxnSpPr>
        <p:spPr>
          <a:xfrm>
            <a:off x="1161701" y="6776357"/>
            <a:ext cx="19862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D6BF67FE-C6F2-4354-A6DA-0181F74C5F77}"/>
              </a:ext>
            </a:extLst>
          </p:cNvPr>
          <p:cNvCxnSpPr>
            <a:cxnSpLocks/>
          </p:cNvCxnSpPr>
          <p:nvPr/>
        </p:nvCxnSpPr>
        <p:spPr>
          <a:xfrm>
            <a:off x="12548158" y="3390900"/>
            <a:ext cx="19862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23" name="Freeform 5">
            <a:extLst>
              <a:ext uri="{FF2B5EF4-FFF2-40B4-BE49-F238E27FC236}">
                <a16:creationId xmlns:a16="http://schemas.microsoft.com/office/drawing/2014/main" id="{3A6343C3-3753-4E4D-9E3B-D4FD1EA5A415}"/>
              </a:ext>
            </a:extLst>
          </p:cNvPr>
          <p:cNvSpPr/>
          <p:nvPr/>
        </p:nvSpPr>
        <p:spPr>
          <a:xfrm rot="993386">
            <a:off x="-2627955" y="-981002"/>
            <a:ext cx="5469114" cy="2645062"/>
          </a:xfrm>
          <a:custGeom>
            <a:avLst/>
            <a:gdLst/>
            <a:ahLst/>
            <a:cxnLst/>
            <a:rect l="l" t="t" r="r" b="b"/>
            <a:pathLst>
              <a:path w="5469114" h="2645062">
                <a:moveTo>
                  <a:pt x="0" y="0"/>
                </a:moveTo>
                <a:lnTo>
                  <a:pt x="5469113" y="0"/>
                </a:lnTo>
                <a:lnTo>
                  <a:pt x="5469113" y="2645062"/>
                </a:lnTo>
                <a:lnTo>
                  <a:pt x="0" y="26450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410187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2">
            <a:extLst>
              <a:ext uri="{FF2B5EF4-FFF2-40B4-BE49-F238E27FC236}">
                <a16:creationId xmlns:a16="http://schemas.microsoft.com/office/drawing/2014/main" id="{040DA3D3-7940-4D2E-B656-E8973AAB5EC9}"/>
              </a:ext>
            </a:extLst>
          </p:cNvPr>
          <p:cNvSpPr/>
          <p:nvPr/>
        </p:nvSpPr>
        <p:spPr>
          <a:xfrm>
            <a:off x="-773228" y="-155739"/>
            <a:ext cx="19338096" cy="10877679"/>
          </a:xfrm>
          <a:custGeom>
            <a:avLst/>
            <a:gdLst/>
            <a:ahLst/>
            <a:cxnLst/>
            <a:rect l="l" t="t" r="r" b="b"/>
            <a:pathLst>
              <a:path w="19338096" h="10877679">
                <a:moveTo>
                  <a:pt x="0" y="0"/>
                </a:moveTo>
                <a:lnTo>
                  <a:pt x="19338097" y="0"/>
                </a:lnTo>
                <a:lnTo>
                  <a:pt x="19338097" y="10877680"/>
                </a:lnTo>
                <a:lnTo>
                  <a:pt x="0" y="10877680"/>
                </a:lnTo>
                <a:lnTo>
                  <a:pt x="0" y="0"/>
                </a:lnTo>
                <a:close/>
              </a:path>
            </a:pathLst>
          </a:custGeom>
          <a:blipFill>
            <a:blip r:embed="rId2">
              <a:extLst>
                <a:ext uri="{96DAC541-7B7A-43D3-8B79-37D633B846F1}">
                  <asvg:svgBlip xmlns:asvg="http://schemas.microsoft.com/office/drawing/2016/SVG/main" r:embed="rId3"/>
                </a:ext>
              </a:extLst>
            </a:blip>
            <a:stretch>
              <a:fillRect/>
            </a:stretch>
          </a:blipFill>
          <a:ln>
            <a:noFill/>
          </a:ln>
        </p:spPr>
      </p:sp>
      <p:sp>
        <p:nvSpPr>
          <p:cNvPr id="2" name="Rectangle 1">
            <a:extLst>
              <a:ext uri="{FF2B5EF4-FFF2-40B4-BE49-F238E27FC236}">
                <a16:creationId xmlns:a16="http://schemas.microsoft.com/office/drawing/2014/main" id="{A221D866-ABE0-4DB0-B5B2-9EB5477D02CD}"/>
              </a:ext>
            </a:extLst>
          </p:cNvPr>
          <p:cNvSpPr/>
          <p:nvPr/>
        </p:nvSpPr>
        <p:spPr>
          <a:xfrm>
            <a:off x="767749" y="383436"/>
            <a:ext cx="16944443" cy="9434856"/>
          </a:xfrm>
          <a:prstGeom prst="rect">
            <a:avLst/>
          </a:prstGeom>
          <a:solidFill>
            <a:schemeClr val="bg1"/>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EB58C2E-1669-475E-A6B1-5BA77C9D9866}"/>
              </a:ext>
            </a:extLst>
          </p:cNvPr>
          <p:cNvSpPr/>
          <p:nvPr/>
        </p:nvSpPr>
        <p:spPr>
          <a:xfrm>
            <a:off x="1828800" y="2229816"/>
            <a:ext cx="9144000" cy="6653616"/>
          </a:xfrm>
          <a:prstGeom prst="rect">
            <a:avLst/>
          </a:prstGeom>
        </p:spPr>
        <p:txBody>
          <a:bodyPr wrap="square">
            <a:spAutoFit/>
          </a:bodyPr>
          <a:lstStyle/>
          <a:p>
            <a:pPr algn="just">
              <a:lnSpc>
                <a:spcPts val="4339"/>
              </a:lnSpc>
              <a:defRPr/>
            </a:pPr>
            <a:r>
              <a:rPr lang="en-US" sz="2800" b="1" dirty="0">
                <a:solidFill>
                  <a:srgbClr val="F877BB"/>
                </a:solidFill>
                <a:latin typeface="Palatino Linotype" panose="02040502050505030304" pitchFamily="18" charset="0"/>
              </a:rPr>
              <a:t>A</a:t>
            </a:r>
            <a:r>
              <a:rPr lang="en-US" sz="2400" b="1" dirty="0">
                <a:solidFill>
                  <a:srgbClr val="F877BB"/>
                </a:solidFill>
                <a:latin typeface="Palatino Linotype" panose="02040502050505030304" pitchFamily="18" charset="0"/>
              </a:rPr>
              <a:t>cne vulgaris is one of the most commonly observed skin diseases, affecting young adults (11–30 years). It can cause permanent physical scarring.</a:t>
            </a:r>
          </a:p>
          <a:p>
            <a:pPr algn="just">
              <a:lnSpc>
                <a:spcPts val="4339"/>
              </a:lnSpc>
              <a:defRPr/>
            </a:pPr>
            <a:endParaRPr lang="en-US" sz="2400" b="1" dirty="0">
              <a:solidFill>
                <a:srgbClr val="F877BB"/>
              </a:solidFill>
              <a:latin typeface="Palatino Linotype" panose="02040502050505030304" pitchFamily="18" charset="0"/>
            </a:endParaRPr>
          </a:p>
          <a:p>
            <a:pPr algn="just">
              <a:lnSpc>
                <a:spcPts val="4339"/>
              </a:lnSpc>
              <a:defRPr/>
            </a:pPr>
            <a:r>
              <a:rPr lang="en-US" sz="2400" b="1" dirty="0">
                <a:solidFill>
                  <a:srgbClr val="F877BB"/>
                </a:solidFill>
                <a:latin typeface="Palatino Linotype" panose="02040502050505030304" pitchFamily="18" charset="0"/>
              </a:rPr>
              <a:t>Often associated with acne-related bacteria such as</a:t>
            </a:r>
            <a:r>
              <a:rPr lang="en-US" sz="5400" b="1" dirty="0">
                <a:solidFill>
                  <a:srgbClr val="F877BB"/>
                </a:solidFill>
                <a:latin typeface="Palatino Linotype" panose="02040502050505030304" pitchFamily="18" charset="0"/>
              </a:rPr>
              <a:t> </a:t>
            </a:r>
            <a:r>
              <a:rPr lang="en-US" sz="2400" b="1" dirty="0">
                <a:solidFill>
                  <a:srgbClr val="F877BB"/>
                </a:solidFill>
                <a:latin typeface="Palatino Linotype" panose="02040502050505030304" pitchFamily="18" charset="0"/>
              </a:rPr>
              <a:t>Propionibacterium acnes, Staphylococcus epidermidis, Staphylococcus aureus</a:t>
            </a:r>
          </a:p>
          <a:p>
            <a:pPr algn="just">
              <a:lnSpc>
                <a:spcPts val="4339"/>
              </a:lnSpc>
              <a:defRPr/>
            </a:pPr>
            <a:endParaRPr lang="en-US" dirty="0"/>
          </a:p>
          <a:p>
            <a:pPr algn="just">
              <a:lnSpc>
                <a:spcPts val="4339"/>
              </a:lnSpc>
              <a:defRPr/>
            </a:pPr>
            <a:r>
              <a:rPr lang="en-US" sz="2400" b="1" dirty="0">
                <a:solidFill>
                  <a:srgbClr val="F877BB"/>
                </a:solidFill>
                <a:latin typeface="Palatino Linotype" panose="02040502050505030304" pitchFamily="18" charset="0"/>
              </a:rPr>
              <a:t>There are two types of acne that you can get, inflammatory and non-inflammatory acne</a:t>
            </a:r>
          </a:p>
          <a:p>
            <a:pPr algn="just">
              <a:lnSpc>
                <a:spcPts val="4339"/>
              </a:lnSpc>
              <a:defRPr/>
            </a:pPr>
            <a:r>
              <a:rPr lang="en-US" sz="2400" b="1" dirty="0">
                <a:solidFill>
                  <a:srgbClr val="F877BB"/>
                </a:solidFill>
                <a:latin typeface="Palatino Linotype" panose="02040502050505030304" pitchFamily="18" charset="0"/>
              </a:rPr>
              <a:t>	Non-inflammatory: on the surface of the skin</a:t>
            </a:r>
          </a:p>
          <a:p>
            <a:pPr algn="just">
              <a:lnSpc>
                <a:spcPts val="4339"/>
              </a:lnSpc>
              <a:defRPr/>
            </a:pPr>
            <a:r>
              <a:rPr lang="en-US" sz="2400" b="1" dirty="0">
                <a:solidFill>
                  <a:srgbClr val="F877BB"/>
                </a:solidFill>
                <a:latin typeface="Palatino Linotype" panose="02040502050505030304" pitchFamily="18" charset="0"/>
              </a:rPr>
              <a:t>	Inflammatory: is from the deeper layers of the skin</a:t>
            </a:r>
          </a:p>
        </p:txBody>
      </p:sp>
      <p:sp>
        <p:nvSpPr>
          <p:cNvPr id="8" name="Freeform 8"/>
          <p:cNvSpPr/>
          <p:nvPr/>
        </p:nvSpPr>
        <p:spPr>
          <a:xfrm rot="-1571087">
            <a:off x="-396651" y="304003"/>
            <a:ext cx="3117401" cy="816192"/>
          </a:xfrm>
          <a:custGeom>
            <a:avLst/>
            <a:gdLst/>
            <a:ahLst/>
            <a:cxnLst/>
            <a:rect l="l" t="t" r="r" b="b"/>
            <a:pathLst>
              <a:path w="3117401" h="816192">
                <a:moveTo>
                  <a:pt x="0" y="0"/>
                </a:moveTo>
                <a:lnTo>
                  <a:pt x="3117401" y="0"/>
                </a:lnTo>
                <a:lnTo>
                  <a:pt x="3117401" y="816192"/>
                </a:lnTo>
                <a:lnTo>
                  <a:pt x="0" y="8161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2509139" y="922102"/>
            <a:ext cx="13269723" cy="1173398"/>
          </a:xfrm>
          <a:prstGeom prst="rect">
            <a:avLst/>
          </a:prstGeom>
        </p:spPr>
        <p:txBody>
          <a:bodyPr lIns="0" tIns="0" rIns="0" bIns="0" rtlCol="0" anchor="t">
            <a:spAutoFit/>
          </a:bodyPr>
          <a:lstStyle/>
          <a:p>
            <a:pPr marL="0" lvl="0" indent="0" algn="ctr">
              <a:lnSpc>
                <a:spcPts val="9000"/>
              </a:lnSpc>
              <a:spcBef>
                <a:spcPct val="0"/>
              </a:spcBef>
            </a:pPr>
            <a:r>
              <a:rPr lang="en-US" sz="8000" spc="-150" dirty="0">
                <a:solidFill>
                  <a:srgbClr val="586EC4"/>
                </a:solidFill>
                <a:latin typeface="One Little Font Bold"/>
              </a:rPr>
              <a:t>ACNE</a:t>
            </a:r>
            <a:r>
              <a:rPr lang="en-US" sz="7500" spc="-150" dirty="0">
                <a:solidFill>
                  <a:srgbClr val="586EC4"/>
                </a:solidFill>
                <a:latin typeface="One Little Font Bold"/>
              </a:rPr>
              <a:t> </a:t>
            </a:r>
            <a:endParaRPr lang="en-US" sz="7500" u="none" spc="-150" dirty="0">
              <a:solidFill>
                <a:srgbClr val="586EC4"/>
              </a:solidFill>
              <a:latin typeface="One Little Font Bold"/>
            </a:endParaRPr>
          </a:p>
        </p:txBody>
      </p:sp>
      <p:sp>
        <p:nvSpPr>
          <p:cNvPr id="5" name="Freeform 5"/>
          <p:cNvSpPr/>
          <p:nvPr/>
        </p:nvSpPr>
        <p:spPr>
          <a:xfrm>
            <a:off x="-1347089" y="8435608"/>
            <a:ext cx="2694177" cy="2297399"/>
          </a:xfrm>
          <a:custGeom>
            <a:avLst/>
            <a:gdLst/>
            <a:ahLst/>
            <a:cxnLst/>
            <a:rect l="l" t="t" r="r" b="b"/>
            <a:pathLst>
              <a:path w="2694177" h="2297399">
                <a:moveTo>
                  <a:pt x="0" y="0"/>
                </a:moveTo>
                <a:lnTo>
                  <a:pt x="2694178" y="0"/>
                </a:lnTo>
                <a:lnTo>
                  <a:pt x="2694178" y="2297398"/>
                </a:lnTo>
                <a:lnTo>
                  <a:pt x="0" y="22973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Rectangle 14">
            <a:extLst>
              <a:ext uri="{FF2B5EF4-FFF2-40B4-BE49-F238E27FC236}">
                <a16:creationId xmlns:a16="http://schemas.microsoft.com/office/drawing/2014/main" id="{907BF5A4-6187-4907-A670-4D5BC5C317EF}"/>
              </a:ext>
            </a:extLst>
          </p:cNvPr>
          <p:cNvSpPr/>
          <p:nvPr/>
        </p:nvSpPr>
        <p:spPr>
          <a:xfrm>
            <a:off x="1177602" y="2093757"/>
            <a:ext cx="492251" cy="1169551"/>
          </a:xfrm>
          <a:prstGeom prst="rect">
            <a:avLst/>
          </a:prstGeom>
        </p:spPr>
        <p:txBody>
          <a:bodyPr wrap="none">
            <a:spAutoFit/>
          </a:bodyPr>
          <a:lstStyle/>
          <a:p>
            <a:pPr lvl="0" algn="ctr">
              <a:lnSpc>
                <a:spcPts val="8399"/>
              </a:lnSpc>
              <a:spcBef>
                <a:spcPct val="0"/>
              </a:spcBef>
            </a:pPr>
            <a:r>
              <a:rPr lang="en-US" sz="6000" spc="-139" dirty="0">
                <a:solidFill>
                  <a:srgbClr val="FFF5AC"/>
                </a:solidFill>
                <a:latin typeface="One Little Font Bold"/>
              </a:rPr>
              <a:t>1</a:t>
            </a:r>
          </a:p>
        </p:txBody>
      </p:sp>
      <p:sp>
        <p:nvSpPr>
          <p:cNvPr id="16" name="Rectangle 15">
            <a:extLst>
              <a:ext uri="{FF2B5EF4-FFF2-40B4-BE49-F238E27FC236}">
                <a16:creationId xmlns:a16="http://schemas.microsoft.com/office/drawing/2014/main" id="{BC0EA6E9-941F-4BBB-A667-7C0639AAB92B}"/>
              </a:ext>
            </a:extLst>
          </p:cNvPr>
          <p:cNvSpPr/>
          <p:nvPr/>
        </p:nvSpPr>
        <p:spPr>
          <a:xfrm>
            <a:off x="1146343" y="4220268"/>
            <a:ext cx="554768" cy="1169551"/>
          </a:xfrm>
          <a:prstGeom prst="rect">
            <a:avLst/>
          </a:prstGeom>
        </p:spPr>
        <p:txBody>
          <a:bodyPr wrap="none">
            <a:spAutoFit/>
          </a:bodyPr>
          <a:lstStyle/>
          <a:p>
            <a:pPr lvl="0" algn="ctr">
              <a:lnSpc>
                <a:spcPts val="8399"/>
              </a:lnSpc>
              <a:spcBef>
                <a:spcPct val="0"/>
              </a:spcBef>
            </a:pPr>
            <a:r>
              <a:rPr lang="en-US" sz="6000" spc="-139" dirty="0">
                <a:solidFill>
                  <a:srgbClr val="FFF5AC"/>
                </a:solidFill>
                <a:latin typeface="One Little Font Bold"/>
              </a:rPr>
              <a:t>2</a:t>
            </a:r>
          </a:p>
        </p:txBody>
      </p:sp>
      <p:sp>
        <p:nvSpPr>
          <p:cNvPr id="17" name="Rectangle 16">
            <a:extLst>
              <a:ext uri="{FF2B5EF4-FFF2-40B4-BE49-F238E27FC236}">
                <a16:creationId xmlns:a16="http://schemas.microsoft.com/office/drawing/2014/main" id="{0252F1C9-EAD2-4EAD-916E-6C8C578C10F2}"/>
              </a:ext>
            </a:extLst>
          </p:cNvPr>
          <p:cNvSpPr/>
          <p:nvPr/>
        </p:nvSpPr>
        <p:spPr>
          <a:xfrm>
            <a:off x="1143939" y="6516901"/>
            <a:ext cx="559577" cy="1169551"/>
          </a:xfrm>
          <a:prstGeom prst="rect">
            <a:avLst/>
          </a:prstGeom>
        </p:spPr>
        <p:txBody>
          <a:bodyPr wrap="none">
            <a:spAutoFit/>
          </a:bodyPr>
          <a:lstStyle/>
          <a:p>
            <a:pPr lvl="0" algn="ctr">
              <a:lnSpc>
                <a:spcPts val="8399"/>
              </a:lnSpc>
              <a:spcBef>
                <a:spcPct val="0"/>
              </a:spcBef>
            </a:pPr>
            <a:r>
              <a:rPr lang="en-US" sz="6000" spc="-139" dirty="0">
                <a:solidFill>
                  <a:srgbClr val="FFF5AC"/>
                </a:solidFill>
                <a:latin typeface="One Little Font Bold"/>
              </a:rPr>
              <a:t>3</a:t>
            </a:r>
          </a:p>
        </p:txBody>
      </p:sp>
      <p:pic>
        <p:nvPicPr>
          <p:cNvPr id="20" name="Picture 19">
            <a:extLst>
              <a:ext uri="{FF2B5EF4-FFF2-40B4-BE49-F238E27FC236}">
                <a16:creationId xmlns:a16="http://schemas.microsoft.com/office/drawing/2014/main" id="{75FF66BA-176A-4C24-B5C1-5886FE790B0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056495" y="5661133"/>
            <a:ext cx="6749349" cy="3901967"/>
          </a:xfrm>
          <a:prstGeom prst="rect">
            <a:avLst/>
          </a:prstGeom>
        </p:spPr>
      </p:pic>
      <p:pic>
        <p:nvPicPr>
          <p:cNvPr id="22" name="Picture 21">
            <a:extLst>
              <a:ext uri="{FF2B5EF4-FFF2-40B4-BE49-F238E27FC236}">
                <a16:creationId xmlns:a16="http://schemas.microsoft.com/office/drawing/2014/main" id="{FB886085-7883-4994-A087-4C909B2FE59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098084" y="1860768"/>
            <a:ext cx="6480810" cy="3746718"/>
          </a:xfrm>
          <a:prstGeom prst="rect">
            <a:avLst/>
          </a:prstGeom>
        </p:spPr>
      </p:pic>
      <p:sp>
        <p:nvSpPr>
          <p:cNvPr id="7" name="Freeform 7"/>
          <p:cNvSpPr/>
          <p:nvPr/>
        </p:nvSpPr>
        <p:spPr>
          <a:xfrm rot="-1571087">
            <a:off x="15687120" y="9176212"/>
            <a:ext cx="3117401" cy="816192"/>
          </a:xfrm>
          <a:custGeom>
            <a:avLst/>
            <a:gdLst/>
            <a:ahLst/>
            <a:cxnLst/>
            <a:rect l="l" t="t" r="r" b="b"/>
            <a:pathLst>
              <a:path w="3117401" h="816192">
                <a:moveTo>
                  <a:pt x="0" y="0"/>
                </a:moveTo>
                <a:lnTo>
                  <a:pt x="3117400" y="0"/>
                </a:lnTo>
                <a:lnTo>
                  <a:pt x="3117400" y="816192"/>
                </a:lnTo>
                <a:lnTo>
                  <a:pt x="0" y="8161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4" name="Flowchart: Connector 23">
            <a:extLst>
              <a:ext uri="{FF2B5EF4-FFF2-40B4-BE49-F238E27FC236}">
                <a16:creationId xmlns:a16="http://schemas.microsoft.com/office/drawing/2014/main" id="{98A7E824-F58D-47D7-ADA9-65A3D356C1F2}"/>
              </a:ext>
            </a:extLst>
          </p:cNvPr>
          <p:cNvSpPr/>
          <p:nvPr/>
        </p:nvSpPr>
        <p:spPr>
          <a:xfrm>
            <a:off x="2417544" y="7932456"/>
            <a:ext cx="249456" cy="249456"/>
          </a:xfrm>
          <a:prstGeom prst="flowChartConnector">
            <a:avLst/>
          </a:prstGeom>
          <a:solidFill>
            <a:srgbClr val="FFF5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Connector 24">
            <a:extLst>
              <a:ext uri="{FF2B5EF4-FFF2-40B4-BE49-F238E27FC236}">
                <a16:creationId xmlns:a16="http://schemas.microsoft.com/office/drawing/2014/main" id="{43F1DA47-9ADC-4100-873D-011FED635357}"/>
              </a:ext>
            </a:extLst>
          </p:cNvPr>
          <p:cNvSpPr/>
          <p:nvPr/>
        </p:nvSpPr>
        <p:spPr>
          <a:xfrm>
            <a:off x="2417544" y="8506614"/>
            <a:ext cx="249456" cy="249456"/>
          </a:xfrm>
          <a:prstGeom prst="flowChartConnector">
            <a:avLst/>
          </a:prstGeom>
          <a:solidFill>
            <a:srgbClr val="FFF5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8568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D3E1EDC-11CB-4EB9-B83A-C4092A671B0F}"/>
              </a:ext>
            </a:extLst>
          </p:cNvPr>
          <p:cNvSpPr/>
          <p:nvPr/>
        </p:nvSpPr>
        <p:spPr>
          <a:xfrm>
            <a:off x="0" y="0"/>
            <a:ext cx="18440400" cy="10287000"/>
          </a:xfrm>
          <a:prstGeom prst="rect">
            <a:avLst/>
          </a:prstGeom>
          <a:solidFill>
            <a:srgbClr val="A4C3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9"/>
          <p:cNvSpPr/>
          <p:nvPr/>
        </p:nvSpPr>
        <p:spPr>
          <a:xfrm rot="-5400000">
            <a:off x="-1053370" y="-868441"/>
            <a:ext cx="3100383" cy="1978608"/>
          </a:xfrm>
          <a:custGeom>
            <a:avLst/>
            <a:gdLst/>
            <a:ahLst/>
            <a:cxnLst/>
            <a:rect l="l" t="t" r="r" b="b"/>
            <a:pathLst>
              <a:path w="3100383" h="1978608">
                <a:moveTo>
                  <a:pt x="0" y="0"/>
                </a:moveTo>
                <a:lnTo>
                  <a:pt x="3100383" y="0"/>
                </a:lnTo>
                <a:lnTo>
                  <a:pt x="3100383" y="1978608"/>
                </a:lnTo>
                <a:lnTo>
                  <a:pt x="0" y="1978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0">
            <a:extLst>
              <a:ext uri="{FF2B5EF4-FFF2-40B4-BE49-F238E27FC236}">
                <a16:creationId xmlns:a16="http://schemas.microsoft.com/office/drawing/2014/main" id="{C491624F-009E-404C-AFB2-FE12D29233F0}"/>
              </a:ext>
            </a:extLst>
          </p:cNvPr>
          <p:cNvSpPr/>
          <p:nvPr/>
        </p:nvSpPr>
        <p:spPr>
          <a:xfrm rot="-2321771">
            <a:off x="16795808" y="8669431"/>
            <a:ext cx="1881599" cy="1830282"/>
          </a:xfrm>
          <a:custGeom>
            <a:avLst/>
            <a:gdLst/>
            <a:ahLst/>
            <a:cxnLst/>
            <a:rect l="l" t="t" r="r" b="b"/>
            <a:pathLst>
              <a:path w="1881599" h="1830282">
                <a:moveTo>
                  <a:pt x="0" y="0"/>
                </a:moveTo>
                <a:lnTo>
                  <a:pt x="1881599" y="0"/>
                </a:lnTo>
                <a:lnTo>
                  <a:pt x="1881599" y="1830282"/>
                </a:lnTo>
                <a:lnTo>
                  <a:pt x="0" y="18302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8">
            <a:extLst>
              <a:ext uri="{FF2B5EF4-FFF2-40B4-BE49-F238E27FC236}">
                <a16:creationId xmlns:a16="http://schemas.microsoft.com/office/drawing/2014/main" id="{F7A31D4B-54E5-4E65-8152-35EF6EEA3DEC}"/>
              </a:ext>
            </a:extLst>
          </p:cNvPr>
          <p:cNvSpPr/>
          <p:nvPr/>
        </p:nvSpPr>
        <p:spPr>
          <a:xfrm>
            <a:off x="16256200" y="-599994"/>
            <a:ext cx="1504470" cy="1558302"/>
          </a:xfrm>
          <a:custGeom>
            <a:avLst/>
            <a:gdLst/>
            <a:ahLst/>
            <a:cxnLst/>
            <a:rect l="l" t="t" r="r" b="b"/>
            <a:pathLst>
              <a:path w="1504470" h="1558302">
                <a:moveTo>
                  <a:pt x="0" y="0"/>
                </a:moveTo>
                <a:lnTo>
                  <a:pt x="1504470" y="0"/>
                </a:lnTo>
                <a:lnTo>
                  <a:pt x="1504470" y="1558302"/>
                </a:lnTo>
                <a:lnTo>
                  <a:pt x="0" y="15583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3" name="Group 3"/>
          <p:cNvGrpSpPr>
            <a:grpSpLocks noChangeAspect="1"/>
          </p:cNvGrpSpPr>
          <p:nvPr/>
        </p:nvGrpSpPr>
        <p:grpSpPr>
          <a:xfrm flipH="1">
            <a:off x="6667178" y="410324"/>
            <a:ext cx="6363022" cy="9544532"/>
            <a:chOff x="0" y="0"/>
            <a:chExt cx="6350000" cy="9525000"/>
          </a:xfrm>
        </p:grpSpPr>
        <p:sp>
          <p:nvSpPr>
            <p:cNvPr id="4" name="Freeform 4"/>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8"/>
              <a:stretch>
                <a:fillRect l="-24999" r="-24999"/>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66667E-6 -3.7037E-6 L -0.34401 0.0071 " pathEditMode="relative" rAng="0" ptsTypes="AA">
                                      <p:cBhvr>
                                        <p:cTn id="6" dur="2000" fill="hold"/>
                                        <p:tgtEl>
                                          <p:spTgt spid="3"/>
                                        </p:tgtEl>
                                        <p:attrNameLst>
                                          <p:attrName>ppt_x</p:attrName>
                                          <p:attrName>ppt_y</p:attrName>
                                        </p:attrNameLst>
                                      </p:cBhvr>
                                      <p:rCtr x="-17205" y="3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D3E1EDC-11CB-4EB9-B83A-C4092A671B0F}"/>
              </a:ext>
            </a:extLst>
          </p:cNvPr>
          <p:cNvSpPr/>
          <p:nvPr/>
        </p:nvSpPr>
        <p:spPr>
          <a:xfrm>
            <a:off x="0" y="0"/>
            <a:ext cx="18440400" cy="10287000"/>
          </a:xfrm>
          <a:prstGeom prst="rect">
            <a:avLst/>
          </a:prstGeom>
          <a:solidFill>
            <a:srgbClr val="A4C3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5">
            <a:extLst>
              <a:ext uri="{FF2B5EF4-FFF2-40B4-BE49-F238E27FC236}">
                <a16:creationId xmlns:a16="http://schemas.microsoft.com/office/drawing/2014/main" id="{2C3106BC-4E96-410D-B67F-AF4DFEB50655}"/>
              </a:ext>
            </a:extLst>
          </p:cNvPr>
          <p:cNvGrpSpPr>
            <a:grpSpLocks noChangeAspect="1"/>
          </p:cNvGrpSpPr>
          <p:nvPr/>
        </p:nvGrpSpPr>
        <p:grpSpPr>
          <a:xfrm>
            <a:off x="6157832" y="566997"/>
            <a:ext cx="6267930" cy="9401895"/>
            <a:chOff x="0" y="0"/>
            <a:chExt cx="6350000" cy="9525000"/>
          </a:xfrm>
        </p:grpSpPr>
        <p:sp>
          <p:nvSpPr>
            <p:cNvPr id="11" name="Freeform 6">
              <a:extLst>
                <a:ext uri="{FF2B5EF4-FFF2-40B4-BE49-F238E27FC236}">
                  <a16:creationId xmlns:a16="http://schemas.microsoft.com/office/drawing/2014/main" id="{49896A84-043A-4C7D-A5D7-0E853490147F}"/>
                </a:ext>
              </a:extLst>
            </p:cNvPr>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2"/>
              <a:stretch>
                <a:fillRect l="-27" r="-27"/>
              </a:stretch>
            </a:blipFill>
          </p:spPr>
        </p:sp>
      </p:grpSp>
      <p:sp>
        <p:nvSpPr>
          <p:cNvPr id="9" name="Freeform 9"/>
          <p:cNvSpPr/>
          <p:nvPr/>
        </p:nvSpPr>
        <p:spPr>
          <a:xfrm rot="-5400000">
            <a:off x="-1053370" y="-868441"/>
            <a:ext cx="3100383" cy="1978608"/>
          </a:xfrm>
          <a:custGeom>
            <a:avLst/>
            <a:gdLst/>
            <a:ahLst/>
            <a:cxnLst/>
            <a:rect l="l" t="t" r="r" b="b"/>
            <a:pathLst>
              <a:path w="3100383" h="1978608">
                <a:moveTo>
                  <a:pt x="0" y="0"/>
                </a:moveTo>
                <a:lnTo>
                  <a:pt x="3100383" y="0"/>
                </a:lnTo>
                <a:lnTo>
                  <a:pt x="3100383" y="1978608"/>
                </a:lnTo>
                <a:lnTo>
                  <a:pt x="0" y="1978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3909377" y="1219200"/>
            <a:ext cx="1504470" cy="1558302"/>
          </a:xfrm>
          <a:custGeom>
            <a:avLst/>
            <a:gdLst/>
            <a:ahLst/>
            <a:cxnLst/>
            <a:rect l="l" t="t" r="r" b="b"/>
            <a:pathLst>
              <a:path w="1504470" h="1558302">
                <a:moveTo>
                  <a:pt x="0" y="0"/>
                </a:moveTo>
                <a:lnTo>
                  <a:pt x="1504470" y="0"/>
                </a:lnTo>
                <a:lnTo>
                  <a:pt x="1504470" y="1558302"/>
                </a:lnTo>
                <a:lnTo>
                  <a:pt x="0" y="15583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0">
            <a:extLst>
              <a:ext uri="{FF2B5EF4-FFF2-40B4-BE49-F238E27FC236}">
                <a16:creationId xmlns:a16="http://schemas.microsoft.com/office/drawing/2014/main" id="{C491624F-009E-404C-AFB2-FE12D29233F0}"/>
              </a:ext>
            </a:extLst>
          </p:cNvPr>
          <p:cNvSpPr/>
          <p:nvPr/>
        </p:nvSpPr>
        <p:spPr>
          <a:xfrm rot="-2321771">
            <a:off x="16795808" y="8669431"/>
            <a:ext cx="1881599" cy="1830282"/>
          </a:xfrm>
          <a:custGeom>
            <a:avLst/>
            <a:gdLst/>
            <a:ahLst/>
            <a:cxnLst/>
            <a:rect l="l" t="t" r="r" b="b"/>
            <a:pathLst>
              <a:path w="1881599" h="1830282">
                <a:moveTo>
                  <a:pt x="0" y="0"/>
                </a:moveTo>
                <a:lnTo>
                  <a:pt x="1881599" y="0"/>
                </a:lnTo>
                <a:lnTo>
                  <a:pt x="1881599" y="1830282"/>
                </a:lnTo>
                <a:lnTo>
                  <a:pt x="0" y="18302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8">
            <a:extLst>
              <a:ext uri="{FF2B5EF4-FFF2-40B4-BE49-F238E27FC236}">
                <a16:creationId xmlns:a16="http://schemas.microsoft.com/office/drawing/2014/main" id="{F7A31D4B-54E5-4E65-8152-35EF6EEA3DEC}"/>
              </a:ext>
            </a:extLst>
          </p:cNvPr>
          <p:cNvSpPr/>
          <p:nvPr/>
        </p:nvSpPr>
        <p:spPr>
          <a:xfrm>
            <a:off x="16779519" y="-599994"/>
            <a:ext cx="1504470" cy="1558302"/>
          </a:xfrm>
          <a:custGeom>
            <a:avLst/>
            <a:gdLst/>
            <a:ahLst/>
            <a:cxnLst/>
            <a:rect l="l" t="t" r="r" b="b"/>
            <a:pathLst>
              <a:path w="1504470" h="1558302">
                <a:moveTo>
                  <a:pt x="0" y="0"/>
                </a:moveTo>
                <a:lnTo>
                  <a:pt x="1504470" y="0"/>
                </a:lnTo>
                <a:lnTo>
                  <a:pt x="1504470" y="1558302"/>
                </a:lnTo>
                <a:lnTo>
                  <a:pt x="0" y="15583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3" name="Group 3"/>
          <p:cNvGrpSpPr>
            <a:grpSpLocks noChangeAspect="1"/>
          </p:cNvGrpSpPr>
          <p:nvPr/>
        </p:nvGrpSpPr>
        <p:grpSpPr>
          <a:xfrm flipH="1">
            <a:off x="405606" y="566998"/>
            <a:ext cx="6258572" cy="9387858"/>
            <a:chOff x="0" y="0"/>
            <a:chExt cx="6350000" cy="9525000"/>
          </a:xfrm>
        </p:grpSpPr>
        <p:sp>
          <p:nvSpPr>
            <p:cNvPr id="4" name="Freeform 4"/>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9"/>
              <a:stretch>
                <a:fillRect l="-24999" r="-24999"/>
              </a:stretch>
            </a:blipFill>
          </p:spPr>
        </p:sp>
      </p:grpSp>
    </p:spTree>
    <p:extLst>
      <p:ext uri="{BB962C8B-B14F-4D97-AF65-F5344CB8AC3E}">
        <p14:creationId xmlns:p14="http://schemas.microsoft.com/office/powerpoint/2010/main" val="2641876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91667E-6 2.96296E-6 L 0.30495 -0.0034 " pathEditMode="relative" rAng="0" ptsTypes="AA">
                                      <p:cBhvr>
                                        <p:cTn id="6" dur="2000" fill="hold"/>
                                        <p:tgtEl>
                                          <p:spTgt spid="10"/>
                                        </p:tgtEl>
                                        <p:attrNameLst>
                                          <p:attrName>ppt_x</p:attrName>
                                          <p:attrName>ppt_y</p:attrName>
                                        </p:attrNameLst>
                                      </p:cBhvr>
                                      <p:rCtr x="15243" y="-1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D3E1EDC-11CB-4EB9-B83A-C4092A671B0F}"/>
              </a:ext>
            </a:extLst>
          </p:cNvPr>
          <p:cNvSpPr/>
          <p:nvPr/>
        </p:nvSpPr>
        <p:spPr>
          <a:xfrm>
            <a:off x="0" y="0"/>
            <a:ext cx="18440400" cy="10287000"/>
          </a:xfrm>
          <a:prstGeom prst="rect">
            <a:avLst/>
          </a:prstGeom>
          <a:solidFill>
            <a:srgbClr val="A4C3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9"/>
          <p:cNvSpPr/>
          <p:nvPr/>
        </p:nvSpPr>
        <p:spPr>
          <a:xfrm rot="-5400000">
            <a:off x="-1053370" y="-868441"/>
            <a:ext cx="3100383" cy="1978608"/>
          </a:xfrm>
          <a:custGeom>
            <a:avLst/>
            <a:gdLst/>
            <a:ahLst/>
            <a:cxnLst/>
            <a:rect l="l" t="t" r="r" b="b"/>
            <a:pathLst>
              <a:path w="3100383" h="1978608">
                <a:moveTo>
                  <a:pt x="0" y="0"/>
                </a:moveTo>
                <a:lnTo>
                  <a:pt x="3100383" y="0"/>
                </a:lnTo>
                <a:lnTo>
                  <a:pt x="3100383" y="1978608"/>
                </a:lnTo>
                <a:lnTo>
                  <a:pt x="0" y="1978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3909377" y="1219200"/>
            <a:ext cx="1504470" cy="1558302"/>
          </a:xfrm>
          <a:custGeom>
            <a:avLst/>
            <a:gdLst/>
            <a:ahLst/>
            <a:cxnLst/>
            <a:rect l="l" t="t" r="r" b="b"/>
            <a:pathLst>
              <a:path w="1504470" h="1558302">
                <a:moveTo>
                  <a:pt x="0" y="0"/>
                </a:moveTo>
                <a:lnTo>
                  <a:pt x="1504470" y="0"/>
                </a:lnTo>
                <a:lnTo>
                  <a:pt x="1504470" y="1558302"/>
                </a:lnTo>
                <a:lnTo>
                  <a:pt x="0" y="15583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0">
            <a:extLst>
              <a:ext uri="{FF2B5EF4-FFF2-40B4-BE49-F238E27FC236}">
                <a16:creationId xmlns:a16="http://schemas.microsoft.com/office/drawing/2014/main" id="{C491624F-009E-404C-AFB2-FE12D29233F0}"/>
              </a:ext>
            </a:extLst>
          </p:cNvPr>
          <p:cNvSpPr/>
          <p:nvPr/>
        </p:nvSpPr>
        <p:spPr>
          <a:xfrm rot="-2321771">
            <a:off x="16795808" y="8669431"/>
            <a:ext cx="1881599" cy="1830282"/>
          </a:xfrm>
          <a:custGeom>
            <a:avLst/>
            <a:gdLst/>
            <a:ahLst/>
            <a:cxnLst/>
            <a:rect l="l" t="t" r="r" b="b"/>
            <a:pathLst>
              <a:path w="1881599" h="1830282">
                <a:moveTo>
                  <a:pt x="0" y="0"/>
                </a:moveTo>
                <a:lnTo>
                  <a:pt x="1881599" y="0"/>
                </a:lnTo>
                <a:lnTo>
                  <a:pt x="1881599" y="1830282"/>
                </a:lnTo>
                <a:lnTo>
                  <a:pt x="0" y="18302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8" name="Freeform 8">
            <a:extLst>
              <a:ext uri="{FF2B5EF4-FFF2-40B4-BE49-F238E27FC236}">
                <a16:creationId xmlns:a16="http://schemas.microsoft.com/office/drawing/2014/main" id="{F7A31D4B-54E5-4E65-8152-35EF6EEA3DEC}"/>
              </a:ext>
            </a:extLst>
          </p:cNvPr>
          <p:cNvSpPr/>
          <p:nvPr/>
        </p:nvSpPr>
        <p:spPr>
          <a:xfrm>
            <a:off x="16779519" y="-599994"/>
            <a:ext cx="1504470" cy="1558302"/>
          </a:xfrm>
          <a:custGeom>
            <a:avLst/>
            <a:gdLst/>
            <a:ahLst/>
            <a:cxnLst/>
            <a:rect l="l" t="t" r="r" b="b"/>
            <a:pathLst>
              <a:path w="1504470" h="1558302">
                <a:moveTo>
                  <a:pt x="0" y="0"/>
                </a:moveTo>
                <a:lnTo>
                  <a:pt x="1504470" y="0"/>
                </a:lnTo>
                <a:lnTo>
                  <a:pt x="1504470" y="1558302"/>
                </a:lnTo>
                <a:lnTo>
                  <a:pt x="0" y="15583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 name="Group 3"/>
          <p:cNvGrpSpPr>
            <a:grpSpLocks noChangeAspect="1"/>
          </p:cNvGrpSpPr>
          <p:nvPr/>
        </p:nvGrpSpPr>
        <p:grpSpPr>
          <a:xfrm flipH="1">
            <a:off x="405606" y="566998"/>
            <a:ext cx="6258572" cy="9387858"/>
            <a:chOff x="0" y="0"/>
            <a:chExt cx="6350000" cy="9525000"/>
          </a:xfrm>
        </p:grpSpPr>
        <p:sp>
          <p:nvSpPr>
            <p:cNvPr id="4" name="Freeform 4"/>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8"/>
              <a:stretch>
                <a:fillRect l="-24999" r="-24999"/>
              </a:stretch>
            </a:blipFill>
          </p:spPr>
        </p:sp>
      </p:grpSp>
      <p:grpSp>
        <p:nvGrpSpPr>
          <p:cNvPr id="10" name="Group 5">
            <a:extLst>
              <a:ext uri="{FF2B5EF4-FFF2-40B4-BE49-F238E27FC236}">
                <a16:creationId xmlns:a16="http://schemas.microsoft.com/office/drawing/2014/main" id="{2C3106BC-4E96-410D-B67F-AF4DFEB50655}"/>
              </a:ext>
            </a:extLst>
          </p:cNvPr>
          <p:cNvGrpSpPr>
            <a:grpSpLocks noChangeAspect="1"/>
          </p:cNvGrpSpPr>
          <p:nvPr/>
        </p:nvGrpSpPr>
        <p:grpSpPr>
          <a:xfrm>
            <a:off x="11753121" y="552960"/>
            <a:ext cx="6267930" cy="9401895"/>
            <a:chOff x="0" y="0"/>
            <a:chExt cx="6350000" cy="9525000"/>
          </a:xfrm>
        </p:grpSpPr>
        <p:sp>
          <p:nvSpPr>
            <p:cNvPr id="11" name="Freeform 6">
              <a:extLst>
                <a:ext uri="{FF2B5EF4-FFF2-40B4-BE49-F238E27FC236}">
                  <a16:creationId xmlns:a16="http://schemas.microsoft.com/office/drawing/2014/main" id="{49896A84-043A-4C7D-A5D7-0E853490147F}"/>
                </a:ext>
              </a:extLst>
            </p:cNvPr>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9"/>
              <a:stretch>
                <a:fillRect l="-27" r="-27"/>
              </a:stretch>
            </a:blipFill>
          </p:spPr>
        </p:sp>
      </p:grpSp>
      <p:sp>
        <p:nvSpPr>
          <p:cNvPr id="14" name="Rectangle 13">
            <a:extLst>
              <a:ext uri="{FF2B5EF4-FFF2-40B4-BE49-F238E27FC236}">
                <a16:creationId xmlns:a16="http://schemas.microsoft.com/office/drawing/2014/main" id="{33B666EE-CF76-4859-8B37-FAF42CF8DD0F}"/>
              </a:ext>
            </a:extLst>
          </p:cNvPr>
          <p:cNvSpPr/>
          <p:nvPr/>
        </p:nvSpPr>
        <p:spPr>
          <a:xfrm>
            <a:off x="4657601" y="4330995"/>
            <a:ext cx="9359188" cy="1371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3">
            <a:extLst>
              <a:ext uri="{FF2B5EF4-FFF2-40B4-BE49-F238E27FC236}">
                <a16:creationId xmlns:a16="http://schemas.microsoft.com/office/drawing/2014/main" id="{1FA0F280-EB22-431C-933B-58126AC1DA38}"/>
              </a:ext>
            </a:extLst>
          </p:cNvPr>
          <p:cNvSpPr txBox="1"/>
          <p:nvPr/>
        </p:nvSpPr>
        <p:spPr>
          <a:xfrm>
            <a:off x="2882560" y="5016795"/>
            <a:ext cx="12522880" cy="888705"/>
          </a:xfrm>
          <a:prstGeom prst="rect">
            <a:avLst/>
          </a:prstGeom>
        </p:spPr>
        <p:txBody>
          <a:bodyPr wrap="square" lIns="0" tIns="0" rIns="0" bIns="0" rtlCol="0" anchor="t">
            <a:spAutoFit/>
          </a:bodyPr>
          <a:lstStyle/>
          <a:p>
            <a:pPr lvl="0" algn="ctr">
              <a:lnSpc>
                <a:spcPts val="5374"/>
              </a:lnSpc>
              <a:spcBef>
                <a:spcPct val="0"/>
              </a:spcBef>
            </a:pPr>
            <a:r>
              <a:rPr lang="en-US" sz="9600" spc="-150" dirty="0">
                <a:solidFill>
                  <a:schemeClr val="bg1"/>
                </a:solidFill>
                <a:latin typeface="One Little Font Bold"/>
              </a:rPr>
              <a:t>PIMPLE PATCHES</a:t>
            </a:r>
            <a:endParaRPr lang="en-US" sz="9600" b="1" u="none" spc="-85" dirty="0">
              <a:solidFill>
                <a:schemeClr val="bg1"/>
              </a:solidFill>
              <a:latin typeface="One Little Font"/>
            </a:endParaRPr>
          </a:p>
        </p:txBody>
      </p:sp>
    </p:spTree>
    <p:extLst>
      <p:ext uri="{BB962C8B-B14F-4D97-AF65-F5344CB8AC3E}">
        <p14:creationId xmlns:p14="http://schemas.microsoft.com/office/powerpoint/2010/main" val="1889934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D3E1EDC-11CB-4EB9-B83A-C4092A671B0F}"/>
              </a:ext>
            </a:extLst>
          </p:cNvPr>
          <p:cNvSpPr/>
          <p:nvPr/>
        </p:nvSpPr>
        <p:spPr>
          <a:xfrm>
            <a:off x="0" y="0"/>
            <a:ext cx="18440400" cy="10287000"/>
          </a:xfrm>
          <a:prstGeom prst="rect">
            <a:avLst/>
          </a:prstGeom>
          <a:solidFill>
            <a:srgbClr val="A4C3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9"/>
          <p:cNvSpPr/>
          <p:nvPr/>
        </p:nvSpPr>
        <p:spPr>
          <a:xfrm rot="-5400000">
            <a:off x="-1053370" y="-868441"/>
            <a:ext cx="3100383" cy="1978608"/>
          </a:xfrm>
          <a:custGeom>
            <a:avLst/>
            <a:gdLst/>
            <a:ahLst/>
            <a:cxnLst/>
            <a:rect l="l" t="t" r="r" b="b"/>
            <a:pathLst>
              <a:path w="3100383" h="1978608">
                <a:moveTo>
                  <a:pt x="0" y="0"/>
                </a:moveTo>
                <a:lnTo>
                  <a:pt x="3100383" y="0"/>
                </a:lnTo>
                <a:lnTo>
                  <a:pt x="3100383" y="1978608"/>
                </a:lnTo>
                <a:lnTo>
                  <a:pt x="0" y="1978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3909377" y="1219200"/>
            <a:ext cx="1504470" cy="1558302"/>
          </a:xfrm>
          <a:custGeom>
            <a:avLst/>
            <a:gdLst/>
            <a:ahLst/>
            <a:cxnLst/>
            <a:rect l="l" t="t" r="r" b="b"/>
            <a:pathLst>
              <a:path w="1504470" h="1558302">
                <a:moveTo>
                  <a:pt x="0" y="0"/>
                </a:moveTo>
                <a:lnTo>
                  <a:pt x="1504470" y="0"/>
                </a:lnTo>
                <a:lnTo>
                  <a:pt x="1504470" y="1558302"/>
                </a:lnTo>
                <a:lnTo>
                  <a:pt x="0" y="15583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0">
            <a:extLst>
              <a:ext uri="{FF2B5EF4-FFF2-40B4-BE49-F238E27FC236}">
                <a16:creationId xmlns:a16="http://schemas.microsoft.com/office/drawing/2014/main" id="{C491624F-009E-404C-AFB2-FE12D29233F0}"/>
              </a:ext>
            </a:extLst>
          </p:cNvPr>
          <p:cNvSpPr/>
          <p:nvPr/>
        </p:nvSpPr>
        <p:spPr>
          <a:xfrm rot="-2321771">
            <a:off x="16795808" y="8669431"/>
            <a:ext cx="1881599" cy="1830282"/>
          </a:xfrm>
          <a:custGeom>
            <a:avLst/>
            <a:gdLst/>
            <a:ahLst/>
            <a:cxnLst/>
            <a:rect l="l" t="t" r="r" b="b"/>
            <a:pathLst>
              <a:path w="1881599" h="1830282">
                <a:moveTo>
                  <a:pt x="0" y="0"/>
                </a:moveTo>
                <a:lnTo>
                  <a:pt x="1881599" y="0"/>
                </a:lnTo>
                <a:lnTo>
                  <a:pt x="1881599" y="1830282"/>
                </a:lnTo>
                <a:lnTo>
                  <a:pt x="0" y="18302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8">
            <a:extLst>
              <a:ext uri="{FF2B5EF4-FFF2-40B4-BE49-F238E27FC236}">
                <a16:creationId xmlns:a16="http://schemas.microsoft.com/office/drawing/2014/main" id="{F7A31D4B-54E5-4E65-8152-35EF6EEA3DEC}"/>
              </a:ext>
            </a:extLst>
          </p:cNvPr>
          <p:cNvSpPr/>
          <p:nvPr/>
        </p:nvSpPr>
        <p:spPr>
          <a:xfrm>
            <a:off x="16779519" y="-599994"/>
            <a:ext cx="1504470" cy="1558302"/>
          </a:xfrm>
          <a:custGeom>
            <a:avLst/>
            <a:gdLst/>
            <a:ahLst/>
            <a:cxnLst/>
            <a:rect l="l" t="t" r="r" b="b"/>
            <a:pathLst>
              <a:path w="1504470" h="1558302">
                <a:moveTo>
                  <a:pt x="0" y="0"/>
                </a:moveTo>
                <a:lnTo>
                  <a:pt x="1504470" y="0"/>
                </a:lnTo>
                <a:lnTo>
                  <a:pt x="1504470" y="1558302"/>
                </a:lnTo>
                <a:lnTo>
                  <a:pt x="0" y="15583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3" name="Group 3"/>
          <p:cNvGrpSpPr>
            <a:grpSpLocks noChangeAspect="1"/>
          </p:cNvGrpSpPr>
          <p:nvPr/>
        </p:nvGrpSpPr>
        <p:grpSpPr>
          <a:xfrm flipH="1">
            <a:off x="405606" y="566998"/>
            <a:ext cx="6258572" cy="9387858"/>
            <a:chOff x="0" y="0"/>
            <a:chExt cx="6350000" cy="9525000"/>
          </a:xfrm>
        </p:grpSpPr>
        <p:sp>
          <p:nvSpPr>
            <p:cNvPr id="4" name="Freeform 4"/>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9"/>
              <a:stretch>
                <a:fillRect l="-24999" r="-24999"/>
              </a:stretch>
            </a:blipFill>
          </p:spPr>
        </p:sp>
      </p:grpSp>
      <p:grpSp>
        <p:nvGrpSpPr>
          <p:cNvPr id="10" name="Group 5">
            <a:extLst>
              <a:ext uri="{FF2B5EF4-FFF2-40B4-BE49-F238E27FC236}">
                <a16:creationId xmlns:a16="http://schemas.microsoft.com/office/drawing/2014/main" id="{2C3106BC-4E96-410D-B67F-AF4DFEB50655}"/>
              </a:ext>
            </a:extLst>
          </p:cNvPr>
          <p:cNvGrpSpPr>
            <a:grpSpLocks noChangeAspect="1"/>
          </p:cNvGrpSpPr>
          <p:nvPr/>
        </p:nvGrpSpPr>
        <p:grpSpPr>
          <a:xfrm>
            <a:off x="11753121" y="552960"/>
            <a:ext cx="6267930" cy="9401895"/>
            <a:chOff x="0" y="0"/>
            <a:chExt cx="6350000" cy="9525000"/>
          </a:xfrm>
        </p:grpSpPr>
        <p:sp>
          <p:nvSpPr>
            <p:cNvPr id="11" name="Freeform 6">
              <a:extLst>
                <a:ext uri="{FF2B5EF4-FFF2-40B4-BE49-F238E27FC236}">
                  <a16:creationId xmlns:a16="http://schemas.microsoft.com/office/drawing/2014/main" id="{49896A84-043A-4C7D-A5D7-0E853490147F}"/>
                </a:ext>
              </a:extLst>
            </p:cNvPr>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10"/>
              <a:stretch>
                <a:fillRect l="-27" r="-27"/>
              </a:stretch>
            </a:blipFill>
          </p:spPr>
        </p:sp>
      </p:grpSp>
      <p:pic>
        <p:nvPicPr>
          <p:cNvPr id="6" name="Picture 5">
            <a:extLst>
              <a:ext uri="{FF2B5EF4-FFF2-40B4-BE49-F238E27FC236}">
                <a16:creationId xmlns:a16="http://schemas.microsoft.com/office/drawing/2014/main" id="{E169AB07-9C98-4177-868D-C8C6B695E19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000500" y="0"/>
            <a:ext cx="10287000" cy="10287000"/>
          </a:xfrm>
          <a:prstGeom prst="rect">
            <a:avLst/>
          </a:prstGeom>
        </p:spPr>
      </p:pic>
    </p:spTree>
    <p:extLst>
      <p:ext uri="{BB962C8B-B14F-4D97-AF65-F5344CB8AC3E}">
        <p14:creationId xmlns:p14="http://schemas.microsoft.com/office/powerpoint/2010/main" val="1161133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5048" y="-441489"/>
            <a:ext cx="19338096" cy="10877679"/>
          </a:xfrm>
          <a:custGeom>
            <a:avLst/>
            <a:gdLst/>
            <a:ahLst/>
            <a:cxnLst/>
            <a:rect l="l" t="t" r="r" b="b"/>
            <a:pathLst>
              <a:path w="19338096" h="10877679">
                <a:moveTo>
                  <a:pt x="0" y="0"/>
                </a:moveTo>
                <a:lnTo>
                  <a:pt x="19338096" y="0"/>
                </a:lnTo>
                <a:lnTo>
                  <a:pt x="19338096" y="10877680"/>
                </a:lnTo>
                <a:lnTo>
                  <a:pt x="0" y="108776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4" name="Rectangle 43">
            <a:extLst>
              <a:ext uri="{FF2B5EF4-FFF2-40B4-BE49-F238E27FC236}">
                <a16:creationId xmlns:a16="http://schemas.microsoft.com/office/drawing/2014/main" id="{D8C24D07-9610-41BE-B619-BC785E8FD7DF}"/>
              </a:ext>
            </a:extLst>
          </p:cNvPr>
          <p:cNvSpPr/>
          <p:nvPr/>
        </p:nvSpPr>
        <p:spPr>
          <a:xfrm>
            <a:off x="767749" y="0"/>
            <a:ext cx="16944443" cy="10287000"/>
          </a:xfrm>
          <a:prstGeom prst="rect">
            <a:avLst/>
          </a:prstGeom>
          <a:solidFill>
            <a:schemeClr val="bg1"/>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8"/>
          <p:cNvSpPr txBox="1"/>
          <p:nvPr/>
        </p:nvSpPr>
        <p:spPr>
          <a:xfrm>
            <a:off x="1447800" y="325041"/>
            <a:ext cx="15773400" cy="1846659"/>
          </a:xfrm>
          <a:prstGeom prst="rect">
            <a:avLst/>
          </a:prstGeom>
        </p:spPr>
        <p:txBody>
          <a:bodyPr wrap="square" lIns="0" tIns="0" rIns="0" bIns="0" rtlCol="0" anchor="t">
            <a:spAutoFit/>
          </a:bodyPr>
          <a:lstStyle/>
          <a:p>
            <a:pPr algn="ctr">
              <a:lnSpc>
                <a:spcPts val="7200"/>
              </a:lnSpc>
            </a:pPr>
            <a:r>
              <a:rPr lang="en-US" sz="5400" b="1" spc="-120" dirty="0">
                <a:solidFill>
                  <a:srgbClr val="74BFEF"/>
                </a:solidFill>
                <a:latin typeface="One Little Font Bold"/>
              </a:rPr>
              <a:t>ACNE PATCH BASE ON NANOMATERIAL GELATIN/CHITOSAN BILAYER WITH CENTELLA ASIATICA</a:t>
            </a:r>
          </a:p>
        </p:txBody>
      </p:sp>
      <p:grpSp>
        <p:nvGrpSpPr>
          <p:cNvPr id="22" name="Group 21">
            <a:extLst>
              <a:ext uri="{FF2B5EF4-FFF2-40B4-BE49-F238E27FC236}">
                <a16:creationId xmlns:a16="http://schemas.microsoft.com/office/drawing/2014/main" id="{78F24D5B-6EFC-4734-9543-94EFE1E5A09C}"/>
              </a:ext>
            </a:extLst>
          </p:cNvPr>
          <p:cNvGrpSpPr/>
          <p:nvPr/>
        </p:nvGrpSpPr>
        <p:grpSpPr>
          <a:xfrm>
            <a:off x="2057531" y="2444342"/>
            <a:ext cx="14477869" cy="7575958"/>
            <a:chOff x="1608556" y="2368698"/>
            <a:chExt cx="14477869" cy="7575958"/>
          </a:xfrm>
        </p:grpSpPr>
        <p:sp>
          <p:nvSpPr>
            <p:cNvPr id="23" name="Rectangle 22">
              <a:extLst>
                <a:ext uri="{FF2B5EF4-FFF2-40B4-BE49-F238E27FC236}">
                  <a16:creationId xmlns:a16="http://schemas.microsoft.com/office/drawing/2014/main" id="{2C164970-4440-4160-9D76-0F445694EB12}"/>
                </a:ext>
              </a:extLst>
            </p:cNvPr>
            <p:cNvSpPr/>
            <p:nvPr/>
          </p:nvSpPr>
          <p:spPr>
            <a:xfrm rot="21584846">
              <a:off x="2216031" y="2726185"/>
              <a:ext cx="3783594"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24" name="Freeform: Shape 23">
              <a:extLst>
                <a:ext uri="{FF2B5EF4-FFF2-40B4-BE49-F238E27FC236}">
                  <a16:creationId xmlns:a16="http://schemas.microsoft.com/office/drawing/2014/main" id="{8ED91D39-94AE-47BB-8035-DC36B06BB384}"/>
                </a:ext>
              </a:extLst>
            </p:cNvPr>
            <p:cNvSpPr/>
            <p:nvPr/>
          </p:nvSpPr>
          <p:spPr>
            <a:xfrm>
              <a:off x="1608556" y="2430778"/>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marL="0" lvl="0" indent="0" algn="ctr" defTabSz="1244600">
                <a:lnSpc>
                  <a:spcPct val="90000"/>
                </a:lnSpc>
                <a:spcBef>
                  <a:spcPct val="0"/>
                </a:spcBef>
                <a:spcAft>
                  <a:spcPct val="35000"/>
                </a:spcAft>
                <a:buNone/>
              </a:pPr>
              <a:r>
                <a:rPr lang="en-US" sz="2800" kern="1200" dirty="0"/>
                <a:t>Making gelatin and chitosan NP solution</a:t>
              </a:r>
            </a:p>
          </p:txBody>
        </p:sp>
        <p:sp>
          <p:nvSpPr>
            <p:cNvPr id="25" name="Rectangle 24">
              <a:extLst>
                <a:ext uri="{FF2B5EF4-FFF2-40B4-BE49-F238E27FC236}">
                  <a16:creationId xmlns:a16="http://schemas.microsoft.com/office/drawing/2014/main" id="{BA590299-107B-4F9A-8ED4-DB609844CDC5}"/>
                </a:ext>
              </a:extLst>
            </p:cNvPr>
            <p:cNvSpPr/>
            <p:nvPr/>
          </p:nvSpPr>
          <p:spPr>
            <a:xfrm rot="21589050">
              <a:off x="6006284" y="2711714"/>
              <a:ext cx="3849913"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26" name="Freeform: Shape 25">
              <a:extLst>
                <a:ext uri="{FF2B5EF4-FFF2-40B4-BE49-F238E27FC236}">
                  <a16:creationId xmlns:a16="http://schemas.microsoft.com/office/drawing/2014/main" id="{57EDBCDB-306D-4BE2-B614-6DBFD6C59A78}"/>
                </a:ext>
              </a:extLst>
            </p:cNvPr>
            <p:cNvSpPr/>
            <p:nvPr/>
          </p:nvSpPr>
          <p:spPr>
            <a:xfrm>
              <a:off x="5261122" y="2525132"/>
              <a:ext cx="3281636" cy="1582037"/>
            </a:xfrm>
            <a:custGeom>
              <a:avLst/>
              <a:gdLst>
                <a:gd name="connsiteX0" fmla="*/ 0 w 3281636"/>
                <a:gd name="connsiteY0" fmla="*/ 158204 h 1582037"/>
                <a:gd name="connsiteX1" fmla="*/ 158204 w 3281636"/>
                <a:gd name="connsiteY1" fmla="*/ 0 h 1582037"/>
                <a:gd name="connsiteX2" fmla="*/ 3123432 w 3281636"/>
                <a:gd name="connsiteY2" fmla="*/ 0 h 1582037"/>
                <a:gd name="connsiteX3" fmla="*/ 3281636 w 3281636"/>
                <a:gd name="connsiteY3" fmla="*/ 158204 h 1582037"/>
                <a:gd name="connsiteX4" fmla="*/ 3281636 w 3281636"/>
                <a:gd name="connsiteY4" fmla="*/ 1423833 h 1582037"/>
                <a:gd name="connsiteX5" fmla="*/ 3123432 w 3281636"/>
                <a:gd name="connsiteY5" fmla="*/ 1582037 h 1582037"/>
                <a:gd name="connsiteX6" fmla="*/ 158204 w 3281636"/>
                <a:gd name="connsiteY6" fmla="*/ 1582037 h 1582037"/>
                <a:gd name="connsiteX7" fmla="*/ 0 w 3281636"/>
                <a:gd name="connsiteY7" fmla="*/ 1423833 h 1582037"/>
                <a:gd name="connsiteX8" fmla="*/ 0 w 3281636"/>
                <a:gd name="connsiteY8" fmla="*/ 158204 h 158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1636" h="1582037">
                  <a:moveTo>
                    <a:pt x="0" y="158204"/>
                  </a:moveTo>
                  <a:cubicBezTo>
                    <a:pt x="0" y="70830"/>
                    <a:pt x="70830" y="0"/>
                    <a:pt x="158204" y="0"/>
                  </a:cubicBezTo>
                  <a:lnTo>
                    <a:pt x="3123432" y="0"/>
                  </a:lnTo>
                  <a:cubicBezTo>
                    <a:pt x="3210806" y="0"/>
                    <a:pt x="3281636" y="70830"/>
                    <a:pt x="3281636" y="158204"/>
                  </a:cubicBezTo>
                  <a:lnTo>
                    <a:pt x="3281636" y="1423833"/>
                  </a:lnTo>
                  <a:cubicBezTo>
                    <a:pt x="3281636" y="1511207"/>
                    <a:pt x="3210806" y="1582037"/>
                    <a:pt x="3123432" y="1582037"/>
                  </a:cubicBezTo>
                  <a:lnTo>
                    <a:pt x="158204" y="1582037"/>
                  </a:lnTo>
                  <a:cubicBezTo>
                    <a:pt x="70830" y="1582037"/>
                    <a:pt x="0" y="1511207"/>
                    <a:pt x="0" y="1423833"/>
                  </a:cubicBezTo>
                  <a:lnTo>
                    <a:pt x="0" y="158204"/>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3016" tIns="153016" rIns="153016" bIns="153016" numCol="1" spcCol="1270" anchor="ctr" anchorCtr="0">
              <a:noAutofit/>
            </a:bodyPr>
            <a:lstStyle/>
            <a:p>
              <a:pPr marL="0" lvl="0" indent="0" algn="ctr" defTabSz="1244600">
                <a:lnSpc>
                  <a:spcPct val="90000"/>
                </a:lnSpc>
                <a:spcBef>
                  <a:spcPct val="0"/>
                </a:spcBef>
                <a:spcAft>
                  <a:spcPct val="35000"/>
                </a:spcAft>
                <a:buNone/>
              </a:pPr>
              <a:r>
                <a:rPr lang="en-US" sz="2800" kern="1200" dirty="0"/>
                <a:t>Lyophilization of  </a:t>
              </a:r>
              <a:r>
                <a:rPr lang="en-US" sz="2800" b="0" kern="1200" dirty="0"/>
                <a:t>Centella asiatica (CA) to obtain dry </a:t>
              </a:r>
              <a:r>
                <a:rPr lang="en-US" sz="2800" kern="1200" dirty="0"/>
                <a:t>plant extract</a:t>
              </a:r>
              <a:endParaRPr lang="en-US" sz="2800" b="0" kern="1200" dirty="0"/>
            </a:p>
          </p:txBody>
        </p:sp>
        <p:sp>
          <p:nvSpPr>
            <p:cNvPr id="27" name="Rectangle 26">
              <a:extLst>
                <a:ext uri="{FF2B5EF4-FFF2-40B4-BE49-F238E27FC236}">
                  <a16:creationId xmlns:a16="http://schemas.microsoft.com/office/drawing/2014/main" id="{7282F0DA-EE5B-4858-A58C-24C6FA42D10E}"/>
                </a:ext>
              </a:extLst>
            </p:cNvPr>
            <p:cNvSpPr/>
            <p:nvPr/>
          </p:nvSpPr>
          <p:spPr>
            <a:xfrm rot="21575722">
              <a:off x="9859202" y="2689014"/>
              <a:ext cx="3824861"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28" name="Freeform: Shape 27">
              <a:extLst>
                <a:ext uri="{FF2B5EF4-FFF2-40B4-BE49-F238E27FC236}">
                  <a16:creationId xmlns:a16="http://schemas.microsoft.com/office/drawing/2014/main" id="{E92A3D4C-653E-4D74-9A4B-ED71E30FD427}"/>
                </a:ext>
              </a:extLst>
            </p:cNvPr>
            <p:cNvSpPr/>
            <p:nvPr/>
          </p:nvSpPr>
          <p:spPr>
            <a:xfrm>
              <a:off x="9251756" y="2398773"/>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marL="0" lvl="0" indent="0" algn="ctr" defTabSz="1244600">
                <a:lnSpc>
                  <a:spcPct val="90000"/>
                </a:lnSpc>
                <a:spcBef>
                  <a:spcPct val="0"/>
                </a:spcBef>
                <a:spcAft>
                  <a:spcPct val="35000"/>
                </a:spcAft>
                <a:buNone/>
              </a:pPr>
              <a:r>
                <a:rPr lang="en-US" sz="2800" kern="1200" dirty="0"/>
                <a:t>Cytotoxicity Assay of CA on Human skin fibroblasts </a:t>
              </a:r>
            </a:p>
          </p:txBody>
        </p:sp>
        <p:sp>
          <p:nvSpPr>
            <p:cNvPr id="29" name="Rectangle 28">
              <a:extLst>
                <a:ext uri="{FF2B5EF4-FFF2-40B4-BE49-F238E27FC236}">
                  <a16:creationId xmlns:a16="http://schemas.microsoft.com/office/drawing/2014/main" id="{367EBFC8-9DA4-462C-808A-FBA1C1D92EB4}"/>
                </a:ext>
              </a:extLst>
            </p:cNvPr>
            <p:cNvSpPr/>
            <p:nvPr/>
          </p:nvSpPr>
          <p:spPr>
            <a:xfrm rot="5466483">
              <a:off x="12289639" y="4043177"/>
              <a:ext cx="2735848"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30" name="Freeform: Shape 29">
              <a:extLst>
                <a:ext uri="{FF2B5EF4-FFF2-40B4-BE49-F238E27FC236}">
                  <a16:creationId xmlns:a16="http://schemas.microsoft.com/office/drawing/2014/main" id="{E6402D49-671C-4DA6-8E60-5BCAFAE891AD}"/>
                </a:ext>
              </a:extLst>
            </p:cNvPr>
            <p:cNvSpPr/>
            <p:nvPr/>
          </p:nvSpPr>
          <p:spPr>
            <a:xfrm>
              <a:off x="13079585" y="2368698"/>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algn="ctr" defTabSz="1244600">
                <a:lnSpc>
                  <a:spcPct val="90000"/>
                </a:lnSpc>
                <a:spcBef>
                  <a:spcPct val="0"/>
                </a:spcBef>
                <a:spcAft>
                  <a:spcPct val="35000"/>
                </a:spcAft>
              </a:pPr>
              <a:r>
                <a:rPr lang="en-US" sz="2800" dirty="0"/>
                <a:t>Screening of CA for antibacterial activity by disk </a:t>
              </a:r>
              <a:r>
                <a:rPr lang="en-US" sz="2800"/>
                <a:t>diffusion analysis</a:t>
              </a:r>
              <a:endParaRPr lang="en-US" sz="2800" dirty="0"/>
            </a:p>
          </p:txBody>
        </p:sp>
        <p:sp>
          <p:nvSpPr>
            <p:cNvPr id="31" name="Rectangle 30">
              <a:extLst>
                <a:ext uri="{FF2B5EF4-FFF2-40B4-BE49-F238E27FC236}">
                  <a16:creationId xmlns:a16="http://schemas.microsoft.com/office/drawing/2014/main" id="{1BF5BCC4-09D5-44A1-8C13-34A539BF8C3A}"/>
                </a:ext>
              </a:extLst>
            </p:cNvPr>
            <p:cNvSpPr/>
            <p:nvPr/>
          </p:nvSpPr>
          <p:spPr>
            <a:xfrm rot="10764095">
              <a:off x="9460599" y="5438751"/>
              <a:ext cx="4170625"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32" name="Freeform: Shape 31">
              <a:extLst>
                <a:ext uri="{FF2B5EF4-FFF2-40B4-BE49-F238E27FC236}">
                  <a16:creationId xmlns:a16="http://schemas.microsoft.com/office/drawing/2014/main" id="{B6737A4B-149E-481C-8F7D-3D58CA7E8810}"/>
                </a:ext>
              </a:extLst>
            </p:cNvPr>
            <p:cNvSpPr/>
            <p:nvPr/>
          </p:nvSpPr>
          <p:spPr>
            <a:xfrm>
              <a:off x="13026679" y="5110162"/>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4280" tIns="144280" rIns="144280" bIns="144280" numCol="1" spcCol="1270" anchor="ctr" anchorCtr="0">
              <a:noAutofit/>
            </a:bodyPr>
            <a:lstStyle/>
            <a:p>
              <a:pPr marL="0" lvl="0" indent="0" algn="ctr" defTabSz="1066800">
                <a:lnSpc>
                  <a:spcPct val="90000"/>
                </a:lnSpc>
                <a:spcBef>
                  <a:spcPct val="0"/>
                </a:spcBef>
                <a:spcAft>
                  <a:spcPct val="35000"/>
                </a:spcAft>
                <a:buNone/>
              </a:pPr>
              <a:r>
                <a:rPr lang="en-US" sz="2400" kern="1200" dirty="0"/>
                <a:t>Preparation of Gelatin/Chitosan Solution Loaded with PA/CA Extracts  </a:t>
              </a:r>
            </a:p>
          </p:txBody>
        </p:sp>
        <p:sp>
          <p:nvSpPr>
            <p:cNvPr id="33" name="Rectangle 32">
              <a:extLst>
                <a:ext uri="{FF2B5EF4-FFF2-40B4-BE49-F238E27FC236}">
                  <a16:creationId xmlns:a16="http://schemas.microsoft.com/office/drawing/2014/main" id="{F5554F5B-8D6B-43EB-8F8B-6821CA413AEE}"/>
                </a:ext>
              </a:extLst>
            </p:cNvPr>
            <p:cNvSpPr/>
            <p:nvPr/>
          </p:nvSpPr>
          <p:spPr>
            <a:xfrm rot="10839118">
              <a:off x="5632760" y="5438751"/>
              <a:ext cx="3828076"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34" name="Freeform: Shape 33">
              <a:extLst>
                <a:ext uri="{FF2B5EF4-FFF2-40B4-BE49-F238E27FC236}">
                  <a16:creationId xmlns:a16="http://schemas.microsoft.com/office/drawing/2014/main" id="{08E6B48B-1309-46C6-A1D9-9E39052BB57D}"/>
                </a:ext>
              </a:extLst>
            </p:cNvPr>
            <p:cNvSpPr/>
            <p:nvPr/>
          </p:nvSpPr>
          <p:spPr>
            <a:xfrm>
              <a:off x="8856281" y="5159847"/>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lvl="0" algn="ctr" defTabSz="1244600">
                <a:lnSpc>
                  <a:spcPct val="90000"/>
                </a:lnSpc>
                <a:spcBef>
                  <a:spcPct val="0"/>
                </a:spcBef>
                <a:spcAft>
                  <a:spcPct val="35000"/>
                </a:spcAft>
              </a:pPr>
              <a:r>
                <a:rPr lang="en-US" sz="2800" dirty="0"/>
                <a:t>Making of Mono and Bilayer Patches</a:t>
              </a:r>
            </a:p>
          </p:txBody>
        </p:sp>
        <p:sp>
          <p:nvSpPr>
            <p:cNvPr id="35" name="Rectangle 34">
              <a:extLst>
                <a:ext uri="{FF2B5EF4-FFF2-40B4-BE49-F238E27FC236}">
                  <a16:creationId xmlns:a16="http://schemas.microsoft.com/office/drawing/2014/main" id="{1654031F-5F57-4A34-A04E-902B3F9A8074}"/>
                </a:ext>
              </a:extLst>
            </p:cNvPr>
            <p:cNvSpPr/>
            <p:nvPr/>
          </p:nvSpPr>
          <p:spPr>
            <a:xfrm rot="10756216">
              <a:off x="2212848" y="5438751"/>
              <a:ext cx="3420174"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36" name="Freeform: Shape 35">
              <a:extLst>
                <a:ext uri="{FF2B5EF4-FFF2-40B4-BE49-F238E27FC236}">
                  <a16:creationId xmlns:a16="http://schemas.microsoft.com/office/drawing/2014/main" id="{8F8E88C6-05F6-4303-B87B-84045C4EC07F}"/>
                </a:ext>
              </a:extLst>
            </p:cNvPr>
            <p:cNvSpPr/>
            <p:nvPr/>
          </p:nvSpPr>
          <p:spPr>
            <a:xfrm>
              <a:off x="5028452" y="5110162"/>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marL="0" lvl="0" indent="0" algn="ctr" defTabSz="1244600">
                <a:lnSpc>
                  <a:spcPct val="90000"/>
                </a:lnSpc>
                <a:spcBef>
                  <a:spcPct val="0"/>
                </a:spcBef>
                <a:spcAft>
                  <a:spcPct val="35000"/>
                </a:spcAft>
                <a:buNone/>
              </a:pPr>
              <a:r>
                <a:rPr lang="en-US" sz="2800" kern="1200" dirty="0"/>
                <a:t>Morphological Characterization of the Patches</a:t>
              </a:r>
            </a:p>
          </p:txBody>
        </p:sp>
        <p:sp>
          <p:nvSpPr>
            <p:cNvPr id="37" name="Rectangle 36">
              <a:extLst>
                <a:ext uri="{FF2B5EF4-FFF2-40B4-BE49-F238E27FC236}">
                  <a16:creationId xmlns:a16="http://schemas.microsoft.com/office/drawing/2014/main" id="{4611E3B9-41C7-451C-A027-B3B059997D26}"/>
                </a:ext>
              </a:extLst>
            </p:cNvPr>
            <p:cNvSpPr/>
            <p:nvPr/>
          </p:nvSpPr>
          <p:spPr>
            <a:xfrm rot="5400000">
              <a:off x="740735" y="6938909"/>
              <a:ext cx="2944505"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38" name="Freeform: Shape 37">
              <a:extLst>
                <a:ext uri="{FF2B5EF4-FFF2-40B4-BE49-F238E27FC236}">
                  <a16:creationId xmlns:a16="http://schemas.microsoft.com/office/drawing/2014/main" id="{11D0F185-71E7-49D6-AEC2-92F3348880F4}"/>
                </a:ext>
              </a:extLst>
            </p:cNvPr>
            <p:cNvSpPr/>
            <p:nvPr/>
          </p:nvSpPr>
          <p:spPr>
            <a:xfrm>
              <a:off x="1608556" y="5159847"/>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marL="0" lvl="0" indent="0" algn="ctr" defTabSz="1244600">
                <a:lnSpc>
                  <a:spcPct val="90000"/>
                </a:lnSpc>
                <a:spcBef>
                  <a:spcPct val="0"/>
                </a:spcBef>
                <a:spcAft>
                  <a:spcPct val="35000"/>
                </a:spcAft>
                <a:buNone/>
              </a:pPr>
              <a:r>
                <a:rPr lang="en-US" sz="2800" kern="1200" dirty="0"/>
                <a:t>Bilayer GC patch's composition analysis by FTIR</a:t>
              </a:r>
            </a:p>
          </p:txBody>
        </p:sp>
        <p:sp>
          <p:nvSpPr>
            <p:cNvPr id="39" name="Rectangle 38">
              <a:extLst>
                <a:ext uri="{FF2B5EF4-FFF2-40B4-BE49-F238E27FC236}">
                  <a16:creationId xmlns:a16="http://schemas.microsoft.com/office/drawing/2014/main" id="{096A936A-BE13-4A1D-B819-698CB5681DAE}"/>
                </a:ext>
              </a:extLst>
            </p:cNvPr>
            <p:cNvSpPr/>
            <p:nvPr/>
          </p:nvSpPr>
          <p:spPr>
            <a:xfrm>
              <a:off x="2216050" y="8414225"/>
              <a:ext cx="3493512"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40" name="Freeform: Shape 39">
              <a:extLst>
                <a:ext uri="{FF2B5EF4-FFF2-40B4-BE49-F238E27FC236}">
                  <a16:creationId xmlns:a16="http://schemas.microsoft.com/office/drawing/2014/main" id="{FD73F725-9456-422D-8274-74154C443742}"/>
                </a:ext>
              </a:extLst>
            </p:cNvPr>
            <p:cNvSpPr/>
            <p:nvPr/>
          </p:nvSpPr>
          <p:spPr>
            <a:xfrm>
              <a:off x="1608556" y="8110478"/>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marL="0" lvl="0" indent="0" algn="ctr" defTabSz="1244600">
                <a:lnSpc>
                  <a:spcPct val="90000"/>
                </a:lnSpc>
                <a:spcBef>
                  <a:spcPct val="0"/>
                </a:spcBef>
                <a:spcAft>
                  <a:spcPct val="35000"/>
                </a:spcAft>
                <a:buNone/>
              </a:pPr>
              <a:r>
                <a:rPr lang="en-US" sz="2800" kern="1200" dirty="0"/>
                <a:t>Water Retention Assay of patches</a:t>
              </a:r>
            </a:p>
          </p:txBody>
        </p:sp>
        <p:sp>
          <p:nvSpPr>
            <p:cNvPr id="41" name="Rectangle 40">
              <a:extLst>
                <a:ext uri="{FF2B5EF4-FFF2-40B4-BE49-F238E27FC236}">
                  <a16:creationId xmlns:a16="http://schemas.microsoft.com/office/drawing/2014/main" id="{8E32D092-EB97-4460-B405-27B8A40C74CB}"/>
                </a:ext>
              </a:extLst>
            </p:cNvPr>
            <p:cNvSpPr/>
            <p:nvPr/>
          </p:nvSpPr>
          <p:spPr>
            <a:xfrm rot="23306">
              <a:off x="5712579" y="8430794"/>
              <a:ext cx="3984370" cy="270615"/>
            </a:xfrm>
            <a:prstGeom prst="rect">
              <a:avLst/>
            </a:pr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sp>
        <p:sp>
          <p:nvSpPr>
            <p:cNvPr id="42" name="Freeform: Shape 41">
              <a:extLst>
                <a:ext uri="{FF2B5EF4-FFF2-40B4-BE49-F238E27FC236}">
                  <a16:creationId xmlns:a16="http://schemas.microsoft.com/office/drawing/2014/main" id="{F5FB4135-41F8-4C34-B216-1B628CEC1299}"/>
                </a:ext>
              </a:extLst>
            </p:cNvPr>
            <p:cNvSpPr/>
            <p:nvPr/>
          </p:nvSpPr>
          <p:spPr>
            <a:xfrm>
              <a:off x="5108194" y="8110478"/>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marL="0" lvl="0" indent="0" algn="ctr" defTabSz="1244600">
                <a:lnSpc>
                  <a:spcPct val="90000"/>
                </a:lnSpc>
                <a:spcBef>
                  <a:spcPct val="0"/>
                </a:spcBef>
                <a:spcAft>
                  <a:spcPct val="35000"/>
                </a:spcAft>
                <a:buNone/>
              </a:pPr>
              <a:r>
                <a:rPr lang="en-US" sz="2800" kern="1200" dirty="0"/>
                <a:t>Antibacterial Activity Assay of patches </a:t>
              </a:r>
            </a:p>
          </p:txBody>
        </p:sp>
        <p:sp>
          <p:nvSpPr>
            <p:cNvPr id="43" name="Freeform: Shape 42">
              <a:extLst>
                <a:ext uri="{FF2B5EF4-FFF2-40B4-BE49-F238E27FC236}">
                  <a16:creationId xmlns:a16="http://schemas.microsoft.com/office/drawing/2014/main" id="{7FF62629-5BF6-41AE-BB54-5B7B8ECB8963}"/>
                </a:ext>
              </a:extLst>
            </p:cNvPr>
            <p:cNvSpPr/>
            <p:nvPr/>
          </p:nvSpPr>
          <p:spPr>
            <a:xfrm>
              <a:off x="9095536" y="8140552"/>
              <a:ext cx="3006840" cy="1804104"/>
            </a:xfrm>
            <a:custGeom>
              <a:avLst/>
              <a:gdLst>
                <a:gd name="connsiteX0" fmla="*/ 0 w 3006840"/>
                <a:gd name="connsiteY0" fmla="*/ 180410 h 1804104"/>
                <a:gd name="connsiteX1" fmla="*/ 180410 w 3006840"/>
                <a:gd name="connsiteY1" fmla="*/ 0 h 1804104"/>
                <a:gd name="connsiteX2" fmla="*/ 2826430 w 3006840"/>
                <a:gd name="connsiteY2" fmla="*/ 0 h 1804104"/>
                <a:gd name="connsiteX3" fmla="*/ 3006840 w 3006840"/>
                <a:gd name="connsiteY3" fmla="*/ 180410 h 1804104"/>
                <a:gd name="connsiteX4" fmla="*/ 3006840 w 3006840"/>
                <a:gd name="connsiteY4" fmla="*/ 1623694 h 1804104"/>
                <a:gd name="connsiteX5" fmla="*/ 2826430 w 3006840"/>
                <a:gd name="connsiteY5" fmla="*/ 1804104 h 1804104"/>
                <a:gd name="connsiteX6" fmla="*/ 180410 w 3006840"/>
                <a:gd name="connsiteY6" fmla="*/ 1804104 h 1804104"/>
                <a:gd name="connsiteX7" fmla="*/ 0 w 3006840"/>
                <a:gd name="connsiteY7" fmla="*/ 1623694 h 1804104"/>
                <a:gd name="connsiteX8" fmla="*/ 0 w 3006840"/>
                <a:gd name="connsiteY8" fmla="*/ 180410 h 1804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840" h="1804104">
                  <a:moveTo>
                    <a:pt x="0" y="180410"/>
                  </a:moveTo>
                  <a:cubicBezTo>
                    <a:pt x="0" y="80772"/>
                    <a:pt x="80772" y="0"/>
                    <a:pt x="180410" y="0"/>
                  </a:cubicBezTo>
                  <a:lnTo>
                    <a:pt x="2826430" y="0"/>
                  </a:lnTo>
                  <a:cubicBezTo>
                    <a:pt x="2926068" y="0"/>
                    <a:pt x="3006840" y="80772"/>
                    <a:pt x="3006840" y="180410"/>
                  </a:cubicBezTo>
                  <a:lnTo>
                    <a:pt x="3006840" y="1623694"/>
                  </a:lnTo>
                  <a:cubicBezTo>
                    <a:pt x="3006840" y="1723332"/>
                    <a:pt x="2926068" y="1804104"/>
                    <a:pt x="2826430" y="1804104"/>
                  </a:cubicBezTo>
                  <a:lnTo>
                    <a:pt x="180410" y="1804104"/>
                  </a:lnTo>
                  <a:cubicBezTo>
                    <a:pt x="80772" y="1804104"/>
                    <a:pt x="0" y="1723332"/>
                    <a:pt x="0" y="1623694"/>
                  </a:cubicBezTo>
                  <a:lnTo>
                    <a:pt x="0" y="180410"/>
                  </a:lnTo>
                  <a:close/>
                </a:path>
              </a:pathLst>
            </a:custGeom>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9520" tIns="159520" rIns="159520" bIns="159520" numCol="1" spcCol="1270" anchor="ctr" anchorCtr="0">
              <a:noAutofit/>
            </a:bodyPr>
            <a:lstStyle/>
            <a:p>
              <a:pPr marL="0" lvl="0" indent="0" algn="ctr" defTabSz="1244600">
                <a:lnSpc>
                  <a:spcPct val="90000"/>
                </a:lnSpc>
                <a:spcBef>
                  <a:spcPct val="0"/>
                </a:spcBef>
                <a:spcAft>
                  <a:spcPct val="35000"/>
                </a:spcAft>
                <a:buNone/>
              </a:pPr>
              <a:r>
                <a:rPr lang="en-US" sz="2800" kern="1200" dirty="0"/>
                <a:t>Conduction of skin irritation test on rabbits</a:t>
              </a:r>
            </a:p>
          </p:txBody>
        </p:sp>
      </p:grpSp>
    </p:spTree>
    <p:extLst>
      <p:ext uri="{BB962C8B-B14F-4D97-AF65-F5344CB8AC3E}">
        <p14:creationId xmlns:p14="http://schemas.microsoft.com/office/powerpoint/2010/main" val="3629310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D3E1EDC-11CB-4EB9-B83A-C4092A671B0F}"/>
              </a:ext>
            </a:extLst>
          </p:cNvPr>
          <p:cNvSpPr/>
          <p:nvPr/>
        </p:nvSpPr>
        <p:spPr>
          <a:xfrm>
            <a:off x="0" y="0"/>
            <a:ext cx="18440400" cy="10287000"/>
          </a:xfrm>
          <a:prstGeom prst="rect">
            <a:avLst/>
          </a:prstGeom>
          <a:solidFill>
            <a:srgbClr val="DCF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8">
            <a:extLst>
              <a:ext uri="{FF2B5EF4-FFF2-40B4-BE49-F238E27FC236}">
                <a16:creationId xmlns:a16="http://schemas.microsoft.com/office/drawing/2014/main" id="{F7A31D4B-54E5-4E65-8152-35EF6EEA3DEC}"/>
              </a:ext>
            </a:extLst>
          </p:cNvPr>
          <p:cNvSpPr/>
          <p:nvPr/>
        </p:nvSpPr>
        <p:spPr>
          <a:xfrm rot="18565774">
            <a:off x="2867006" y="8451743"/>
            <a:ext cx="1504470" cy="1558302"/>
          </a:xfrm>
          <a:custGeom>
            <a:avLst/>
            <a:gdLst/>
            <a:ahLst/>
            <a:cxnLst/>
            <a:rect l="l" t="t" r="r" b="b"/>
            <a:pathLst>
              <a:path w="1504470" h="1558302">
                <a:moveTo>
                  <a:pt x="0" y="0"/>
                </a:moveTo>
                <a:lnTo>
                  <a:pt x="1504470" y="0"/>
                </a:lnTo>
                <a:lnTo>
                  <a:pt x="1504470" y="1558302"/>
                </a:lnTo>
                <a:lnTo>
                  <a:pt x="0" y="15583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4">
            <a:extLst>
              <a:ext uri="{FF2B5EF4-FFF2-40B4-BE49-F238E27FC236}">
                <a16:creationId xmlns:a16="http://schemas.microsoft.com/office/drawing/2014/main" id="{4142F6F0-68DB-4FA3-8130-D6CDE5576B13}"/>
              </a:ext>
            </a:extLst>
          </p:cNvPr>
          <p:cNvSpPr/>
          <p:nvPr/>
        </p:nvSpPr>
        <p:spPr>
          <a:xfrm rot="4581397" flipH="1">
            <a:off x="12984479" y="208473"/>
            <a:ext cx="1253222" cy="1048149"/>
          </a:xfrm>
          <a:custGeom>
            <a:avLst/>
            <a:gdLst/>
            <a:ahLst/>
            <a:cxnLst/>
            <a:rect l="l" t="t" r="r" b="b"/>
            <a:pathLst>
              <a:path w="1253222" h="1048149">
                <a:moveTo>
                  <a:pt x="1253222" y="0"/>
                </a:moveTo>
                <a:lnTo>
                  <a:pt x="0" y="0"/>
                </a:lnTo>
                <a:lnTo>
                  <a:pt x="0" y="1048150"/>
                </a:lnTo>
                <a:lnTo>
                  <a:pt x="1253222" y="1048150"/>
                </a:lnTo>
                <a:lnTo>
                  <a:pt x="1253222"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3" name="Picture 2">
            <a:extLst>
              <a:ext uri="{FF2B5EF4-FFF2-40B4-BE49-F238E27FC236}">
                <a16:creationId xmlns:a16="http://schemas.microsoft.com/office/drawing/2014/main" id="{F97F8AD0-F526-435F-AB30-49B702B398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24476" y="246876"/>
            <a:ext cx="11359180" cy="10054161"/>
          </a:xfrm>
          <a:prstGeom prst="rect">
            <a:avLst/>
          </a:prstGeom>
        </p:spPr>
      </p:pic>
    </p:spTree>
    <p:extLst>
      <p:ext uri="{BB962C8B-B14F-4D97-AF65-F5344CB8AC3E}">
        <p14:creationId xmlns:p14="http://schemas.microsoft.com/office/powerpoint/2010/main" val="2591644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a:extLst>
              <a:ext uri="{FF2B5EF4-FFF2-40B4-BE49-F238E27FC236}">
                <a16:creationId xmlns:a16="http://schemas.microsoft.com/office/drawing/2014/main" id="{A35EC8D4-B469-4D21-B035-936FEC6ADEF6}"/>
              </a:ext>
            </a:extLst>
          </p:cNvPr>
          <p:cNvSpPr/>
          <p:nvPr/>
        </p:nvSpPr>
        <p:spPr>
          <a:xfrm>
            <a:off x="-1050096" y="-295340"/>
            <a:ext cx="19338096" cy="10877679"/>
          </a:xfrm>
          <a:custGeom>
            <a:avLst/>
            <a:gdLst/>
            <a:ahLst/>
            <a:cxnLst/>
            <a:rect l="l" t="t" r="r" b="b"/>
            <a:pathLst>
              <a:path w="19338096" h="10877679">
                <a:moveTo>
                  <a:pt x="0" y="0"/>
                </a:moveTo>
                <a:lnTo>
                  <a:pt x="19338096" y="0"/>
                </a:lnTo>
                <a:lnTo>
                  <a:pt x="19338096" y="10877679"/>
                </a:lnTo>
                <a:lnTo>
                  <a:pt x="0" y="108776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2">
            <a:extLst>
              <a:ext uri="{FF2B5EF4-FFF2-40B4-BE49-F238E27FC236}">
                <a16:creationId xmlns:a16="http://schemas.microsoft.com/office/drawing/2014/main" id="{69854F80-8EB6-45C9-ACAB-04E421F22E3A}"/>
              </a:ext>
            </a:extLst>
          </p:cNvPr>
          <p:cNvGrpSpPr/>
          <p:nvPr/>
        </p:nvGrpSpPr>
        <p:grpSpPr>
          <a:xfrm rot="-10800000">
            <a:off x="533400" y="647700"/>
            <a:ext cx="17221200" cy="9296400"/>
            <a:chOff x="0" y="0"/>
            <a:chExt cx="4816593" cy="1494236"/>
          </a:xfrm>
        </p:grpSpPr>
        <p:sp>
          <p:nvSpPr>
            <p:cNvPr id="5" name="Freeform 3">
              <a:extLst>
                <a:ext uri="{FF2B5EF4-FFF2-40B4-BE49-F238E27FC236}">
                  <a16:creationId xmlns:a16="http://schemas.microsoft.com/office/drawing/2014/main" id="{966A17C2-D1CE-4A7C-BEB0-5785C2E2525B}"/>
                </a:ext>
              </a:extLst>
            </p:cNvPr>
            <p:cNvSpPr/>
            <p:nvPr/>
          </p:nvSpPr>
          <p:spPr>
            <a:xfrm>
              <a:off x="0" y="0"/>
              <a:ext cx="4816592" cy="1494236"/>
            </a:xfrm>
            <a:custGeom>
              <a:avLst/>
              <a:gdLst/>
              <a:ahLst/>
              <a:cxnLst/>
              <a:rect l="l" t="t" r="r" b="b"/>
              <a:pathLst>
                <a:path w="4816592" h="1494236">
                  <a:moveTo>
                    <a:pt x="0" y="0"/>
                  </a:moveTo>
                  <a:lnTo>
                    <a:pt x="4816592" y="0"/>
                  </a:lnTo>
                  <a:lnTo>
                    <a:pt x="4816592" y="1494236"/>
                  </a:lnTo>
                  <a:lnTo>
                    <a:pt x="0" y="1494236"/>
                  </a:lnTo>
                  <a:close/>
                </a:path>
              </a:pathLst>
            </a:custGeom>
            <a:solidFill>
              <a:srgbClr val="A9B7ED"/>
            </a:solidFill>
          </p:spPr>
        </p:sp>
        <p:sp>
          <p:nvSpPr>
            <p:cNvPr id="6" name="TextBox 4">
              <a:extLst>
                <a:ext uri="{FF2B5EF4-FFF2-40B4-BE49-F238E27FC236}">
                  <a16:creationId xmlns:a16="http://schemas.microsoft.com/office/drawing/2014/main" id="{5ACC398A-A37D-483B-851F-92D8E7EECD6D}"/>
                </a:ext>
              </a:extLst>
            </p:cNvPr>
            <p:cNvSpPr txBox="1"/>
            <p:nvPr/>
          </p:nvSpPr>
          <p:spPr>
            <a:xfrm>
              <a:off x="0" y="-57150"/>
              <a:ext cx="4816593" cy="1551386"/>
            </a:xfrm>
            <a:prstGeom prst="rect">
              <a:avLst/>
            </a:prstGeom>
          </p:spPr>
          <p:txBody>
            <a:bodyPr lIns="50800" tIns="50800" rIns="50800" bIns="50800" rtlCol="0" anchor="ctr"/>
            <a:lstStyle/>
            <a:p>
              <a:pPr algn="ctr">
                <a:lnSpc>
                  <a:spcPts val="2659"/>
                </a:lnSpc>
                <a:spcBef>
                  <a:spcPct val="0"/>
                </a:spcBef>
              </a:pPr>
              <a:endParaRPr/>
            </a:p>
          </p:txBody>
        </p:sp>
      </p:grpSp>
      <p:sp>
        <p:nvSpPr>
          <p:cNvPr id="3" name="Content Placeholder 2">
            <a:extLst>
              <a:ext uri="{FF2B5EF4-FFF2-40B4-BE49-F238E27FC236}">
                <a16:creationId xmlns:a16="http://schemas.microsoft.com/office/drawing/2014/main" id="{5142533B-AE12-454C-9526-B243138AA19F}"/>
              </a:ext>
            </a:extLst>
          </p:cNvPr>
          <p:cNvSpPr>
            <a:spLocks noGrp="1"/>
          </p:cNvSpPr>
          <p:nvPr>
            <p:ph idx="1"/>
          </p:nvPr>
        </p:nvSpPr>
        <p:spPr>
          <a:xfrm>
            <a:off x="762000" y="1594797"/>
            <a:ext cx="16992600" cy="8349304"/>
          </a:xfrm>
        </p:spPr>
        <p:txBody>
          <a:bodyPr>
            <a:normAutofit/>
          </a:bodyPr>
          <a:lstStyle/>
          <a:p>
            <a:endParaRPr lang="en-US" dirty="0"/>
          </a:p>
          <a:p>
            <a:r>
              <a:rPr lang="en-US" sz="2000" dirty="0"/>
              <a:t>Office, P. REGULATION (EC) No 1223/2009 OF THE EUROPEAN PARLIAMENT AND OF THE COUNCIL of 30  November 2009 on cosmetic products. 2009 12/18/09, 4:01:41 AM 12/17/09, 8:09:27 AM]; Available from: https://health.ec.europa.eu/system/files/201611/cosmetic_1223_2009_regulation_en_0.pdf. </a:t>
            </a:r>
          </a:p>
          <a:p>
            <a:r>
              <a:rPr lang="en-US" sz="2000" dirty="0"/>
              <a:t>Dubey, S.K., et al., Emerging trends of nanotechnology in advanced cosmetics. Colloids Surf B </a:t>
            </a:r>
            <a:r>
              <a:rPr lang="en-US" sz="2000" dirty="0" err="1"/>
              <a:t>Biointerfaces</a:t>
            </a:r>
            <a:r>
              <a:rPr lang="en-US" sz="2000" dirty="0"/>
              <a:t>, 2022. 214: p. 112440. </a:t>
            </a:r>
          </a:p>
          <a:p>
            <a:r>
              <a:rPr lang="en-US" sz="2000" dirty="0" err="1"/>
              <a:t>Colomban</a:t>
            </a:r>
            <a:r>
              <a:rPr lang="en-US" sz="2000" dirty="0"/>
              <a:t>, P., Raman spectroscopy of copper nanoparticle-containing glass matrices: Ancient red stained-glass windows. Journal of Raman Spectroscopy 40(12):1949 - 1955, May 2009. </a:t>
            </a:r>
          </a:p>
          <a:p>
            <a:r>
              <a:rPr lang="en-US" sz="2000" dirty="0" err="1"/>
              <a:t>Berube</a:t>
            </a:r>
            <a:r>
              <a:rPr lang="en-US" sz="2000" dirty="0"/>
              <a:t>, D.M., Project on emerging nanotechnologies - Consumer product inventory evaluated. Nanotechnology Law and Business 7(2):152-163, June 2010. </a:t>
            </a:r>
          </a:p>
          <a:p>
            <a:r>
              <a:rPr lang="en-US" sz="2000" dirty="0">
                <a:hlinkClick r:id="rId4"/>
              </a:rPr>
              <a:t>https://breylee.com/products/acne-pimple-patch-for-night</a:t>
            </a:r>
            <a:endParaRPr lang="en-US" sz="2000" dirty="0"/>
          </a:p>
          <a:p>
            <a:r>
              <a:rPr lang="en-US" sz="2000" dirty="0">
                <a:hlinkClick r:id="rId5"/>
              </a:rPr>
              <a:t>https://www.sciencedirect.com/science/article/abs/pii/S2468519421002895</a:t>
            </a:r>
            <a:endParaRPr lang="en-US" sz="2000" dirty="0"/>
          </a:p>
          <a:p>
            <a:r>
              <a:rPr lang="en-US" sz="2000" dirty="0">
                <a:hlinkClick r:id="rId6"/>
              </a:rPr>
              <a:t>https://www.mdpi.com/1660-4601/17/17/6088</a:t>
            </a:r>
            <a:r>
              <a:rPr lang="en-US" sz="2000" dirty="0"/>
              <a:t> </a:t>
            </a:r>
          </a:p>
          <a:p>
            <a:r>
              <a:rPr lang="en-US" sz="2000" dirty="0">
                <a:hlinkClick r:id="rId7"/>
              </a:rPr>
              <a:t>https://www.ncbi.nlm.nih.gov/pmc/articles/PMC7279536/</a:t>
            </a:r>
            <a:r>
              <a:rPr lang="en-US" sz="2000" dirty="0"/>
              <a:t> </a:t>
            </a:r>
          </a:p>
          <a:p>
            <a:r>
              <a:rPr lang="en-US" sz="2000" dirty="0" err="1"/>
              <a:t>Saldaw</a:t>
            </a:r>
            <a:r>
              <a:rPr lang="en-US" sz="2000" dirty="0"/>
              <a:t>, A., Ananda, L. T., </a:t>
            </a:r>
            <a:r>
              <a:rPr lang="en-US" sz="2000" dirty="0" err="1"/>
              <a:t>Hafis</a:t>
            </a:r>
            <a:r>
              <a:rPr lang="en-US" sz="2000" dirty="0"/>
              <a:t>, M. R., </a:t>
            </a:r>
            <a:r>
              <a:rPr lang="en-US" sz="2000" dirty="0" err="1"/>
              <a:t>Wafa</a:t>
            </a:r>
            <a:r>
              <a:rPr lang="en-US" sz="2000" dirty="0"/>
              <a:t>, S., &amp; </a:t>
            </a:r>
            <a:r>
              <a:rPr lang="en-US" sz="2000" dirty="0" err="1"/>
              <a:t>Rizkita</a:t>
            </a:r>
            <a:r>
              <a:rPr lang="en-US" sz="2000" dirty="0"/>
              <a:t>, A. D. (2023, April). Systematic review: Natural Acne Patch Base On Nanomaterial Gelatin/Chitosan Bilayer from Mulberry Extract. In </a:t>
            </a:r>
            <a:r>
              <a:rPr lang="en-US" sz="2000" i="1" dirty="0"/>
              <a:t>Proceeding International Conference on Religion, Science and Education</a:t>
            </a:r>
            <a:r>
              <a:rPr lang="en-US" sz="2000" dirty="0"/>
              <a:t> (Vol. 2, pp. 711-714).</a:t>
            </a:r>
          </a:p>
          <a:p>
            <a:r>
              <a:rPr lang="en-US" sz="2000" dirty="0">
                <a:hlinkClick r:id="rId8"/>
              </a:rPr>
              <a:t>https://www.researchgate.net/publication/359151917_Nanotechnology_in_Cosmetics_and_Cosmeceuticals-A_Review_of_Latest_Advancements</a:t>
            </a:r>
            <a:r>
              <a:rPr lang="en-US" sz="2000" dirty="0"/>
              <a:t> </a:t>
            </a:r>
          </a:p>
          <a:p>
            <a:r>
              <a:rPr lang="en-US" sz="2000" dirty="0" err="1"/>
              <a:t>Kuo</a:t>
            </a:r>
            <a:r>
              <a:rPr lang="en-US" sz="2000" dirty="0"/>
              <a:t>, C. W., Chiu, Y. F., Wu, M. H., Li, M. H., Wu, C. N., Chen, W. S., &amp; Huang, C. H. (2021). Gelatin/chitosan bilayer patches loaded with cortex </a:t>
            </a:r>
            <a:r>
              <a:rPr lang="en-US" sz="2000" dirty="0" err="1"/>
              <a:t>Phellodendron</a:t>
            </a:r>
            <a:r>
              <a:rPr lang="en-US" sz="2000" dirty="0"/>
              <a:t> </a:t>
            </a:r>
            <a:r>
              <a:rPr lang="en-US" sz="2000" dirty="0" err="1"/>
              <a:t>amurense</a:t>
            </a:r>
            <a:r>
              <a:rPr lang="en-US" sz="2000" dirty="0"/>
              <a:t>/Centella asiatica extracts for anti-acne application. </a:t>
            </a:r>
            <a:r>
              <a:rPr lang="en-US" sz="2000" i="1" dirty="0"/>
              <a:t>Polymers</a:t>
            </a:r>
            <a:r>
              <a:rPr lang="en-US" sz="2000" dirty="0"/>
              <a:t>, </a:t>
            </a:r>
            <a:r>
              <a:rPr lang="en-US" sz="2000" i="1" dirty="0"/>
              <a:t>13</a:t>
            </a:r>
            <a:r>
              <a:rPr lang="en-US" sz="2000" dirty="0"/>
              <a:t>(4), 579.</a:t>
            </a:r>
          </a:p>
          <a:p>
            <a:r>
              <a:rPr lang="en-US" sz="2000" dirty="0"/>
              <a:t>Nanotechnology: Where Dermatology Meets Science Fiction: </a:t>
            </a:r>
            <a:r>
              <a:rPr lang="en-US" sz="2000" dirty="0">
                <a:hlinkClick r:id="rId9"/>
              </a:rPr>
              <a:t>https://www.youtube.com/watch?v=zu499ocrEHo</a:t>
            </a:r>
            <a:endParaRPr lang="en-US" sz="2000" dirty="0"/>
          </a:p>
          <a:p>
            <a:r>
              <a:rPr lang="x-none" sz="2000" dirty="0">
                <a:latin typeface="Times New Roman" panose="02020603050405020304" pitchFamily="18" charset="0"/>
                <a:cs typeface="Times New Roman" panose="02020603050405020304" pitchFamily="18" charset="0"/>
                <a:hlinkClick r:id="rId10"/>
              </a:rPr>
              <a:t>https://chaileedo.com/koreas-kolmar-to-develop-first-gold-nano-sunscreen-product/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hlinkClick r:id="rId11"/>
              </a:rPr>
              <a:t>https://www.cosmeticsdesign.com/Article/2007/10/11/TRI-K-launches-nano-emulsion-in-a-gel</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hlinkClick r:id="rId12"/>
              </a:rPr>
              <a:t>https://www.linkedin.com/feed/update/urn:li:activity:7163510384291749888/</a:t>
            </a:r>
            <a:endParaRPr lang="en-US" sz="20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
        <p:nvSpPr>
          <p:cNvPr id="8" name="TextBox 13">
            <a:extLst>
              <a:ext uri="{FF2B5EF4-FFF2-40B4-BE49-F238E27FC236}">
                <a16:creationId xmlns:a16="http://schemas.microsoft.com/office/drawing/2014/main" id="{3E8014FB-D784-4AFF-9E39-BD0122234D59}"/>
              </a:ext>
            </a:extLst>
          </p:cNvPr>
          <p:cNvSpPr txBox="1"/>
          <p:nvPr/>
        </p:nvSpPr>
        <p:spPr>
          <a:xfrm>
            <a:off x="1295400" y="993671"/>
            <a:ext cx="4191000" cy="1202252"/>
          </a:xfrm>
          <a:prstGeom prst="rect">
            <a:avLst/>
          </a:prstGeom>
        </p:spPr>
        <p:txBody>
          <a:bodyPr wrap="square" lIns="0" tIns="0" rIns="0" bIns="0" rtlCol="0" anchor="t">
            <a:spAutoFit/>
          </a:bodyPr>
          <a:lstStyle/>
          <a:p>
            <a:pPr marL="0" lvl="0" indent="0" algn="l">
              <a:lnSpc>
                <a:spcPts val="9299"/>
              </a:lnSpc>
              <a:spcBef>
                <a:spcPct val="0"/>
              </a:spcBef>
            </a:pPr>
            <a:r>
              <a:rPr lang="en-US" sz="6600" u="none" spc="-229" dirty="0">
                <a:solidFill>
                  <a:srgbClr val="FFF5AC"/>
                </a:solidFill>
                <a:latin typeface="One Little Font Bold"/>
              </a:rPr>
              <a:t>References</a:t>
            </a:r>
          </a:p>
        </p:txBody>
      </p:sp>
    </p:spTree>
    <p:extLst>
      <p:ext uri="{BB962C8B-B14F-4D97-AF65-F5344CB8AC3E}">
        <p14:creationId xmlns:p14="http://schemas.microsoft.com/office/powerpoint/2010/main" val="826357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3046"/>
            <a:ext cx="18396166" cy="10263953"/>
            <a:chOff x="0" y="0"/>
            <a:chExt cx="24384000" cy="11686318"/>
          </a:xfrm>
        </p:grpSpPr>
        <p:pic>
          <p:nvPicPr>
            <p:cNvPr id="3" name="Picture 3"/>
            <p:cNvPicPr>
              <a:picLocks noChangeAspect="1"/>
            </p:cNvPicPr>
            <p:nvPr/>
          </p:nvPicPr>
          <p:blipFill>
            <a:blip r:embed="rId2"/>
            <a:srcRect t="41336" b="26712"/>
            <a:stretch>
              <a:fillRect/>
            </a:stretch>
          </p:blipFill>
          <p:spPr>
            <a:xfrm flipH="1">
              <a:off x="0" y="0"/>
              <a:ext cx="24384000" cy="11686318"/>
            </a:xfrm>
            <a:prstGeom prst="rect">
              <a:avLst/>
            </a:prstGeom>
          </p:spPr>
        </p:pic>
      </p:grpSp>
      <p:sp>
        <p:nvSpPr>
          <p:cNvPr id="4" name="Freeform 4"/>
          <p:cNvSpPr/>
          <p:nvPr/>
        </p:nvSpPr>
        <p:spPr>
          <a:xfrm rot="-921305">
            <a:off x="6224048" y="4074923"/>
            <a:ext cx="3732580" cy="4171527"/>
          </a:xfrm>
          <a:custGeom>
            <a:avLst/>
            <a:gdLst/>
            <a:ahLst/>
            <a:cxnLst/>
            <a:rect l="l" t="t" r="r" b="b"/>
            <a:pathLst>
              <a:path w="4554672" h="4372486">
                <a:moveTo>
                  <a:pt x="0" y="0"/>
                </a:moveTo>
                <a:lnTo>
                  <a:pt x="4554673" y="0"/>
                </a:lnTo>
                <a:lnTo>
                  <a:pt x="4554673" y="4372486"/>
                </a:lnTo>
                <a:lnTo>
                  <a:pt x="0" y="43724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4054451" y="2158758"/>
            <a:ext cx="1645604" cy="1755528"/>
          </a:xfrm>
          <a:custGeom>
            <a:avLst/>
            <a:gdLst/>
            <a:ahLst/>
            <a:cxnLst/>
            <a:rect l="l" t="t" r="r" b="b"/>
            <a:pathLst>
              <a:path w="2008045" h="1840100">
                <a:moveTo>
                  <a:pt x="0" y="0"/>
                </a:moveTo>
                <a:lnTo>
                  <a:pt x="2008045" y="0"/>
                </a:lnTo>
                <a:lnTo>
                  <a:pt x="2008045" y="1840100"/>
                </a:lnTo>
                <a:lnTo>
                  <a:pt x="0" y="1840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rot="173113">
            <a:off x="12776163" y="5034708"/>
            <a:ext cx="4674184" cy="3888215"/>
            <a:chOff x="3621460" y="1036437"/>
            <a:chExt cx="7604884" cy="5434035"/>
          </a:xfrm>
        </p:grpSpPr>
        <p:sp>
          <p:nvSpPr>
            <p:cNvPr id="7" name="Freeform 7"/>
            <p:cNvSpPr/>
            <p:nvPr/>
          </p:nvSpPr>
          <p:spPr>
            <a:xfrm rot="1248218" flipH="1">
              <a:off x="3621460" y="1036437"/>
              <a:ext cx="7604884" cy="5434035"/>
            </a:xfrm>
            <a:custGeom>
              <a:avLst/>
              <a:gdLst/>
              <a:ahLst/>
              <a:cxnLst/>
              <a:rect l="l" t="t" r="r" b="b"/>
              <a:pathLst>
                <a:path w="7604884" h="5434035">
                  <a:moveTo>
                    <a:pt x="7604884" y="0"/>
                  </a:moveTo>
                  <a:lnTo>
                    <a:pt x="0" y="0"/>
                  </a:lnTo>
                  <a:lnTo>
                    <a:pt x="0" y="5434036"/>
                  </a:lnTo>
                  <a:lnTo>
                    <a:pt x="7604884" y="5434036"/>
                  </a:lnTo>
                  <a:lnTo>
                    <a:pt x="7604884"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TextBox 8"/>
            <p:cNvSpPr txBox="1"/>
            <p:nvPr/>
          </p:nvSpPr>
          <p:spPr>
            <a:xfrm rot="1069462">
              <a:off x="4902793" y="2938997"/>
              <a:ext cx="4559149" cy="2590416"/>
            </a:xfrm>
            <a:prstGeom prst="rect">
              <a:avLst/>
            </a:prstGeom>
          </p:spPr>
          <p:txBody>
            <a:bodyPr lIns="0" tIns="0" rIns="0" bIns="0" rtlCol="0" anchor="t">
              <a:spAutoFit/>
            </a:bodyPr>
            <a:lstStyle/>
            <a:p>
              <a:pPr marL="0" lvl="0" indent="0" algn="ctr">
                <a:lnSpc>
                  <a:spcPts val="6965"/>
                </a:lnSpc>
              </a:pPr>
              <a:r>
                <a:rPr lang="en-US" sz="8599" u="none" spc="-171" dirty="0">
                  <a:solidFill>
                    <a:srgbClr val="A9B7ED"/>
                  </a:solidFill>
                  <a:latin typeface="One Little Font Bold"/>
                </a:rPr>
                <a:t>Thank</a:t>
              </a:r>
            </a:p>
            <a:p>
              <a:pPr marL="0" lvl="0" indent="0" algn="ctr">
                <a:lnSpc>
                  <a:spcPts val="6965"/>
                </a:lnSpc>
              </a:pPr>
              <a:r>
                <a:rPr lang="en-US" sz="8599" u="none" spc="-171" dirty="0">
                  <a:solidFill>
                    <a:srgbClr val="A9B7ED"/>
                  </a:solidFill>
                  <a:latin typeface="One Little Font Bold"/>
                </a:rPr>
                <a:t>you</a:t>
              </a:r>
            </a:p>
          </p:txBody>
        </p:sp>
      </p:grpSp>
      <p:sp>
        <p:nvSpPr>
          <p:cNvPr id="9" name="Freeform 9"/>
          <p:cNvSpPr/>
          <p:nvPr/>
        </p:nvSpPr>
        <p:spPr>
          <a:xfrm>
            <a:off x="-1179492" y="8082700"/>
            <a:ext cx="3214346" cy="2551384"/>
          </a:xfrm>
          <a:custGeom>
            <a:avLst/>
            <a:gdLst/>
            <a:ahLst/>
            <a:cxnLst/>
            <a:rect l="l" t="t" r="r" b="b"/>
            <a:pathLst>
              <a:path w="3922298" h="2674294">
                <a:moveTo>
                  <a:pt x="0" y="0"/>
                </a:moveTo>
                <a:lnTo>
                  <a:pt x="3922298" y="0"/>
                </a:lnTo>
                <a:lnTo>
                  <a:pt x="3922298" y="2674294"/>
                </a:lnTo>
                <a:lnTo>
                  <a:pt x="0" y="267429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6617873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0.2"/>
  <p:tag name="RESOURCELIBID" val="43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TotalTime>
  <Words>1090</Words>
  <Application>Microsoft Office PowerPoint</Application>
  <PresentationFormat>Custom</PresentationFormat>
  <Paragraphs>124</Paragraphs>
  <Slides>27</Slides>
  <Notes>3</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Palatino Linotype</vt:lpstr>
      <vt:lpstr>Arial</vt:lpstr>
      <vt:lpstr>One Little Font Bold</vt:lpstr>
      <vt:lpstr>Calibri</vt:lpstr>
      <vt:lpstr>Times New Roman</vt:lpstr>
      <vt:lpstr>Nourd Bold</vt:lpstr>
      <vt:lpstr>字魂105号-简雅黑</vt:lpstr>
      <vt:lpstr>Nourd</vt:lpstr>
      <vt:lpstr>字魂45号-冰宇雅宋</vt:lpstr>
      <vt:lpstr>Source Han Sans SC</vt:lpstr>
      <vt:lpstr>One Little Font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Pastel Cute Scrapbook Korean Beauty Product Company Profile Presentation</dc:title>
  <dc:creator>hp</dc:creator>
  <cp:lastModifiedBy>Esha Zaman</cp:lastModifiedBy>
  <cp:revision>64</cp:revision>
  <dcterms:created xsi:type="dcterms:W3CDTF">2006-08-16T00:00:00Z</dcterms:created>
  <dcterms:modified xsi:type="dcterms:W3CDTF">2026-10-15T18:06:54Z</dcterms:modified>
  <dc:identifier>DAGE2f_FKxU</dc:identifier>
</cp:coreProperties>
</file>