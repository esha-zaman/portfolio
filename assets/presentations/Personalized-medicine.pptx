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74" r:id="rId3"/>
    <p:sldId id="314" r:id="rId4"/>
    <p:sldId id="323" r:id="rId5"/>
    <p:sldId id="317" r:id="rId6"/>
    <p:sldId id="324" r:id="rId7"/>
    <p:sldId id="325" r:id="rId8"/>
    <p:sldId id="270" r:id="rId9"/>
    <p:sldId id="316" r:id="rId10"/>
    <p:sldId id="328" r:id="rId11"/>
    <p:sldId id="322" r:id="rId12"/>
    <p:sldId id="319" r:id="rId13"/>
    <p:sldId id="329" r:id="rId14"/>
    <p:sldId id="290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3" pitchFamily="34" charset="0"/>
      <p:bold r:id="rId21"/>
      <p:boldItalic r:id="rId22"/>
    </p:embeddedFont>
    <p:embeddedFont>
      <p:font typeface="Lato Light" panose="020F0502020204030203" pitchFamily="34" charset="0"/>
      <p:regular r:id="rId23"/>
      <p:bold r:id="rId24"/>
      <p:italic r:id="rId25"/>
      <p:boldItalic r:id="rId26"/>
    </p:embeddedFont>
    <p:embeddedFont>
      <p:font typeface="Montserrat Medium" panose="000006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8D85"/>
    <a:srgbClr val="96B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A7C630-EF25-4AB8-B589-5B9D88E7EC8B}">
  <a:tblStyle styleId="{ADA7C630-EF25-4AB8-B589-5B9D88E7E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516" y="78"/>
      </p:cViewPr>
      <p:guideLst>
        <p:guide pos="45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5EDFF2-3C00-4723-A0FC-3BD7F98F09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E9C02E2-F7C9-4F12-A5A9-26E2AE70F9F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Collection of Patient's Own Blood Cells</a:t>
          </a:r>
        </a:p>
      </dgm:t>
    </dgm:pt>
    <dgm:pt modelId="{36FCD30F-C82A-4D5C-89F6-A2AD67F60FF1}" type="parTrans" cxnId="{81B3F719-0F70-4EF5-ACAD-DAC2F7AE3A85}">
      <dgm:prSet/>
      <dgm:spPr/>
      <dgm:t>
        <a:bodyPr/>
        <a:lstStyle/>
        <a:p>
          <a:endParaRPr lang="en-US"/>
        </a:p>
      </dgm:t>
    </dgm:pt>
    <dgm:pt modelId="{3986ADF9-5F9F-45A6-8664-2C131D21FD84}" type="sibTrans" cxnId="{81B3F719-0F70-4EF5-ACAD-DAC2F7AE3A85}">
      <dgm:prSet/>
      <dgm:spPr/>
      <dgm:t>
        <a:bodyPr/>
        <a:lstStyle/>
        <a:p>
          <a:endParaRPr lang="en-US"/>
        </a:p>
      </dgm:t>
    </dgm:pt>
    <dgm:pt modelId="{6DFFBAA5-AAD2-4254-8683-9839E0ADC21F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Introducing CAR Genes</a:t>
          </a:r>
        </a:p>
      </dgm:t>
    </dgm:pt>
    <dgm:pt modelId="{73E1B0EA-6FE9-4D22-8AE2-2B749A097680}" type="parTrans" cxnId="{950FC0D7-DB73-476F-B3AF-664B1400CEC6}">
      <dgm:prSet/>
      <dgm:spPr/>
      <dgm:t>
        <a:bodyPr/>
        <a:lstStyle/>
        <a:p>
          <a:endParaRPr lang="en-US"/>
        </a:p>
      </dgm:t>
    </dgm:pt>
    <dgm:pt modelId="{DD774848-607F-48E1-B270-A485EF901C7E}" type="sibTrans" cxnId="{950FC0D7-DB73-476F-B3AF-664B1400CEC6}">
      <dgm:prSet/>
      <dgm:spPr/>
      <dgm:t>
        <a:bodyPr/>
        <a:lstStyle/>
        <a:p>
          <a:endParaRPr lang="en-US"/>
        </a:p>
      </dgm:t>
    </dgm:pt>
    <dgm:pt modelId="{7E0E3B99-E9D1-427C-A816-6050229D0EA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Expanding CAR T Cells</a:t>
          </a:r>
        </a:p>
      </dgm:t>
    </dgm:pt>
    <dgm:pt modelId="{20D99049-75F9-4207-A0D7-39811F94D97F}" type="parTrans" cxnId="{B496791B-E723-4DBF-886A-3EB9D9E680D4}">
      <dgm:prSet/>
      <dgm:spPr/>
      <dgm:t>
        <a:bodyPr/>
        <a:lstStyle/>
        <a:p>
          <a:endParaRPr lang="en-US"/>
        </a:p>
      </dgm:t>
    </dgm:pt>
    <dgm:pt modelId="{FA835CC5-71F0-47AE-8049-5A6214CFB37B}" type="sibTrans" cxnId="{B496791B-E723-4DBF-886A-3EB9D9E680D4}">
      <dgm:prSet/>
      <dgm:spPr/>
      <dgm:t>
        <a:bodyPr/>
        <a:lstStyle/>
        <a:p>
          <a:endParaRPr lang="en-US"/>
        </a:p>
      </dgm:t>
    </dgm:pt>
    <dgm:pt modelId="{D4A837AE-F64B-4428-B2B9-D2E10B69CEB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Activation of T Cells Outside the Body</a:t>
          </a:r>
        </a:p>
      </dgm:t>
    </dgm:pt>
    <dgm:pt modelId="{166377E1-B72F-443B-A70C-FA5417DABA45}" type="parTrans" cxnId="{919CF341-9185-4D0C-92FE-0C96850DD3A4}">
      <dgm:prSet/>
      <dgm:spPr/>
      <dgm:t>
        <a:bodyPr/>
        <a:lstStyle/>
        <a:p>
          <a:endParaRPr lang="en-US"/>
        </a:p>
      </dgm:t>
    </dgm:pt>
    <dgm:pt modelId="{2DF022D9-EB7F-44D2-A0B9-B9A0F6DDE96E}" type="sibTrans" cxnId="{919CF341-9185-4D0C-92FE-0C96850DD3A4}">
      <dgm:prSet/>
      <dgm:spPr/>
      <dgm:t>
        <a:bodyPr/>
        <a:lstStyle/>
        <a:p>
          <a:endParaRPr lang="en-US"/>
        </a:p>
      </dgm:t>
    </dgm:pt>
    <dgm:pt modelId="{C8161811-5F39-417A-A2BF-B5C7747ECD78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Infusion of CAR T Cells</a:t>
          </a:r>
        </a:p>
      </dgm:t>
    </dgm:pt>
    <dgm:pt modelId="{49A96E24-F364-4203-B7AA-AAA9CCEB0B8A}" type="parTrans" cxnId="{3E8FEA19-B02C-4DB4-A85B-F6AF1FA864E9}">
      <dgm:prSet/>
      <dgm:spPr/>
      <dgm:t>
        <a:bodyPr/>
        <a:lstStyle/>
        <a:p>
          <a:endParaRPr lang="en-US"/>
        </a:p>
      </dgm:t>
    </dgm:pt>
    <dgm:pt modelId="{5C621ACF-0CD3-471C-8CC7-D2A4231B528A}" type="sibTrans" cxnId="{3E8FEA19-B02C-4DB4-A85B-F6AF1FA864E9}">
      <dgm:prSet/>
      <dgm:spPr/>
      <dgm:t>
        <a:bodyPr/>
        <a:lstStyle/>
        <a:p>
          <a:endParaRPr lang="en-US"/>
        </a:p>
      </dgm:t>
    </dgm:pt>
    <dgm:pt modelId="{3A49BE03-F79C-4E52-AB1B-09116799661F}" type="pres">
      <dgm:prSet presAssocID="{F45EDFF2-3C00-4723-A0FC-3BD7F98F0974}" presName="Name0" presStyleCnt="0">
        <dgm:presLayoutVars>
          <dgm:dir/>
          <dgm:resizeHandles val="exact"/>
        </dgm:presLayoutVars>
      </dgm:prSet>
      <dgm:spPr/>
    </dgm:pt>
    <dgm:pt modelId="{64A1CB3A-D715-408B-B029-AB41CDBB233A}" type="pres">
      <dgm:prSet presAssocID="{1E9C02E2-F7C9-4F12-A5A9-26E2AE70F9FA}" presName="node" presStyleLbl="node1" presStyleIdx="0" presStyleCnt="5">
        <dgm:presLayoutVars>
          <dgm:bulletEnabled val="1"/>
        </dgm:presLayoutVars>
      </dgm:prSet>
      <dgm:spPr/>
    </dgm:pt>
    <dgm:pt modelId="{2C1F97D4-CD7A-49D6-BC22-630D13A4D532}" type="pres">
      <dgm:prSet presAssocID="{3986ADF9-5F9F-45A6-8664-2C131D21FD84}" presName="sibTrans" presStyleLbl="sibTrans2D1" presStyleIdx="0" presStyleCnt="4"/>
      <dgm:spPr/>
    </dgm:pt>
    <dgm:pt modelId="{2B29B654-3F8C-462F-8408-868738B78FF8}" type="pres">
      <dgm:prSet presAssocID="{3986ADF9-5F9F-45A6-8664-2C131D21FD84}" presName="connectorText" presStyleLbl="sibTrans2D1" presStyleIdx="0" presStyleCnt="4"/>
      <dgm:spPr/>
    </dgm:pt>
    <dgm:pt modelId="{49422487-A754-4A2E-92A7-7FC0B42F41EA}" type="pres">
      <dgm:prSet presAssocID="{D4A837AE-F64B-4428-B2B9-D2E10B69CEBE}" presName="node" presStyleLbl="node1" presStyleIdx="1" presStyleCnt="5">
        <dgm:presLayoutVars>
          <dgm:bulletEnabled val="1"/>
        </dgm:presLayoutVars>
      </dgm:prSet>
      <dgm:spPr/>
    </dgm:pt>
    <dgm:pt modelId="{E58A0FC2-AACA-4C81-88DB-C5D1D5285E4C}" type="pres">
      <dgm:prSet presAssocID="{2DF022D9-EB7F-44D2-A0B9-B9A0F6DDE96E}" presName="sibTrans" presStyleLbl="sibTrans2D1" presStyleIdx="1" presStyleCnt="4"/>
      <dgm:spPr/>
    </dgm:pt>
    <dgm:pt modelId="{4169699A-BF13-4241-95B7-0B0DCA7D0620}" type="pres">
      <dgm:prSet presAssocID="{2DF022D9-EB7F-44D2-A0B9-B9A0F6DDE96E}" presName="connectorText" presStyleLbl="sibTrans2D1" presStyleIdx="1" presStyleCnt="4"/>
      <dgm:spPr/>
    </dgm:pt>
    <dgm:pt modelId="{0ED05295-ADF1-4408-A074-C4B65218DD50}" type="pres">
      <dgm:prSet presAssocID="{6DFFBAA5-AAD2-4254-8683-9839E0ADC21F}" presName="node" presStyleLbl="node1" presStyleIdx="2" presStyleCnt="5">
        <dgm:presLayoutVars>
          <dgm:bulletEnabled val="1"/>
        </dgm:presLayoutVars>
      </dgm:prSet>
      <dgm:spPr/>
    </dgm:pt>
    <dgm:pt modelId="{5B5D8A27-9E28-4488-BBF9-7E42F6C431C9}" type="pres">
      <dgm:prSet presAssocID="{DD774848-607F-48E1-B270-A485EF901C7E}" presName="sibTrans" presStyleLbl="sibTrans2D1" presStyleIdx="2" presStyleCnt="4"/>
      <dgm:spPr/>
    </dgm:pt>
    <dgm:pt modelId="{D82E8B99-73A4-46A4-B46B-0564797864E1}" type="pres">
      <dgm:prSet presAssocID="{DD774848-607F-48E1-B270-A485EF901C7E}" presName="connectorText" presStyleLbl="sibTrans2D1" presStyleIdx="2" presStyleCnt="4"/>
      <dgm:spPr/>
    </dgm:pt>
    <dgm:pt modelId="{CB33D262-FF01-4D63-8902-2822E11980EE}" type="pres">
      <dgm:prSet presAssocID="{7E0E3B99-E9D1-427C-A816-6050229D0EA0}" presName="node" presStyleLbl="node1" presStyleIdx="3" presStyleCnt="5">
        <dgm:presLayoutVars>
          <dgm:bulletEnabled val="1"/>
        </dgm:presLayoutVars>
      </dgm:prSet>
      <dgm:spPr/>
    </dgm:pt>
    <dgm:pt modelId="{5816EB8E-D724-48B2-8162-46D4E269E8CB}" type="pres">
      <dgm:prSet presAssocID="{FA835CC5-71F0-47AE-8049-5A6214CFB37B}" presName="sibTrans" presStyleLbl="sibTrans2D1" presStyleIdx="3" presStyleCnt="4"/>
      <dgm:spPr/>
    </dgm:pt>
    <dgm:pt modelId="{60D466DC-0238-482D-92DF-85457B5EBF79}" type="pres">
      <dgm:prSet presAssocID="{FA835CC5-71F0-47AE-8049-5A6214CFB37B}" presName="connectorText" presStyleLbl="sibTrans2D1" presStyleIdx="3" presStyleCnt="4"/>
      <dgm:spPr/>
    </dgm:pt>
    <dgm:pt modelId="{865EA95D-CA23-484B-8A6F-15EDDE993924}" type="pres">
      <dgm:prSet presAssocID="{C8161811-5F39-417A-A2BF-B5C7747ECD78}" presName="node" presStyleLbl="node1" presStyleIdx="4" presStyleCnt="5" custLinFactNeighborY="-1367">
        <dgm:presLayoutVars>
          <dgm:bulletEnabled val="1"/>
        </dgm:presLayoutVars>
      </dgm:prSet>
      <dgm:spPr/>
    </dgm:pt>
  </dgm:ptLst>
  <dgm:cxnLst>
    <dgm:cxn modelId="{4CD45C16-B9A8-4A08-B347-51BCF5901E37}" type="presOf" srcId="{DD774848-607F-48E1-B270-A485EF901C7E}" destId="{5B5D8A27-9E28-4488-BBF9-7E42F6C431C9}" srcOrd="0" destOrd="0" presId="urn:microsoft.com/office/officeart/2005/8/layout/process1"/>
    <dgm:cxn modelId="{3E8FEA19-B02C-4DB4-A85B-F6AF1FA864E9}" srcId="{F45EDFF2-3C00-4723-A0FC-3BD7F98F0974}" destId="{C8161811-5F39-417A-A2BF-B5C7747ECD78}" srcOrd="4" destOrd="0" parTransId="{49A96E24-F364-4203-B7AA-AAA9CCEB0B8A}" sibTransId="{5C621ACF-0CD3-471C-8CC7-D2A4231B528A}"/>
    <dgm:cxn modelId="{81B3F719-0F70-4EF5-ACAD-DAC2F7AE3A85}" srcId="{F45EDFF2-3C00-4723-A0FC-3BD7F98F0974}" destId="{1E9C02E2-F7C9-4F12-A5A9-26E2AE70F9FA}" srcOrd="0" destOrd="0" parTransId="{36FCD30F-C82A-4D5C-89F6-A2AD67F60FF1}" sibTransId="{3986ADF9-5F9F-45A6-8664-2C131D21FD84}"/>
    <dgm:cxn modelId="{B496791B-E723-4DBF-886A-3EB9D9E680D4}" srcId="{F45EDFF2-3C00-4723-A0FC-3BD7F98F0974}" destId="{7E0E3B99-E9D1-427C-A816-6050229D0EA0}" srcOrd="3" destOrd="0" parTransId="{20D99049-75F9-4207-A0D7-39811F94D97F}" sibTransId="{FA835CC5-71F0-47AE-8049-5A6214CFB37B}"/>
    <dgm:cxn modelId="{D378B225-8234-406A-9622-45D066889EF2}" type="presOf" srcId="{FA835CC5-71F0-47AE-8049-5A6214CFB37B}" destId="{60D466DC-0238-482D-92DF-85457B5EBF79}" srcOrd="1" destOrd="0" presId="urn:microsoft.com/office/officeart/2005/8/layout/process1"/>
    <dgm:cxn modelId="{8B592940-8E04-42D3-A0CC-219E232597A3}" type="presOf" srcId="{7E0E3B99-E9D1-427C-A816-6050229D0EA0}" destId="{CB33D262-FF01-4D63-8902-2822E11980EE}" srcOrd="0" destOrd="0" presId="urn:microsoft.com/office/officeart/2005/8/layout/process1"/>
    <dgm:cxn modelId="{919CF341-9185-4D0C-92FE-0C96850DD3A4}" srcId="{F45EDFF2-3C00-4723-A0FC-3BD7F98F0974}" destId="{D4A837AE-F64B-4428-B2B9-D2E10B69CEBE}" srcOrd="1" destOrd="0" parTransId="{166377E1-B72F-443B-A70C-FA5417DABA45}" sibTransId="{2DF022D9-EB7F-44D2-A0B9-B9A0F6DDE96E}"/>
    <dgm:cxn modelId="{5B735043-E89A-4F61-A2F9-41CAFC3570CA}" type="presOf" srcId="{2DF022D9-EB7F-44D2-A0B9-B9A0F6DDE96E}" destId="{E58A0FC2-AACA-4C81-88DB-C5D1D5285E4C}" srcOrd="0" destOrd="0" presId="urn:microsoft.com/office/officeart/2005/8/layout/process1"/>
    <dgm:cxn modelId="{AA350745-0C75-4AC5-BEF1-A35DEF38E4F3}" type="presOf" srcId="{C8161811-5F39-417A-A2BF-B5C7747ECD78}" destId="{865EA95D-CA23-484B-8A6F-15EDDE993924}" srcOrd="0" destOrd="0" presId="urn:microsoft.com/office/officeart/2005/8/layout/process1"/>
    <dgm:cxn modelId="{155FE148-7A48-4937-96A6-9DD2883AFDBD}" type="presOf" srcId="{2DF022D9-EB7F-44D2-A0B9-B9A0F6DDE96E}" destId="{4169699A-BF13-4241-95B7-0B0DCA7D0620}" srcOrd="1" destOrd="0" presId="urn:microsoft.com/office/officeart/2005/8/layout/process1"/>
    <dgm:cxn modelId="{C166987D-9955-476C-AA64-D197AADA5E1D}" type="presOf" srcId="{FA835CC5-71F0-47AE-8049-5A6214CFB37B}" destId="{5816EB8E-D724-48B2-8162-46D4E269E8CB}" srcOrd="0" destOrd="0" presId="urn:microsoft.com/office/officeart/2005/8/layout/process1"/>
    <dgm:cxn modelId="{FC44637F-229A-4AFC-991F-46FC7CDC7A0F}" type="presOf" srcId="{3986ADF9-5F9F-45A6-8664-2C131D21FD84}" destId="{2B29B654-3F8C-462F-8408-868738B78FF8}" srcOrd="1" destOrd="0" presId="urn:microsoft.com/office/officeart/2005/8/layout/process1"/>
    <dgm:cxn modelId="{1BACB290-6556-4871-8515-6136ADBFC6B7}" type="presOf" srcId="{1E9C02E2-F7C9-4F12-A5A9-26E2AE70F9FA}" destId="{64A1CB3A-D715-408B-B029-AB41CDBB233A}" srcOrd="0" destOrd="0" presId="urn:microsoft.com/office/officeart/2005/8/layout/process1"/>
    <dgm:cxn modelId="{4B3E4E9A-C76E-4E8D-A617-720332F2A7B7}" type="presOf" srcId="{D4A837AE-F64B-4428-B2B9-D2E10B69CEBE}" destId="{49422487-A754-4A2E-92A7-7FC0B42F41EA}" srcOrd="0" destOrd="0" presId="urn:microsoft.com/office/officeart/2005/8/layout/process1"/>
    <dgm:cxn modelId="{E08450A1-6382-4879-B670-E153B618F6A6}" type="presOf" srcId="{F45EDFF2-3C00-4723-A0FC-3BD7F98F0974}" destId="{3A49BE03-F79C-4E52-AB1B-09116799661F}" srcOrd="0" destOrd="0" presId="urn:microsoft.com/office/officeart/2005/8/layout/process1"/>
    <dgm:cxn modelId="{7AD3F8B3-689A-4F9B-B681-F7046ED6F46C}" type="presOf" srcId="{6DFFBAA5-AAD2-4254-8683-9839E0ADC21F}" destId="{0ED05295-ADF1-4408-A074-C4B65218DD50}" srcOrd="0" destOrd="0" presId="urn:microsoft.com/office/officeart/2005/8/layout/process1"/>
    <dgm:cxn modelId="{5979A8D1-7B7C-43E1-9F03-95C5EAA5D234}" type="presOf" srcId="{DD774848-607F-48E1-B270-A485EF901C7E}" destId="{D82E8B99-73A4-46A4-B46B-0564797864E1}" srcOrd="1" destOrd="0" presId="urn:microsoft.com/office/officeart/2005/8/layout/process1"/>
    <dgm:cxn modelId="{4042C5D4-BFCC-4281-81FA-A729350B2AE1}" type="presOf" srcId="{3986ADF9-5F9F-45A6-8664-2C131D21FD84}" destId="{2C1F97D4-CD7A-49D6-BC22-630D13A4D532}" srcOrd="0" destOrd="0" presId="urn:microsoft.com/office/officeart/2005/8/layout/process1"/>
    <dgm:cxn modelId="{950FC0D7-DB73-476F-B3AF-664B1400CEC6}" srcId="{F45EDFF2-3C00-4723-A0FC-3BD7F98F0974}" destId="{6DFFBAA5-AAD2-4254-8683-9839E0ADC21F}" srcOrd="2" destOrd="0" parTransId="{73E1B0EA-6FE9-4D22-8AE2-2B749A097680}" sibTransId="{DD774848-607F-48E1-B270-A485EF901C7E}"/>
    <dgm:cxn modelId="{A67E8406-4584-4A6E-AE9A-26ED4A59CD85}" type="presParOf" srcId="{3A49BE03-F79C-4E52-AB1B-09116799661F}" destId="{64A1CB3A-D715-408B-B029-AB41CDBB233A}" srcOrd="0" destOrd="0" presId="urn:microsoft.com/office/officeart/2005/8/layout/process1"/>
    <dgm:cxn modelId="{8161DC34-1EE1-4345-8267-A3480D5CA914}" type="presParOf" srcId="{3A49BE03-F79C-4E52-AB1B-09116799661F}" destId="{2C1F97D4-CD7A-49D6-BC22-630D13A4D532}" srcOrd="1" destOrd="0" presId="urn:microsoft.com/office/officeart/2005/8/layout/process1"/>
    <dgm:cxn modelId="{26C40F68-8F7A-44A4-BF0D-3615530DC3CB}" type="presParOf" srcId="{2C1F97D4-CD7A-49D6-BC22-630D13A4D532}" destId="{2B29B654-3F8C-462F-8408-868738B78FF8}" srcOrd="0" destOrd="0" presId="urn:microsoft.com/office/officeart/2005/8/layout/process1"/>
    <dgm:cxn modelId="{7EC17677-A905-430E-B46C-5DCF00362B50}" type="presParOf" srcId="{3A49BE03-F79C-4E52-AB1B-09116799661F}" destId="{49422487-A754-4A2E-92A7-7FC0B42F41EA}" srcOrd="2" destOrd="0" presId="urn:microsoft.com/office/officeart/2005/8/layout/process1"/>
    <dgm:cxn modelId="{E0035A62-45C6-4B5D-91E0-856258C26602}" type="presParOf" srcId="{3A49BE03-F79C-4E52-AB1B-09116799661F}" destId="{E58A0FC2-AACA-4C81-88DB-C5D1D5285E4C}" srcOrd="3" destOrd="0" presId="urn:microsoft.com/office/officeart/2005/8/layout/process1"/>
    <dgm:cxn modelId="{A03CF803-3A9C-47FE-BD81-6D6117D23523}" type="presParOf" srcId="{E58A0FC2-AACA-4C81-88DB-C5D1D5285E4C}" destId="{4169699A-BF13-4241-95B7-0B0DCA7D0620}" srcOrd="0" destOrd="0" presId="urn:microsoft.com/office/officeart/2005/8/layout/process1"/>
    <dgm:cxn modelId="{0DCB57B1-5A1F-43DB-A19E-33E1F331F176}" type="presParOf" srcId="{3A49BE03-F79C-4E52-AB1B-09116799661F}" destId="{0ED05295-ADF1-4408-A074-C4B65218DD50}" srcOrd="4" destOrd="0" presId="urn:microsoft.com/office/officeart/2005/8/layout/process1"/>
    <dgm:cxn modelId="{17CB8F43-07E4-49AE-A75E-8F646B75873D}" type="presParOf" srcId="{3A49BE03-F79C-4E52-AB1B-09116799661F}" destId="{5B5D8A27-9E28-4488-BBF9-7E42F6C431C9}" srcOrd="5" destOrd="0" presId="urn:microsoft.com/office/officeart/2005/8/layout/process1"/>
    <dgm:cxn modelId="{ACCEB8A3-DA5A-4A19-A24F-8E27F5B1762E}" type="presParOf" srcId="{5B5D8A27-9E28-4488-BBF9-7E42F6C431C9}" destId="{D82E8B99-73A4-46A4-B46B-0564797864E1}" srcOrd="0" destOrd="0" presId="urn:microsoft.com/office/officeart/2005/8/layout/process1"/>
    <dgm:cxn modelId="{AA1C2CBE-A88B-44E6-B4B7-AB8101845C20}" type="presParOf" srcId="{3A49BE03-F79C-4E52-AB1B-09116799661F}" destId="{CB33D262-FF01-4D63-8902-2822E11980EE}" srcOrd="6" destOrd="0" presId="urn:microsoft.com/office/officeart/2005/8/layout/process1"/>
    <dgm:cxn modelId="{006693B6-DAA8-4AB9-BCF0-836ED9F560AA}" type="presParOf" srcId="{3A49BE03-F79C-4E52-AB1B-09116799661F}" destId="{5816EB8E-D724-48B2-8162-46D4E269E8CB}" srcOrd="7" destOrd="0" presId="urn:microsoft.com/office/officeart/2005/8/layout/process1"/>
    <dgm:cxn modelId="{0B0293E8-475F-4266-A754-1D0787537F00}" type="presParOf" srcId="{5816EB8E-D724-48B2-8162-46D4E269E8CB}" destId="{60D466DC-0238-482D-92DF-85457B5EBF79}" srcOrd="0" destOrd="0" presId="urn:microsoft.com/office/officeart/2005/8/layout/process1"/>
    <dgm:cxn modelId="{1BA74A84-8F67-4546-9FA9-6A7F77EAC8F3}" type="presParOf" srcId="{3A49BE03-F79C-4E52-AB1B-09116799661F}" destId="{865EA95D-CA23-484B-8A6F-15EDDE99392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0DFFC6-57ED-4A15-BF69-8C54ABE0245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77E0AE4-88DC-48C1-9236-2B4DE2EA5D4B}">
      <dgm:prSet phldrT="[Text]" custT="1"/>
      <dgm:spPr/>
      <dgm:t>
        <a:bodyPr/>
        <a:lstStyle/>
        <a:p>
          <a:r>
            <a:rPr lang="en-US" sz="1100" b="0" i="0" dirty="0">
              <a:solidFill>
                <a:schemeClr val="tx1"/>
              </a:solidFill>
              <a:latin typeface="Montserrat Medium" panose="020B0604020202020204" charset="0"/>
            </a:rPr>
            <a:t>Patient Evaluation</a:t>
          </a:r>
          <a:endParaRPr lang="en-US" sz="1100" b="0" dirty="0">
            <a:solidFill>
              <a:schemeClr val="tx1"/>
            </a:solidFill>
            <a:latin typeface="Montserrat Medium" panose="020B0604020202020204" charset="0"/>
          </a:endParaRPr>
        </a:p>
      </dgm:t>
    </dgm:pt>
    <dgm:pt modelId="{6AB01EFA-9E8C-416C-B17A-B75B9C62B805}" type="parTrans" cxnId="{CBCC9AD7-E63B-4169-BD22-193E52FD1C41}">
      <dgm:prSet/>
      <dgm:spPr/>
      <dgm:t>
        <a:bodyPr/>
        <a:lstStyle/>
        <a:p>
          <a:endParaRPr lang="en-US"/>
        </a:p>
      </dgm:t>
    </dgm:pt>
    <dgm:pt modelId="{CC2BD882-CF8C-47DF-B333-A066C68D392B}" type="sibTrans" cxnId="{CBCC9AD7-E63B-4169-BD22-193E52FD1C41}">
      <dgm:prSet/>
      <dgm:spPr/>
      <dgm:t>
        <a:bodyPr/>
        <a:lstStyle/>
        <a:p>
          <a:endParaRPr lang="en-US"/>
        </a:p>
      </dgm:t>
    </dgm:pt>
    <dgm:pt modelId="{892D915E-571B-4D90-BB01-A4A301368DA4}">
      <dgm:prSet phldrT="[Text]" custT="1"/>
      <dgm:spPr/>
      <dgm:t>
        <a:bodyPr/>
        <a:lstStyle/>
        <a:p>
          <a:r>
            <a:rPr lang="en-US" sz="1200" b="0" i="0" dirty="0">
              <a:solidFill>
                <a:schemeClr val="tx1"/>
              </a:solidFill>
              <a:latin typeface="Montserrat Medium" panose="020B0604020202020204" charset="0"/>
            </a:rPr>
            <a:t>Cell Harvesting</a:t>
          </a:r>
          <a:endParaRPr lang="en-US" sz="1200" b="0" dirty="0">
            <a:solidFill>
              <a:schemeClr val="tx1"/>
            </a:solidFill>
            <a:latin typeface="Montserrat Medium" panose="020B0604020202020204" charset="0"/>
          </a:endParaRPr>
        </a:p>
      </dgm:t>
    </dgm:pt>
    <dgm:pt modelId="{06D19425-49C0-43FA-B878-1AF04EC35B33}" type="parTrans" cxnId="{33E83860-6816-4B55-A4B4-2991478533C7}">
      <dgm:prSet/>
      <dgm:spPr/>
      <dgm:t>
        <a:bodyPr/>
        <a:lstStyle/>
        <a:p>
          <a:endParaRPr lang="en-US"/>
        </a:p>
      </dgm:t>
    </dgm:pt>
    <dgm:pt modelId="{8DD32E1D-D8B0-4CB6-9A97-E0022196321F}" type="sibTrans" cxnId="{33E83860-6816-4B55-A4B4-2991478533C7}">
      <dgm:prSet/>
      <dgm:spPr/>
      <dgm:t>
        <a:bodyPr/>
        <a:lstStyle/>
        <a:p>
          <a:endParaRPr lang="en-US"/>
        </a:p>
      </dgm:t>
    </dgm:pt>
    <dgm:pt modelId="{4E653CA9-A477-4285-97AA-CB9E0CC5334A}">
      <dgm:prSet phldrT="[Text]" custT="1"/>
      <dgm:spPr/>
      <dgm:t>
        <a:bodyPr/>
        <a:lstStyle/>
        <a:p>
          <a:r>
            <a:rPr lang="en-US" sz="1200" b="0" i="0" dirty="0">
              <a:solidFill>
                <a:schemeClr val="tx1"/>
              </a:solidFill>
              <a:latin typeface="Montserrat Medium" panose="020B0604020202020204" charset="0"/>
            </a:rPr>
            <a:t>Cell Processing</a:t>
          </a:r>
        </a:p>
      </dgm:t>
    </dgm:pt>
    <dgm:pt modelId="{0FD68FC2-8959-4DDB-AC43-AD79523ECC67}" type="parTrans" cxnId="{8B3BB38F-C2BB-46D4-8967-DEB460204A2B}">
      <dgm:prSet/>
      <dgm:spPr/>
      <dgm:t>
        <a:bodyPr/>
        <a:lstStyle/>
        <a:p>
          <a:endParaRPr lang="en-US"/>
        </a:p>
      </dgm:t>
    </dgm:pt>
    <dgm:pt modelId="{F4460F86-70A1-4E85-ACBA-ABC255D4D315}" type="sibTrans" cxnId="{8B3BB38F-C2BB-46D4-8967-DEB460204A2B}">
      <dgm:prSet/>
      <dgm:spPr/>
      <dgm:t>
        <a:bodyPr/>
        <a:lstStyle/>
        <a:p>
          <a:endParaRPr lang="en-US"/>
        </a:p>
      </dgm:t>
    </dgm:pt>
    <dgm:pt modelId="{F2626A1E-313B-47B8-8AF4-11040FF839C6}">
      <dgm:prSet phldrT="[Text]" custT="1"/>
      <dgm:spPr/>
      <dgm:t>
        <a:bodyPr/>
        <a:lstStyle/>
        <a:p>
          <a:r>
            <a:rPr lang="en-US" sz="1200" b="0" i="0" dirty="0">
              <a:solidFill>
                <a:schemeClr val="tx1"/>
              </a:solidFill>
              <a:latin typeface="Montserrat Medium" panose="020B0604020202020204" charset="0"/>
            </a:rPr>
            <a:t>Reintroduction</a:t>
          </a:r>
          <a:endParaRPr lang="en-US" sz="1200" b="0" dirty="0">
            <a:solidFill>
              <a:schemeClr val="tx1"/>
            </a:solidFill>
            <a:latin typeface="Montserrat Medium" panose="020B0604020202020204" charset="0"/>
          </a:endParaRPr>
        </a:p>
      </dgm:t>
    </dgm:pt>
    <dgm:pt modelId="{C7B410F1-F78B-4A0F-B71A-7622D9C64826}" type="parTrans" cxnId="{E882366E-54FC-46F7-AE31-C38CD2231B1F}">
      <dgm:prSet/>
      <dgm:spPr/>
      <dgm:t>
        <a:bodyPr/>
        <a:lstStyle/>
        <a:p>
          <a:endParaRPr lang="en-US"/>
        </a:p>
      </dgm:t>
    </dgm:pt>
    <dgm:pt modelId="{3F522C6E-453E-4475-9384-5C71E50EE483}" type="sibTrans" cxnId="{E882366E-54FC-46F7-AE31-C38CD2231B1F}">
      <dgm:prSet/>
      <dgm:spPr/>
      <dgm:t>
        <a:bodyPr/>
        <a:lstStyle/>
        <a:p>
          <a:endParaRPr lang="en-US"/>
        </a:p>
      </dgm:t>
    </dgm:pt>
    <dgm:pt modelId="{9EA4F778-A56B-4C48-8600-495BB55951F1}">
      <dgm:prSet phldrT="[Text]" custT="1"/>
      <dgm:spPr/>
      <dgm:t>
        <a:bodyPr/>
        <a:lstStyle/>
        <a:p>
          <a:r>
            <a:rPr lang="en-US" sz="1200" b="0" i="0" dirty="0">
              <a:solidFill>
                <a:schemeClr val="tx1"/>
              </a:solidFill>
              <a:latin typeface="Montserrat Medium" panose="020B0604020202020204" charset="0"/>
            </a:rPr>
            <a:t>Post-Treatment Care</a:t>
          </a:r>
          <a:endParaRPr lang="en-US" sz="1200" b="0" dirty="0">
            <a:solidFill>
              <a:schemeClr val="tx1"/>
            </a:solidFill>
            <a:latin typeface="Montserrat Medium" panose="020B0604020202020204" charset="0"/>
          </a:endParaRPr>
        </a:p>
      </dgm:t>
    </dgm:pt>
    <dgm:pt modelId="{B07CF5C6-6AE2-40BC-B60C-4F5EE83CC19A}" type="parTrans" cxnId="{31C6F2D7-D7AB-4BFA-B2A2-017F58B97ACC}">
      <dgm:prSet/>
      <dgm:spPr/>
      <dgm:t>
        <a:bodyPr/>
        <a:lstStyle/>
        <a:p>
          <a:endParaRPr lang="en-US"/>
        </a:p>
      </dgm:t>
    </dgm:pt>
    <dgm:pt modelId="{0DA4DCA1-A56D-4150-9871-34D9BD8F3B6D}" type="sibTrans" cxnId="{31C6F2D7-D7AB-4BFA-B2A2-017F58B97ACC}">
      <dgm:prSet/>
      <dgm:spPr/>
      <dgm:t>
        <a:bodyPr/>
        <a:lstStyle/>
        <a:p>
          <a:endParaRPr lang="en-US"/>
        </a:p>
      </dgm:t>
    </dgm:pt>
    <dgm:pt modelId="{FD64A61D-7695-4739-B806-802116B100F6}" type="pres">
      <dgm:prSet presAssocID="{9E0DFFC6-57ED-4A15-BF69-8C54ABE02451}" presName="Name0" presStyleCnt="0">
        <dgm:presLayoutVars>
          <dgm:dir/>
          <dgm:resizeHandles val="exact"/>
        </dgm:presLayoutVars>
      </dgm:prSet>
      <dgm:spPr/>
    </dgm:pt>
    <dgm:pt modelId="{5067C84B-2A7F-4E88-B4D3-965D91271913}" type="pres">
      <dgm:prSet presAssocID="{C77E0AE4-88DC-48C1-9236-2B4DE2EA5D4B}" presName="node" presStyleLbl="node1" presStyleIdx="0" presStyleCnt="5" custScaleX="525375" custLinFactX="44315" custLinFactY="-145569" custLinFactNeighborX="100000" custLinFactNeighborY="-200000">
        <dgm:presLayoutVars>
          <dgm:bulletEnabled val="1"/>
        </dgm:presLayoutVars>
      </dgm:prSet>
      <dgm:spPr/>
    </dgm:pt>
    <dgm:pt modelId="{69D1F44B-3DF7-479B-A7C8-0AE7513A2873}" type="pres">
      <dgm:prSet presAssocID="{CC2BD882-CF8C-47DF-B333-A066C68D392B}" presName="sibTrans" presStyleLbl="sibTrans2D1" presStyleIdx="0" presStyleCnt="4" custAng="584239" custScaleX="141250" custScaleY="380759" custLinFactNeighborX="-8014" custLinFactNeighborY="-13565"/>
      <dgm:spPr/>
    </dgm:pt>
    <dgm:pt modelId="{902FE65B-D828-4CC5-886C-1FE16CD54EEB}" type="pres">
      <dgm:prSet presAssocID="{CC2BD882-CF8C-47DF-B333-A066C68D392B}" presName="connectorText" presStyleLbl="sibTrans2D1" presStyleIdx="0" presStyleCnt="4"/>
      <dgm:spPr/>
    </dgm:pt>
    <dgm:pt modelId="{0B0F454A-CC74-4978-8C60-52E2D8446512}" type="pres">
      <dgm:prSet presAssocID="{892D915E-571B-4D90-BB01-A4A301368DA4}" presName="node" presStyleLbl="node1" presStyleIdx="1" presStyleCnt="5" custScaleX="554105" custLinFactX="156657" custLinFactY="-100000" custLinFactNeighborX="200000" custLinFactNeighborY="-100520">
        <dgm:presLayoutVars>
          <dgm:bulletEnabled val="1"/>
        </dgm:presLayoutVars>
      </dgm:prSet>
      <dgm:spPr/>
    </dgm:pt>
    <dgm:pt modelId="{F2979420-8FC7-4E8D-8842-203D16AF4A49}" type="pres">
      <dgm:prSet presAssocID="{8DD32E1D-D8B0-4CB6-9A97-E0022196321F}" presName="sibTrans" presStyleLbl="sibTrans2D1" presStyleIdx="1" presStyleCnt="4" custAng="657461" custScaleX="130333" custScaleY="338610" custLinFactNeighborX="-2200" custLinFactNeighborY="-44895"/>
      <dgm:spPr/>
    </dgm:pt>
    <dgm:pt modelId="{73627BA3-EF5D-4914-BF03-89A5559B72C2}" type="pres">
      <dgm:prSet presAssocID="{8DD32E1D-D8B0-4CB6-9A97-E0022196321F}" presName="connectorText" presStyleLbl="sibTrans2D1" presStyleIdx="1" presStyleCnt="4"/>
      <dgm:spPr/>
    </dgm:pt>
    <dgm:pt modelId="{3323E305-00CB-4743-947B-994C4E4E4616}" type="pres">
      <dgm:prSet presAssocID="{4E653CA9-A477-4285-97AA-CB9E0CC5334A}" presName="node" presStyleLbl="node1" presStyleIdx="2" presStyleCnt="5" custScaleX="640243" custLinFactX="200000" custLinFactNeighborX="285513" custLinFactNeighborY="-42344">
        <dgm:presLayoutVars>
          <dgm:bulletEnabled val="1"/>
        </dgm:presLayoutVars>
      </dgm:prSet>
      <dgm:spPr/>
    </dgm:pt>
    <dgm:pt modelId="{553ECB49-7787-4835-828F-C6BE67B20D92}" type="pres">
      <dgm:prSet presAssocID="{F4460F86-70A1-4E85-ACBA-ABC255D4D315}" presName="sibTrans" presStyleLbl="sibTrans2D1" presStyleIdx="2" presStyleCnt="4" custAng="665006" custScaleY="390442"/>
      <dgm:spPr/>
    </dgm:pt>
    <dgm:pt modelId="{EDCEB0EC-156E-4C5B-A112-68641BDE8BBD}" type="pres">
      <dgm:prSet presAssocID="{F4460F86-70A1-4E85-ACBA-ABC255D4D315}" presName="connectorText" presStyleLbl="sibTrans2D1" presStyleIdx="2" presStyleCnt="4"/>
      <dgm:spPr/>
    </dgm:pt>
    <dgm:pt modelId="{6536FABD-A8FA-4C4B-903C-E69274E05FBE}" type="pres">
      <dgm:prSet presAssocID="{F2626A1E-313B-47B8-8AF4-11040FF839C6}" presName="node" presStyleLbl="node1" presStyleIdx="3" presStyleCnt="5" custScaleX="754383" custLinFactX="143769" custLinFactY="32665" custLinFactNeighborX="200000" custLinFactNeighborY="100000">
        <dgm:presLayoutVars>
          <dgm:bulletEnabled val="1"/>
        </dgm:presLayoutVars>
      </dgm:prSet>
      <dgm:spPr/>
    </dgm:pt>
    <dgm:pt modelId="{AF28F48D-0E0D-4530-AE01-C3312E2AD6C1}" type="pres">
      <dgm:prSet presAssocID="{3F522C6E-453E-4475-9384-5C71E50EE483}" presName="sibTrans" presStyleLbl="sibTrans2D1" presStyleIdx="3" presStyleCnt="4" custAng="20967626" custScaleY="442255" custLinFactNeighborX="51455" custLinFactNeighborY="53444"/>
      <dgm:spPr/>
    </dgm:pt>
    <dgm:pt modelId="{85DA8585-6CA2-48A9-B8AF-6052028AC56E}" type="pres">
      <dgm:prSet presAssocID="{3F522C6E-453E-4475-9384-5C71E50EE483}" presName="connectorText" presStyleLbl="sibTrans2D1" presStyleIdx="3" presStyleCnt="4"/>
      <dgm:spPr/>
    </dgm:pt>
    <dgm:pt modelId="{B5ED8D38-04E0-42EB-9059-E647F5E30B40}" type="pres">
      <dgm:prSet presAssocID="{9EA4F778-A56B-4C48-8600-495BB55951F1}" presName="node" presStyleLbl="node1" presStyleIdx="4" presStyleCnt="5" custScaleX="891867" custLinFactX="-1077758" custLinFactY="116693" custLinFactNeighborX="-1100000" custLinFactNeighborY="200000">
        <dgm:presLayoutVars>
          <dgm:bulletEnabled val="1"/>
        </dgm:presLayoutVars>
      </dgm:prSet>
      <dgm:spPr/>
    </dgm:pt>
  </dgm:ptLst>
  <dgm:cxnLst>
    <dgm:cxn modelId="{F2A1C402-F497-43AA-9338-0CD349424CC7}" type="presOf" srcId="{CC2BD882-CF8C-47DF-B333-A066C68D392B}" destId="{902FE65B-D828-4CC5-886C-1FE16CD54EEB}" srcOrd="1" destOrd="0" presId="urn:microsoft.com/office/officeart/2005/8/layout/process1"/>
    <dgm:cxn modelId="{D41FF104-2FCA-47A1-A3D7-8ABC3FF6DBB6}" type="presOf" srcId="{892D915E-571B-4D90-BB01-A4A301368DA4}" destId="{0B0F454A-CC74-4978-8C60-52E2D8446512}" srcOrd="0" destOrd="0" presId="urn:microsoft.com/office/officeart/2005/8/layout/process1"/>
    <dgm:cxn modelId="{1FB2331F-5C60-40E5-81C4-D12BDE82F333}" type="presOf" srcId="{CC2BD882-CF8C-47DF-B333-A066C68D392B}" destId="{69D1F44B-3DF7-479B-A7C8-0AE7513A2873}" srcOrd="0" destOrd="0" presId="urn:microsoft.com/office/officeart/2005/8/layout/process1"/>
    <dgm:cxn modelId="{33E83860-6816-4B55-A4B4-2991478533C7}" srcId="{9E0DFFC6-57ED-4A15-BF69-8C54ABE02451}" destId="{892D915E-571B-4D90-BB01-A4A301368DA4}" srcOrd="1" destOrd="0" parTransId="{06D19425-49C0-43FA-B878-1AF04EC35B33}" sibTransId="{8DD32E1D-D8B0-4CB6-9A97-E0022196321F}"/>
    <dgm:cxn modelId="{E882366E-54FC-46F7-AE31-C38CD2231B1F}" srcId="{9E0DFFC6-57ED-4A15-BF69-8C54ABE02451}" destId="{F2626A1E-313B-47B8-8AF4-11040FF839C6}" srcOrd="3" destOrd="0" parTransId="{C7B410F1-F78B-4A0F-B71A-7622D9C64826}" sibTransId="{3F522C6E-453E-4475-9384-5C71E50EE483}"/>
    <dgm:cxn modelId="{E1B66F73-7920-4266-80CD-EAC0305D4DF8}" type="presOf" srcId="{9E0DFFC6-57ED-4A15-BF69-8C54ABE02451}" destId="{FD64A61D-7695-4739-B806-802116B100F6}" srcOrd="0" destOrd="0" presId="urn:microsoft.com/office/officeart/2005/8/layout/process1"/>
    <dgm:cxn modelId="{A03AB57C-0CB4-4A70-8EDD-2A0FE1174F3D}" type="presOf" srcId="{8DD32E1D-D8B0-4CB6-9A97-E0022196321F}" destId="{F2979420-8FC7-4E8D-8842-203D16AF4A49}" srcOrd="0" destOrd="0" presId="urn:microsoft.com/office/officeart/2005/8/layout/process1"/>
    <dgm:cxn modelId="{8B3BB38F-C2BB-46D4-8967-DEB460204A2B}" srcId="{9E0DFFC6-57ED-4A15-BF69-8C54ABE02451}" destId="{4E653CA9-A477-4285-97AA-CB9E0CC5334A}" srcOrd="2" destOrd="0" parTransId="{0FD68FC2-8959-4DDB-AC43-AD79523ECC67}" sibTransId="{F4460F86-70A1-4E85-ACBA-ABC255D4D315}"/>
    <dgm:cxn modelId="{2CA34890-D599-4CB2-B327-87D5223A510F}" type="presOf" srcId="{3F522C6E-453E-4475-9384-5C71E50EE483}" destId="{AF28F48D-0E0D-4530-AE01-C3312E2AD6C1}" srcOrd="0" destOrd="0" presId="urn:microsoft.com/office/officeart/2005/8/layout/process1"/>
    <dgm:cxn modelId="{941EA19C-FE97-4AB8-AF5E-11A521D97612}" type="presOf" srcId="{3F522C6E-453E-4475-9384-5C71E50EE483}" destId="{85DA8585-6CA2-48A9-B8AF-6052028AC56E}" srcOrd="1" destOrd="0" presId="urn:microsoft.com/office/officeart/2005/8/layout/process1"/>
    <dgm:cxn modelId="{18061BAE-2240-464E-9AB4-8D981ED1CC1E}" type="presOf" srcId="{F4460F86-70A1-4E85-ACBA-ABC255D4D315}" destId="{553ECB49-7787-4835-828F-C6BE67B20D92}" srcOrd="0" destOrd="0" presId="urn:microsoft.com/office/officeart/2005/8/layout/process1"/>
    <dgm:cxn modelId="{B7212EC9-1CEB-404D-A869-4B1EC9767DF8}" type="presOf" srcId="{9EA4F778-A56B-4C48-8600-495BB55951F1}" destId="{B5ED8D38-04E0-42EB-9059-E647F5E30B40}" srcOrd="0" destOrd="0" presId="urn:microsoft.com/office/officeart/2005/8/layout/process1"/>
    <dgm:cxn modelId="{2B26C7CE-FA26-489B-90AD-A5CAA1532E24}" type="presOf" srcId="{4E653CA9-A477-4285-97AA-CB9E0CC5334A}" destId="{3323E305-00CB-4743-947B-994C4E4E4616}" srcOrd="0" destOrd="0" presId="urn:microsoft.com/office/officeart/2005/8/layout/process1"/>
    <dgm:cxn modelId="{720901D2-CF7B-4929-B78C-C3EFBFC34884}" type="presOf" srcId="{F4460F86-70A1-4E85-ACBA-ABC255D4D315}" destId="{EDCEB0EC-156E-4C5B-A112-68641BDE8BBD}" srcOrd="1" destOrd="0" presId="urn:microsoft.com/office/officeart/2005/8/layout/process1"/>
    <dgm:cxn modelId="{EE0295D2-C240-4AE7-8D49-960B8AF7809E}" type="presOf" srcId="{C77E0AE4-88DC-48C1-9236-2B4DE2EA5D4B}" destId="{5067C84B-2A7F-4E88-B4D3-965D91271913}" srcOrd="0" destOrd="0" presId="urn:microsoft.com/office/officeart/2005/8/layout/process1"/>
    <dgm:cxn modelId="{CBCC9AD7-E63B-4169-BD22-193E52FD1C41}" srcId="{9E0DFFC6-57ED-4A15-BF69-8C54ABE02451}" destId="{C77E0AE4-88DC-48C1-9236-2B4DE2EA5D4B}" srcOrd="0" destOrd="0" parTransId="{6AB01EFA-9E8C-416C-B17A-B75B9C62B805}" sibTransId="{CC2BD882-CF8C-47DF-B333-A066C68D392B}"/>
    <dgm:cxn modelId="{31C6F2D7-D7AB-4BFA-B2A2-017F58B97ACC}" srcId="{9E0DFFC6-57ED-4A15-BF69-8C54ABE02451}" destId="{9EA4F778-A56B-4C48-8600-495BB55951F1}" srcOrd="4" destOrd="0" parTransId="{B07CF5C6-6AE2-40BC-B60C-4F5EE83CC19A}" sibTransId="{0DA4DCA1-A56D-4150-9871-34D9BD8F3B6D}"/>
    <dgm:cxn modelId="{671440E8-8807-4BC2-976A-4E2C529B8E9E}" type="presOf" srcId="{F2626A1E-313B-47B8-8AF4-11040FF839C6}" destId="{6536FABD-A8FA-4C4B-903C-E69274E05FBE}" srcOrd="0" destOrd="0" presId="urn:microsoft.com/office/officeart/2005/8/layout/process1"/>
    <dgm:cxn modelId="{1AD78FFE-00DC-4B7A-AB34-7136F06097B2}" type="presOf" srcId="{8DD32E1D-D8B0-4CB6-9A97-E0022196321F}" destId="{73627BA3-EF5D-4914-BF03-89A5559B72C2}" srcOrd="1" destOrd="0" presId="urn:microsoft.com/office/officeart/2005/8/layout/process1"/>
    <dgm:cxn modelId="{F4B5E601-BADB-415A-98BC-13DECB918B33}" type="presParOf" srcId="{FD64A61D-7695-4739-B806-802116B100F6}" destId="{5067C84B-2A7F-4E88-B4D3-965D91271913}" srcOrd="0" destOrd="0" presId="urn:microsoft.com/office/officeart/2005/8/layout/process1"/>
    <dgm:cxn modelId="{06A65D36-FB38-45CE-9257-616BDFBFAC1B}" type="presParOf" srcId="{FD64A61D-7695-4739-B806-802116B100F6}" destId="{69D1F44B-3DF7-479B-A7C8-0AE7513A2873}" srcOrd="1" destOrd="0" presId="urn:microsoft.com/office/officeart/2005/8/layout/process1"/>
    <dgm:cxn modelId="{F7037A18-A3FB-44FF-912C-818B21A140B5}" type="presParOf" srcId="{69D1F44B-3DF7-479B-A7C8-0AE7513A2873}" destId="{902FE65B-D828-4CC5-886C-1FE16CD54EEB}" srcOrd="0" destOrd="0" presId="urn:microsoft.com/office/officeart/2005/8/layout/process1"/>
    <dgm:cxn modelId="{B889822F-16E7-4082-A1F4-2FB160ED1FB3}" type="presParOf" srcId="{FD64A61D-7695-4739-B806-802116B100F6}" destId="{0B0F454A-CC74-4978-8C60-52E2D8446512}" srcOrd="2" destOrd="0" presId="urn:microsoft.com/office/officeart/2005/8/layout/process1"/>
    <dgm:cxn modelId="{6DA237F3-37B9-4D05-9821-5C711361F7AA}" type="presParOf" srcId="{FD64A61D-7695-4739-B806-802116B100F6}" destId="{F2979420-8FC7-4E8D-8842-203D16AF4A49}" srcOrd="3" destOrd="0" presId="urn:microsoft.com/office/officeart/2005/8/layout/process1"/>
    <dgm:cxn modelId="{F3A6C598-31D4-4C92-B22F-E9783ABD9389}" type="presParOf" srcId="{F2979420-8FC7-4E8D-8842-203D16AF4A49}" destId="{73627BA3-EF5D-4914-BF03-89A5559B72C2}" srcOrd="0" destOrd="0" presId="urn:microsoft.com/office/officeart/2005/8/layout/process1"/>
    <dgm:cxn modelId="{E500AAD3-9867-4F32-98D3-92118EEBCB8C}" type="presParOf" srcId="{FD64A61D-7695-4739-B806-802116B100F6}" destId="{3323E305-00CB-4743-947B-994C4E4E4616}" srcOrd="4" destOrd="0" presId="urn:microsoft.com/office/officeart/2005/8/layout/process1"/>
    <dgm:cxn modelId="{5D0B7E92-7B7C-43A0-A60D-D942C2B89DE6}" type="presParOf" srcId="{FD64A61D-7695-4739-B806-802116B100F6}" destId="{553ECB49-7787-4835-828F-C6BE67B20D92}" srcOrd="5" destOrd="0" presId="urn:microsoft.com/office/officeart/2005/8/layout/process1"/>
    <dgm:cxn modelId="{50E8034C-5845-45CA-BF19-B550C6AA3DC9}" type="presParOf" srcId="{553ECB49-7787-4835-828F-C6BE67B20D92}" destId="{EDCEB0EC-156E-4C5B-A112-68641BDE8BBD}" srcOrd="0" destOrd="0" presId="urn:microsoft.com/office/officeart/2005/8/layout/process1"/>
    <dgm:cxn modelId="{B6211F68-E331-43BD-BCF2-A5408E6DEFED}" type="presParOf" srcId="{FD64A61D-7695-4739-B806-802116B100F6}" destId="{6536FABD-A8FA-4C4B-903C-E69274E05FBE}" srcOrd="6" destOrd="0" presId="urn:microsoft.com/office/officeart/2005/8/layout/process1"/>
    <dgm:cxn modelId="{0DF4F4AC-3742-4CF3-84C5-AD6D727F5FAA}" type="presParOf" srcId="{FD64A61D-7695-4739-B806-802116B100F6}" destId="{AF28F48D-0E0D-4530-AE01-C3312E2AD6C1}" srcOrd="7" destOrd="0" presId="urn:microsoft.com/office/officeart/2005/8/layout/process1"/>
    <dgm:cxn modelId="{7D3EC852-0A99-426B-897D-D14297975A29}" type="presParOf" srcId="{AF28F48D-0E0D-4530-AE01-C3312E2AD6C1}" destId="{85DA8585-6CA2-48A9-B8AF-6052028AC56E}" srcOrd="0" destOrd="0" presId="urn:microsoft.com/office/officeart/2005/8/layout/process1"/>
    <dgm:cxn modelId="{BA5B3848-AF18-43DA-A5EE-2FABC72ED78B}" type="presParOf" srcId="{FD64A61D-7695-4739-B806-802116B100F6}" destId="{B5ED8D38-04E0-42EB-9059-E647F5E30B4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1CB3A-D715-408B-B029-AB41CDBB233A}">
      <dsp:nvSpPr>
        <dsp:cNvPr id="0" name=""/>
        <dsp:cNvSpPr/>
      </dsp:nvSpPr>
      <dsp:spPr>
        <a:xfrm>
          <a:off x="2976" y="493901"/>
          <a:ext cx="922734" cy="7872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Collection of Patient's Own Blood Cells</a:t>
          </a:r>
        </a:p>
      </dsp:txBody>
      <dsp:txXfrm>
        <a:off x="26033" y="516958"/>
        <a:ext cx="876620" cy="741093"/>
      </dsp:txXfrm>
    </dsp:sp>
    <dsp:sp modelId="{2C1F97D4-CD7A-49D6-BC22-630D13A4D532}">
      <dsp:nvSpPr>
        <dsp:cNvPr id="0" name=""/>
        <dsp:cNvSpPr/>
      </dsp:nvSpPr>
      <dsp:spPr>
        <a:xfrm>
          <a:off x="1017984" y="773086"/>
          <a:ext cx="195619" cy="2288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17984" y="818854"/>
        <a:ext cx="136933" cy="137302"/>
      </dsp:txXfrm>
    </dsp:sp>
    <dsp:sp modelId="{49422487-A754-4A2E-92A7-7FC0B42F41EA}">
      <dsp:nvSpPr>
        <dsp:cNvPr id="0" name=""/>
        <dsp:cNvSpPr/>
      </dsp:nvSpPr>
      <dsp:spPr>
        <a:xfrm>
          <a:off x="1294804" y="493901"/>
          <a:ext cx="922734" cy="7872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Activation of T Cells Outside the Body</a:t>
          </a:r>
        </a:p>
      </dsp:txBody>
      <dsp:txXfrm>
        <a:off x="1317861" y="516958"/>
        <a:ext cx="876620" cy="741093"/>
      </dsp:txXfrm>
    </dsp:sp>
    <dsp:sp modelId="{E58A0FC2-AACA-4C81-88DB-C5D1D5285E4C}">
      <dsp:nvSpPr>
        <dsp:cNvPr id="0" name=""/>
        <dsp:cNvSpPr/>
      </dsp:nvSpPr>
      <dsp:spPr>
        <a:xfrm>
          <a:off x="2309812" y="773086"/>
          <a:ext cx="195619" cy="2288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309812" y="818854"/>
        <a:ext cx="136933" cy="137302"/>
      </dsp:txXfrm>
    </dsp:sp>
    <dsp:sp modelId="{0ED05295-ADF1-4408-A074-C4B65218DD50}">
      <dsp:nvSpPr>
        <dsp:cNvPr id="0" name=""/>
        <dsp:cNvSpPr/>
      </dsp:nvSpPr>
      <dsp:spPr>
        <a:xfrm>
          <a:off x="2586632" y="493901"/>
          <a:ext cx="922734" cy="7872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Introducing CAR Genes</a:t>
          </a:r>
        </a:p>
      </dsp:txBody>
      <dsp:txXfrm>
        <a:off x="2609689" y="516958"/>
        <a:ext cx="876620" cy="741093"/>
      </dsp:txXfrm>
    </dsp:sp>
    <dsp:sp modelId="{5B5D8A27-9E28-4488-BBF9-7E42F6C431C9}">
      <dsp:nvSpPr>
        <dsp:cNvPr id="0" name=""/>
        <dsp:cNvSpPr/>
      </dsp:nvSpPr>
      <dsp:spPr>
        <a:xfrm>
          <a:off x="3601640" y="773086"/>
          <a:ext cx="195619" cy="2288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601640" y="818854"/>
        <a:ext cx="136933" cy="137302"/>
      </dsp:txXfrm>
    </dsp:sp>
    <dsp:sp modelId="{CB33D262-FF01-4D63-8902-2822E11980EE}">
      <dsp:nvSpPr>
        <dsp:cNvPr id="0" name=""/>
        <dsp:cNvSpPr/>
      </dsp:nvSpPr>
      <dsp:spPr>
        <a:xfrm>
          <a:off x="3878460" y="493901"/>
          <a:ext cx="922734" cy="7872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Expanding CAR T Cells</a:t>
          </a:r>
        </a:p>
      </dsp:txBody>
      <dsp:txXfrm>
        <a:off x="3901517" y="516958"/>
        <a:ext cx="876620" cy="741093"/>
      </dsp:txXfrm>
    </dsp:sp>
    <dsp:sp modelId="{5816EB8E-D724-48B2-8162-46D4E269E8CB}">
      <dsp:nvSpPr>
        <dsp:cNvPr id="0" name=""/>
        <dsp:cNvSpPr/>
      </dsp:nvSpPr>
      <dsp:spPr>
        <a:xfrm rot="21571364">
          <a:off x="4893465" y="767659"/>
          <a:ext cx="195626" cy="2288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893466" y="813671"/>
        <a:ext cx="136938" cy="137302"/>
      </dsp:txXfrm>
    </dsp:sp>
    <dsp:sp modelId="{865EA95D-CA23-484B-8A6F-15EDDE993924}">
      <dsp:nvSpPr>
        <dsp:cNvPr id="0" name=""/>
        <dsp:cNvSpPr/>
      </dsp:nvSpPr>
      <dsp:spPr>
        <a:xfrm>
          <a:off x="5170289" y="483140"/>
          <a:ext cx="922734" cy="7872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Infusion of CAR T Cells</a:t>
          </a:r>
        </a:p>
      </dsp:txBody>
      <dsp:txXfrm>
        <a:off x="5193346" y="506197"/>
        <a:ext cx="876620" cy="7410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7C84B-2A7F-4E88-B4D3-965D91271913}">
      <dsp:nvSpPr>
        <dsp:cNvPr id="0" name=""/>
        <dsp:cNvSpPr/>
      </dsp:nvSpPr>
      <dsp:spPr>
        <a:xfrm>
          <a:off x="135857" y="175126"/>
          <a:ext cx="951837" cy="526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tx1"/>
              </a:solidFill>
              <a:latin typeface="Montserrat Medium" panose="020B0604020202020204" charset="0"/>
            </a:rPr>
            <a:t>Patient Evaluation</a:t>
          </a:r>
          <a:endParaRPr lang="en-US" sz="1100" b="0" kern="1200" dirty="0">
            <a:solidFill>
              <a:schemeClr val="tx1"/>
            </a:solidFill>
            <a:latin typeface="Montserrat Medium" panose="020B0604020202020204" charset="0"/>
          </a:endParaRPr>
        </a:p>
      </dsp:txBody>
      <dsp:txXfrm>
        <a:off x="151285" y="190554"/>
        <a:ext cx="920981" cy="495908"/>
      </dsp:txXfrm>
    </dsp:sp>
    <dsp:sp modelId="{69D1F44B-3DF7-479B-A7C8-0AE7513A2873}">
      <dsp:nvSpPr>
        <dsp:cNvPr id="0" name=""/>
        <dsp:cNvSpPr/>
      </dsp:nvSpPr>
      <dsp:spPr>
        <a:xfrm rot="2395139">
          <a:off x="1078049" y="732467"/>
          <a:ext cx="353362" cy="171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084029" y="750216"/>
        <a:ext cx="302039" cy="102646"/>
      </dsp:txXfrm>
    </dsp:sp>
    <dsp:sp modelId="{0B0F454A-CC74-4978-8C60-52E2D8446512}">
      <dsp:nvSpPr>
        <dsp:cNvPr id="0" name=""/>
        <dsp:cNvSpPr/>
      </dsp:nvSpPr>
      <dsp:spPr>
        <a:xfrm>
          <a:off x="1423597" y="939193"/>
          <a:ext cx="1003888" cy="526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Montserrat Medium" panose="020B0604020202020204" charset="0"/>
            </a:rPr>
            <a:t>Cell Harvesting</a:t>
          </a:r>
          <a:endParaRPr lang="en-US" sz="1200" b="0" kern="1200" dirty="0">
            <a:solidFill>
              <a:schemeClr val="tx1"/>
            </a:solidFill>
            <a:latin typeface="Montserrat Medium" panose="020B0604020202020204" charset="0"/>
          </a:endParaRPr>
        </a:p>
      </dsp:txBody>
      <dsp:txXfrm>
        <a:off x="1439025" y="954621"/>
        <a:ext cx="973032" cy="495908"/>
      </dsp:txXfrm>
    </dsp:sp>
    <dsp:sp modelId="{F2979420-8FC7-4E8D-8842-203D16AF4A49}">
      <dsp:nvSpPr>
        <dsp:cNvPr id="0" name=""/>
        <dsp:cNvSpPr/>
      </dsp:nvSpPr>
      <dsp:spPr>
        <a:xfrm rot="2583046">
          <a:off x="2391237" y="1527538"/>
          <a:ext cx="398431" cy="152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397382" y="1542387"/>
        <a:ext cx="352789" cy="91284"/>
      </dsp:txXfrm>
    </dsp:sp>
    <dsp:sp modelId="{3323E305-00CB-4743-947B-994C4E4E4616}">
      <dsp:nvSpPr>
        <dsp:cNvPr id="0" name=""/>
        <dsp:cNvSpPr/>
      </dsp:nvSpPr>
      <dsp:spPr>
        <a:xfrm>
          <a:off x="2674183" y="1772408"/>
          <a:ext cx="1159946" cy="526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Montserrat Medium" panose="020B0604020202020204" charset="0"/>
            </a:rPr>
            <a:t>Cell Processing</a:t>
          </a:r>
        </a:p>
      </dsp:txBody>
      <dsp:txXfrm>
        <a:off x="2689611" y="1787836"/>
        <a:ext cx="1129090" cy="495908"/>
      </dsp:txXfrm>
    </dsp:sp>
    <dsp:sp modelId="{553ECB49-7787-4835-828F-C6BE67B20D92}">
      <dsp:nvSpPr>
        <dsp:cNvPr id="0" name=""/>
        <dsp:cNvSpPr/>
      </dsp:nvSpPr>
      <dsp:spPr>
        <a:xfrm rot="2956353">
          <a:off x="3678316" y="2414946"/>
          <a:ext cx="338715" cy="1754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687461" y="2430090"/>
        <a:ext cx="286086" cy="105257"/>
      </dsp:txXfrm>
    </dsp:sp>
    <dsp:sp modelId="{6536FABD-A8FA-4C4B-903C-E69274E05FBE}">
      <dsp:nvSpPr>
        <dsp:cNvPr id="0" name=""/>
        <dsp:cNvSpPr/>
      </dsp:nvSpPr>
      <dsp:spPr>
        <a:xfrm>
          <a:off x="3742753" y="2694294"/>
          <a:ext cx="1366737" cy="526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Montserrat Medium" panose="020B0604020202020204" charset="0"/>
            </a:rPr>
            <a:t>Reintroduction</a:t>
          </a:r>
          <a:endParaRPr lang="en-US" sz="1200" b="0" kern="1200" dirty="0">
            <a:solidFill>
              <a:schemeClr val="tx1"/>
            </a:solidFill>
            <a:latin typeface="Montserrat Medium" panose="020B0604020202020204" charset="0"/>
          </a:endParaRPr>
        </a:p>
      </dsp:txBody>
      <dsp:txXfrm>
        <a:off x="3758181" y="2709722"/>
        <a:ext cx="1335881" cy="495908"/>
      </dsp:txXfrm>
    </dsp:sp>
    <dsp:sp modelId="{AF28F48D-0E0D-4530-AE01-C3312E2AD6C1}">
      <dsp:nvSpPr>
        <dsp:cNvPr id="0" name=""/>
        <dsp:cNvSpPr/>
      </dsp:nvSpPr>
      <dsp:spPr>
        <a:xfrm rot="8286801">
          <a:off x="3626070" y="3373671"/>
          <a:ext cx="450950" cy="1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678066" y="3393512"/>
        <a:ext cx="391337" cy="119225"/>
      </dsp:txXfrm>
    </dsp:sp>
    <dsp:sp modelId="{B5ED8D38-04E0-42EB-9059-E647F5E30B40}">
      <dsp:nvSpPr>
        <dsp:cNvPr id="0" name=""/>
        <dsp:cNvSpPr/>
      </dsp:nvSpPr>
      <dsp:spPr>
        <a:xfrm>
          <a:off x="2026785" y="3663689"/>
          <a:ext cx="1615821" cy="5267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tx1"/>
              </a:solidFill>
              <a:latin typeface="Montserrat Medium" panose="020B0604020202020204" charset="0"/>
            </a:rPr>
            <a:t>Post-Treatment Care</a:t>
          </a:r>
          <a:endParaRPr lang="en-US" sz="1200" b="0" kern="1200" dirty="0">
            <a:solidFill>
              <a:schemeClr val="tx1"/>
            </a:solidFill>
            <a:latin typeface="Montserrat Medium" panose="020B0604020202020204" charset="0"/>
          </a:endParaRPr>
        </a:p>
      </dsp:txBody>
      <dsp:txXfrm>
        <a:off x="2042213" y="3679117"/>
        <a:ext cx="1584965" cy="495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44dd260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144dd260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1582efe8ed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11582efe8ed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51d0107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51d0107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1582efe8ed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1582efe8ed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96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51d0107ad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151d0107ad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5d3d7d9a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5d3d7d9a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582efe8ed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1582efe8ed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https://www.embryo-science.com/post/cytokine-release-syndrome-in-car-t-cell-treated-patients-linked-to-exploding-cancer-cells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7956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1582efe8ed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1582efe8ed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51d0107ad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151d0107ad_1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312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15da5216d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15da5216d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021525" y="1401600"/>
            <a:ext cx="3182700" cy="14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021525" y="3026400"/>
            <a:ext cx="2979600" cy="715500"/>
          </a:xfrm>
          <a:prstGeom prst="rect">
            <a:avLst/>
          </a:prstGeom>
          <a:solidFill>
            <a:srgbClr val="95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250" y="1809750"/>
            <a:ext cx="4531200" cy="14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 b="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560750" y="3429800"/>
            <a:ext cx="2840100" cy="71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457025" y="692500"/>
            <a:ext cx="961200" cy="960900"/>
          </a:xfrm>
          <a:prstGeom prst="rect">
            <a:avLst/>
          </a:prstGeom>
          <a:solidFill>
            <a:schemeClr val="lt2"/>
          </a:solidFill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4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cxnSp>
        <p:nvCxnSpPr>
          <p:cNvPr id="16" name="Google Shape;16;p3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6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15250" y="540000"/>
            <a:ext cx="35388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715250" y="1799550"/>
            <a:ext cx="4239900" cy="230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4" name="Google Shape;34;p7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2281038" y="895025"/>
            <a:ext cx="4581900" cy="24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7" name="Google Shape;37;p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715250" y="3330851"/>
            <a:ext cx="4945500" cy="415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1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ato"/>
              <a:buNone/>
              <a:defRPr sz="25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715250" y="1396838"/>
            <a:ext cx="49455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1" name="Google Shape;91;p1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222812" y="1416638"/>
            <a:ext cx="1251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2"/>
          </p:nvPr>
        </p:nvSpPr>
        <p:spPr>
          <a:xfrm flipH="1">
            <a:off x="2222812" y="2562788"/>
            <a:ext cx="1251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3"/>
          </p:nvPr>
        </p:nvSpPr>
        <p:spPr>
          <a:xfrm>
            <a:off x="3655213" y="1416638"/>
            <a:ext cx="34653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4"/>
          </p:nvPr>
        </p:nvSpPr>
        <p:spPr>
          <a:xfrm flipH="1">
            <a:off x="3655213" y="2562788"/>
            <a:ext cx="34653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5"/>
          </p:nvPr>
        </p:nvSpPr>
        <p:spPr>
          <a:xfrm>
            <a:off x="2222812" y="3588038"/>
            <a:ext cx="1251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6"/>
          </p:nvPr>
        </p:nvSpPr>
        <p:spPr>
          <a:xfrm>
            <a:off x="3655213" y="3588038"/>
            <a:ext cx="34653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9" name="Google Shape;99;p19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1123850" y="1376925"/>
            <a:ext cx="3138300" cy="8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1"/>
          </p:nvPr>
        </p:nvSpPr>
        <p:spPr>
          <a:xfrm>
            <a:off x="1123950" y="2447763"/>
            <a:ext cx="3138300" cy="1318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62" name="Google Shape;162;p24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_2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1077750" y="3247288"/>
            <a:ext cx="3136200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200" b="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ubTitle" idx="1"/>
          </p:nvPr>
        </p:nvSpPr>
        <p:spPr>
          <a:xfrm>
            <a:off x="4539150" y="3247413"/>
            <a:ext cx="3527100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8" name="Google Shape;178;p2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_1_1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>
          <a:xfrm>
            <a:off x="876750" y="1037575"/>
            <a:ext cx="39342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7000" b="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500"/>
              <a:buFont typeface="Lato Black"/>
              <a:buNone/>
              <a:defRPr sz="2500" b="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93" name="Google Shape;193;p32"/>
          <p:cNvSpPr txBox="1">
            <a:spLocks noGrp="1"/>
          </p:cNvSpPr>
          <p:nvPr>
            <p:ph type="subTitle" idx="1"/>
          </p:nvPr>
        </p:nvSpPr>
        <p:spPr>
          <a:xfrm>
            <a:off x="876750" y="2331275"/>
            <a:ext cx="3934200" cy="1335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5177850" y="2997275"/>
            <a:ext cx="30894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200" u="sng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200" u="sng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infographics &amp; images by </a:t>
            </a:r>
            <a:r>
              <a:rPr lang="en" sz="1200" u="sng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u="sng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5" name="Google Shape;195;p32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subTitle" idx="1"/>
          </p:nvPr>
        </p:nvSpPr>
        <p:spPr>
          <a:xfrm>
            <a:off x="723750" y="36874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2416062" y="36874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723750" y="26439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2416062" y="26439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723750" y="16004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2416050" y="16004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7"/>
          </p:nvPr>
        </p:nvSpPr>
        <p:spPr>
          <a:xfrm>
            <a:off x="4589477" y="36874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8"/>
          </p:nvPr>
        </p:nvSpPr>
        <p:spPr>
          <a:xfrm>
            <a:off x="6281787" y="36874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9"/>
          </p:nvPr>
        </p:nvSpPr>
        <p:spPr>
          <a:xfrm>
            <a:off x="4589477" y="26439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13"/>
          </p:nvPr>
        </p:nvSpPr>
        <p:spPr>
          <a:xfrm>
            <a:off x="6281787" y="26439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14"/>
          </p:nvPr>
        </p:nvSpPr>
        <p:spPr>
          <a:xfrm>
            <a:off x="4589475" y="1600450"/>
            <a:ext cx="14637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100">
                <a:latin typeface="Lato Black"/>
                <a:ea typeface="Lato Black"/>
                <a:cs typeface="Lato Black"/>
                <a:sym typeface="La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ato Black"/>
              <a:buNone/>
              <a:defRPr sz="2000">
                <a:latin typeface="Lato Black"/>
                <a:ea typeface="Lato Black"/>
                <a:cs typeface="Lato Black"/>
                <a:sym typeface="Lato Black"/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15"/>
          </p:nvPr>
        </p:nvSpPr>
        <p:spPr>
          <a:xfrm>
            <a:off x="6281775" y="16004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34" name="Google Shape;134;p22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442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8070D"/>
            </a:gs>
            <a:gs pos="100000">
              <a:srgbClr val="29155A"/>
            </a:gs>
          </a:gsLst>
          <a:lin ang="189007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64" r:id="rId6"/>
    <p:sldLayoutId id="2147483665" r:id="rId7"/>
    <p:sldLayoutId id="2147483670" r:id="rId8"/>
    <p:sldLayoutId id="2147483674" r:id="rId9"/>
    <p:sldLayoutId id="2147483678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>
            <a:spLocks noGrp="1"/>
          </p:cNvSpPr>
          <p:nvPr>
            <p:ph type="ctrTitle"/>
          </p:nvPr>
        </p:nvSpPr>
        <p:spPr>
          <a:xfrm>
            <a:off x="3547465" y="1233364"/>
            <a:ext cx="5304435" cy="19562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PERSONALIZED MEDICINE AND </a:t>
            </a:r>
            <a:br>
              <a:rPr lang="en-US" sz="3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36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CELL-BASED THERAPIES</a:t>
            </a:r>
            <a:endParaRPr sz="36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4" name="Google Shape;234;p3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1700"/>
              </a:spcBef>
              <a:spcAft>
                <a:spcPts val="400"/>
              </a:spcAft>
              <a:buNone/>
            </a:pPr>
            <a:r>
              <a:rPr lang="en-US" b="1" dirty="0">
                <a:latin typeface="Lato Light"/>
                <a:ea typeface="Lato Light"/>
                <a:cs typeface="Lato Light"/>
                <a:sym typeface="Lato Light"/>
              </a:rPr>
              <a:t>TABLE OF CONTENT</a:t>
            </a:r>
            <a:endParaRPr lang="en-US" b="1" dirty="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79" name="Google Shape;679;p56"/>
          <p:cNvSpPr txBox="1">
            <a:spLocks noGrp="1"/>
          </p:cNvSpPr>
          <p:nvPr>
            <p:ph type="subTitle" idx="1"/>
          </p:nvPr>
        </p:nvSpPr>
        <p:spPr>
          <a:xfrm>
            <a:off x="723750" y="3687450"/>
            <a:ext cx="1463700" cy="39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ARIBAH IMTENAN</a:t>
            </a:r>
          </a:p>
        </p:txBody>
      </p:sp>
      <p:sp>
        <p:nvSpPr>
          <p:cNvPr id="680" name="Google Shape;680;p56"/>
          <p:cNvSpPr txBox="1">
            <a:spLocks noGrp="1"/>
          </p:cNvSpPr>
          <p:nvPr>
            <p:ph type="subTitle" idx="2"/>
          </p:nvPr>
        </p:nvSpPr>
        <p:spPr>
          <a:xfrm>
            <a:off x="2416062" y="3687450"/>
            <a:ext cx="21546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r>
              <a:rPr lang="en-US" dirty="0"/>
              <a:t>D Bioprinting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Future perspective</a:t>
            </a:r>
            <a:endParaRPr dirty="0"/>
          </a:p>
        </p:txBody>
      </p:sp>
      <p:sp>
        <p:nvSpPr>
          <p:cNvPr id="681" name="Google Shape;681;p56"/>
          <p:cNvSpPr txBox="1">
            <a:spLocks noGrp="1"/>
          </p:cNvSpPr>
          <p:nvPr>
            <p:ph type="subTitle" idx="3"/>
          </p:nvPr>
        </p:nvSpPr>
        <p:spPr>
          <a:xfrm>
            <a:off x="723750" y="2643950"/>
            <a:ext cx="1463700" cy="39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ESHA ZAMAN</a:t>
            </a:r>
          </a:p>
        </p:txBody>
      </p:sp>
      <p:sp>
        <p:nvSpPr>
          <p:cNvPr id="682" name="Google Shape;682;p56"/>
          <p:cNvSpPr txBox="1">
            <a:spLocks noGrp="1"/>
          </p:cNvSpPr>
          <p:nvPr>
            <p:ph type="subTitle" idx="4"/>
          </p:nvPr>
        </p:nvSpPr>
        <p:spPr>
          <a:xfrm>
            <a:off x="2416061" y="2643950"/>
            <a:ext cx="3182091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Car-T Cell therapy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Autologous Stem-Cell therapies</a:t>
            </a:r>
            <a:endParaRPr dirty="0"/>
          </a:p>
        </p:txBody>
      </p:sp>
      <p:sp>
        <p:nvSpPr>
          <p:cNvPr id="683" name="Google Shape;683;p56"/>
          <p:cNvSpPr txBox="1">
            <a:spLocks noGrp="1"/>
          </p:cNvSpPr>
          <p:nvPr>
            <p:ph type="subTitle" idx="5"/>
          </p:nvPr>
        </p:nvSpPr>
        <p:spPr>
          <a:xfrm>
            <a:off x="723750" y="1600450"/>
            <a:ext cx="1463700" cy="39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IMRANA MUMTAZ</a:t>
            </a:r>
          </a:p>
        </p:txBody>
      </p:sp>
      <p:sp>
        <p:nvSpPr>
          <p:cNvPr id="684" name="Google Shape;684;p56"/>
          <p:cNvSpPr txBox="1">
            <a:spLocks noGrp="1"/>
          </p:cNvSpPr>
          <p:nvPr>
            <p:ph type="subTitle" idx="6"/>
          </p:nvPr>
        </p:nvSpPr>
        <p:spPr>
          <a:xfrm>
            <a:off x="2416062" y="1692125"/>
            <a:ext cx="377139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 to Personalized medicine</a:t>
            </a:r>
          </a:p>
          <a:p>
            <a:pPr marL="0" indent="0"/>
            <a:r>
              <a:rPr lang="en-US" dirty="0"/>
              <a:t>4P’s of Personalized medicine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691" name="Google Shape;691;p56"/>
          <p:cNvCxnSpPr>
            <a:cxnSpLocks/>
          </p:cNvCxnSpPr>
          <p:nvPr/>
        </p:nvCxnSpPr>
        <p:spPr>
          <a:xfrm>
            <a:off x="2339850" y="1463040"/>
            <a:ext cx="0" cy="265818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93" name="Google Shape;693;p56"/>
          <p:cNvPicPr preferRelativeResize="0"/>
          <p:nvPr/>
        </p:nvPicPr>
        <p:blipFill rotWithShape="1">
          <a:blip r:embed="rId3">
            <a:alphaModFix/>
          </a:blip>
          <a:srcRect l="19345" t="1380" r="17985" b="1380"/>
          <a:stretch/>
        </p:blipFill>
        <p:spPr>
          <a:xfrm>
            <a:off x="7678900" y="276786"/>
            <a:ext cx="1054648" cy="1090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>
            <a:spLocks noGrp="1"/>
          </p:cNvSpPr>
          <p:nvPr>
            <p:ph type="title"/>
          </p:nvPr>
        </p:nvSpPr>
        <p:spPr>
          <a:xfrm>
            <a:off x="715250" y="1809750"/>
            <a:ext cx="4531200" cy="14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Light"/>
                <a:sym typeface="Lato Light"/>
              </a:rPr>
              <a:t>CELL BASED THERAPIES</a:t>
            </a:r>
            <a:endParaRPr dirty="0"/>
          </a:p>
        </p:txBody>
      </p:sp>
      <p:sp>
        <p:nvSpPr>
          <p:cNvPr id="322" name="Google Shape;322;p43"/>
          <p:cNvSpPr txBox="1">
            <a:spLocks noGrp="1"/>
          </p:cNvSpPr>
          <p:nvPr>
            <p:ph type="subTitle" idx="1"/>
          </p:nvPr>
        </p:nvSpPr>
        <p:spPr>
          <a:xfrm>
            <a:off x="1560750" y="3429800"/>
            <a:ext cx="2840100" cy="7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Esha Zaman</a:t>
            </a:r>
            <a:endParaRPr dirty="0"/>
          </a:p>
        </p:txBody>
      </p:sp>
      <p:sp>
        <p:nvSpPr>
          <p:cNvPr id="323" name="Google Shape;323;p43"/>
          <p:cNvSpPr txBox="1">
            <a:spLocks noGrp="1"/>
          </p:cNvSpPr>
          <p:nvPr>
            <p:ph type="title" idx="2"/>
          </p:nvPr>
        </p:nvSpPr>
        <p:spPr>
          <a:xfrm>
            <a:off x="2457025" y="692500"/>
            <a:ext cx="961200" cy="9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l="11611" t="6638" r="9827" b="14800"/>
          <a:stretch/>
        </p:blipFill>
        <p:spPr>
          <a:xfrm rot="10800000"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 txBox="1">
            <a:spLocks noGrp="1"/>
          </p:cNvSpPr>
          <p:nvPr>
            <p:ph type="subTitle" idx="1"/>
          </p:nvPr>
        </p:nvSpPr>
        <p:spPr>
          <a:xfrm>
            <a:off x="718742" y="1288950"/>
            <a:ext cx="5085157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/>
            <a:r>
              <a:rPr lang="en-US" b="1" dirty="0"/>
              <a:t>What if we could reprogram a patient’s own immune cells to find and destroy their cancer with amazing precision?</a:t>
            </a:r>
            <a:endParaRPr b="1" dirty="0"/>
          </a:p>
        </p:txBody>
      </p:sp>
      <p:pic>
        <p:nvPicPr>
          <p:cNvPr id="534" name="Google Shape;534;p49"/>
          <p:cNvPicPr preferRelativeResize="0"/>
          <p:nvPr/>
        </p:nvPicPr>
        <p:blipFill rotWithShape="1">
          <a:blip r:embed="rId3">
            <a:alphaModFix/>
          </a:blip>
          <a:srcRect l="19345" t="1380" r="17985" b="1380"/>
          <a:stretch/>
        </p:blipFill>
        <p:spPr>
          <a:xfrm>
            <a:off x="6784120" y="781925"/>
            <a:ext cx="1383977" cy="14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9"/>
          <p:cNvPicPr preferRelativeResize="0"/>
          <p:nvPr/>
        </p:nvPicPr>
        <p:blipFill rotWithShape="1">
          <a:blip r:embed="rId4">
            <a:alphaModFix/>
          </a:blip>
          <a:srcRect l="27301" r="6240"/>
          <a:stretch/>
        </p:blipFill>
        <p:spPr>
          <a:xfrm flipH="1">
            <a:off x="5664243" y="1207150"/>
            <a:ext cx="2189501" cy="21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532;p49">
            <a:extLst>
              <a:ext uri="{FF2B5EF4-FFF2-40B4-BE49-F238E27FC236}">
                <a16:creationId xmlns:a16="http://schemas.microsoft.com/office/drawing/2014/main" id="{58A94872-E77F-4432-B138-8167784B13A1}"/>
              </a:ext>
            </a:extLst>
          </p:cNvPr>
          <p:cNvSpPr txBox="1">
            <a:spLocks/>
          </p:cNvSpPr>
          <p:nvPr/>
        </p:nvSpPr>
        <p:spPr>
          <a:xfrm>
            <a:off x="1836456" y="3474993"/>
            <a:ext cx="5471088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-US" sz="2800" b="1" dirty="0"/>
              <a:t>THIS IS NOT JUST A DREAM!!</a:t>
            </a:r>
          </a:p>
        </p:txBody>
      </p:sp>
    </p:spTree>
    <p:extLst>
      <p:ext uri="{BB962C8B-B14F-4D97-AF65-F5344CB8AC3E}">
        <p14:creationId xmlns:p14="http://schemas.microsoft.com/office/powerpoint/2010/main" val="351826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build="p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CBEE-8689-4F98-AAB5-B81AF393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97" y="1142451"/>
            <a:ext cx="5959320" cy="2465100"/>
          </a:xfrm>
        </p:spPr>
        <p:txBody>
          <a:bodyPr/>
          <a:lstStyle/>
          <a:p>
            <a:r>
              <a:rPr lang="en-US" sz="4800" dirty="0"/>
              <a:t>CAR T CELLS THERAPY</a:t>
            </a:r>
          </a:p>
        </p:txBody>
      </p:sp>
      <p:pic>
        <p:nvPicPr>
          <p:cNvPr id="3" name="WhatsApp Video 2024-05-17 at 9.14.33 PM">
            <a:hlinkClick r:id="" action="ppaction://media"/>
            <a:extLst>
              <a:ext uri="{FF2B5EF4-FFF2-40B4-BE49-F238E27FC236}">
                <a16:creationId xmlns:a16="http://schemas.microsoft.com/office/drawing/2014/main" id="{3C1FDEEC-D3A2-4340-A28C-A9D69BF332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44797" y="720762"/>
            <a:ext cx="3374588" cy="3487074"/>
          </a:xfrm>
          <a:prstGeom prst="ellipse">
            <a:avLst/>
          </a:prstGeom>
        </p:spPr>
      </p:pic>
      <p:pic>
        <p:nvPicPr>
          <p:cNvPr id="4" name="Google Shape;1368;p74">
            <a:extLst>
              <a:ext uri="{FF2B5EF4-FFF2-40B4-BE49-F238E27FC236}">
                <a16:creationId xmlns:a16="http://schemas.microsoft.com/office/drawing/2014/main" id="{88E97B8B-08A0-4627-A049-6CD4E8E5BEA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57908"/>
            <a:ext cx="889948" cy="933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663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>
            <a:spLocks noGrp="1"/>
          </p:cNvSpPr>
          <p:nvPr>
            <p:ph type="title"/>
          </p:nvPr>
        </p:nvSpPr>
        <p:spPr>
          <a:xfrm>
            <a:off x="2304943" y="92664"/>
            <a:ext cx="4534115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CAR T CELLS THERAPY</a:t>
            </a:r>
            <a:endParaRPr dirty="0"/>
          </a:p>
        </p:txBody>
      </p:sp>
      <p:sp>
        <p:nvSpPr>
          <p:cNvPr id="313" name="Google Shape;313;p42"/>
          <p:cNvSpPr txBox="1">
            <a:spLocks noGrp="1"/>
          </p:cNvSpPr>
          <p:nvPr>
            <p:ph type="body" idx="1"/>
          </p:nvPr>
        </p:nvSpPr>
        <p:spPr>
          <a:xfrm>
            <a:off x="535874" y="997566"/>
            <a:ext cx="5050114" cy="3797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0" indent="-228600" algn="just">
              <a:buFont typeface="+mj-lt"/>
              <a:buAutoNum type="arabicPeriod"/>
            </a:pPr>
            <a:r>
              <a:rPr lang="en-US" sz="1200" dirty="0"/>
              <a:t>CAR T cell therapy uses a patient’s own immune cells to target and destroy cancer cells</a:t>
            </a:r>
          </a:p>
          <a:p>
            <a:pPr marL="381000" indent="-228600" algn="just">
              <a:buFont typeface="+mj-lt"/>
              <a:buAutoNum type="arabicPeriod"/>
            </a:pPr>
            <a:endParaRPr lang="en-US" sz="1200" dirty="0">
              <a:latin typeface="Montserrat Medium" panose="020B0604020202020204" charset="0"/>
            </a:endParaRPr>
          </a:p>
          <a:p>
            <a:pPr marL="381000" indent="-228600" algn="just">
              <a:buFont typeface="+mj-lt"/>
              <a:buAutoNum type="arabicPeriod"/>
            </a:pPr>
            <a:r>
              <a:rPr lang="en-US" sz="1200" dirty="0"/>
              <a:t>CAR stands for </a:t>
            </a:r>
            <a:r>
              <a:rPr lang="en-US" sz="1200" b="1" dirty="0"/>
              <a:t>Chimeric Antigen Receptor</a:t>
            </a:r>
            <a:r>
              <a:rPr lang="en-US" sz="1200" dirty="0"/>
              <a:t>, a specially engineered receptor that is added to T cells to help them better recognize and attack cancer cells</a:t>
            </a:r>
          </a:p>
          <a:p>
            <a:pPr marL="381000" indent="-228600" algn="just">
              <a:buFont typeface="+mj-lt"/>
              <a:buAutoNum type="arabicPeriod"/>
            </a:pPr>
            <a:endParaRPr lang="en-US" sz="1200" dirty="0">
              <a:latin typeface="Montserrat Medium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81000" indent="-228600" algn="just">
              <a:buFont typeface="+mj-lt"/>
              <a:buAutoNum type="arabicPeriod"/>
            </a:pPr>
            <a:r>
              <a:rPr lang="en-US" sz="1200" dirty="0">
                <a:latin typeface="Montserrat Medium" panose="020B0604020202020204" charset="0"/>
              </a:rPr>
              <a:t>Simplistically, a CAR is comprised of an:</a:t>
            </a:r>
          </a:p>
          <a:p>
            <a:pPr algn="just"/>
            <a:r>
              <a:rPr lang="en-US" sz="1200" dirty="0">
                <a:latin typeface="Montserrat Medium" panose="020B0604020202020204" charset="0"/>
              </a:rPr>
              <a:t>Extracellular domain derived from antibody</a:t>
            </a:r>
          </a:p>
          <a:p>
            <a:pPr algn="just"/>
            <a:r>
              <a:rPr lang="en-US" sz="1200" dirty="0"/>
              <a:t>Short linker between heavy and light chain</a:t>
            </a:r>
          </a:p>
          <a:p>
            <a:pPr algn="just"/>
            <a:r>
              <a:rPr lang="en-US" sz="1200" dirty="0"/>
              <a:t>Transmembrane domain</a:t>
            </a:r>
          </a:p>
          <a:p>
            <a:pPr algn="just"/>
            <a:r>
              <a:rPr lang="en-US" sz="1200" dirty="0"/>
              <a:t>Intracellular T cell signaling domain</a:t>
            </a:r>
          </a:p>
          <a:p>
            <a:pPr algn="just"/>
            <a:endParaRPr lang="en-US" sz="1200" dirty="0">
              <a:latin typeface="Montserrat Medium" panose="020B0604020202020204" charset="0"/>
            </a:endParaRPr>
          </a:p>
          <a:p>
            <a:pPr marL="381000" indent="-228600" algn="just">
              <a:buFont typeface="+mj-lt"/>
              <a:buAutoNum type="arabicPeriod" startAt="4"/>
            </a:pPr>
            <a:r>
              <a:rPr lang="en-US" sz="1200" dirty="0">
                <a:latin typeface="Montserrat Medium" panose="020B0604020202020204" charset="0"/>
              </a:rPr>
              <a:t>Second- and third-generation constructs have one or two costimulatory signaling domains</a:t>
            </a:r>
          </a:p>
        </p:txBody>
      </p:sp>
      <p:pic>
        <p:nvPicPr>
          <p:cNvPr id="314" name="Google Shape;314;p4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585987" y="997566"/>
            <a:ext cx="3472460" cy="3465933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E572-9F21-4002-A7F0-3FBA1EF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03332"/>
            <a:ext cx="7704000" cy="564300"/>
          </a:xfrm>
        </p:spPr>
        <p:txBody>
          <a:bodyPr/>
          <a:lstStyle/>
          <a:p>
            <a:r>
              <a:rPr lang="en-US" b="1" dirty="0"/>
              <a:t>ADMINISTRATION OF CAR T CELLS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6B6326A-48C0-4B05-B5B0-A66A41F12F47}"/>
              </a:ext>
            </a:extLst>
          </p:cNvPr>
          <p:cNvGraphicFramePr/>
          <p:nvPr/>
        </p:nvGraphicFramePr>
        <p:xfrm>
          <a:off x="1685371" y="796739"/>
          <a:ext cx="6096000" cy="1775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7358C7-A8DB-4EC2-8B01-09A0CA55FFB2}"/>
              </a:ext>
            </a:extLst>
          </p:cNvPr>
          <p:cNvSpPr txBox="1"/>
          <p:nvPr/>
        </p:nvSpPr>
        <p:spPr>
          <a:xfrm>
            <a:off x="1584548" y="3288840"/>
            <a:ext cx="3622452" cy="1261884"/>
          </a:xfrm>
          <a:prstGeom prst="rect">
            <a:avLst/>
          </a:prstGeom>
          <a:noFill/>
          <a:ln w="28575"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+mn-lt"/>
              </a:rPr>
              <a:t>Lymphodepleting chemotherapy </a:t>
            </a:r>
            <a:r>
              <a:rPr lang="en-US" sz="1200" dirty="0">
                <a:solidFill>
                  <a:schemeClr val="bg1"/>
                </a:solidFill>
                <a:latin typeface="Montserrat Medium" panose="020B0604020202020204" charset="0"/>
              </a:rPr>
              <a:t>to:</a:t>
            </a:r>
          </a:p>
          <a:p>
            <a:pPr algn="just"/>
            <a:endParaRPr lang="en-US" sz="1200" dirty="0">
              <a:solidFill>
                <a:schemeClr val="bg1"/>
              </a:solidFill>
              <a:latin typeface="Montserrat Medium" panose="020B0604020202020204" charset="0"/>
            </a:endParaRPr>
          </a:p>
          <a:p>
            <a:pPr marL="228600" indent="-2286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Montserrat Medium" panose="020B0604020202020204" charset="0"/>
                <a:ea typeface="Calibri" panose="020F0502020204030204" pitchFamily="34" charset="0"/>
                <a:cs typeface="Times New Roman" panose="02020603050405020304" pitchFamily="18" charset="0"/>
              </a:rPr>
              <a:t>Reduce T Cell Numbers</a:t>
            </a:r>
          </a:p>
          <a:p>
            <a:pPr marL="228600" indent="-2286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Montserrat Medium" panose="020B0604020202020204" charset="0"/>
              </a:rPr>
              <a:t>Create Space for CAR T Cells</a:t>
            </a:r>
          </a:p>
          <a:p>
            <a:pPr marL="228600" indent="-2286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bg1"/>
                </a:solidFill>
                <a:latin typeface="Montserrat Medium" panose="020B0604020202020204" charset="0"/>
              </a:rPr>
              <a:t>Boost Expansion Signals</a:t>
            </a:r>
          </a:p>
          <a:p>
            <a:pPr algn="just"/>
            <a:endParaRPr lang="en-US" dirty="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56C26BF-15A4-4250-B82B-E54450D1B658}"/>
              </a:ext>
            </a:extLst>
          </p:cNvPr>
          <p:cNvSpPr/>
          <p:nvPr/>
        </p:nvSpPr>
        <p:spPr>
          <a:xfrm rot="16200000">
            <a:off x="4459845" y="-482964"/>
            <a:ext cx="516366" cy="5882846"/>
          </a:xfrm>
          <a:prstGeom prst="leftBrace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48972-2F31-4956-9E0D-806D158C0C4B}"/>
              </a:ext>
            </a:extLst>
          </p:cNvPr>
          <p:cNvSpPr txBox="1"/>
          <p:nvPr/>
        </p:nvSpPr>
        <p:spPr>
          <a:xfrm rot="16200000">
            <a:off x="599828" y="1608126"/>
            <a:ext cx="1465582" cy="461665"/>
          </a:xfrm>
          <a:prstGeom prst="rect">
            <a:avLst/>
          </a:prstGeom>
          <a:noFill/>
          <a:ln w="28575"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F22A7-7139-4DDD-8719-8F47F21D075F}"/>
              </a:ext>
            </a:extLst>
          </p:cNvPr>
          <p:cNvSpPr txBox="1"/>
          <p:nvPr/>
        </p:nvSpPr>
        <p:spPr>
          <a:xfrm>
            <a:off x="4017982" y="2772911"/>
            <a:ext cx="145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Montserrat Medium" panose="020B0604020202020204" charset="0"/>
              </a:rPr>
              <a:t>10-21 DAYS</a:t>
            </a:r>
          </a:p>
        </p:txBody>
      </p:sp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5729889C-9173-46E8-871C-A4FB374AFEDD}"/>
              </a:ext>
            </a:extLst>
          </p:cNvPr>
          <p:cNvSpPr/>
          <p:nvPr/>
        </p:nvSpPr>
        <p:spPr>
          <a:xfrm rot="21330460">
            <a:off x="166266" y="1938258"/>
            <a:ext cx="907643" cy="2206156"/>
          </a:xfrm>
          <a:prstGeom prst="curvedRightArrow">
            <a:avLst>
              <a:gd name="adj1" fmla="val 47462"/>
              <a:gd name="adj2" fmla="val 102165"/>
              <a:gd name="adj3" fmla="val 4355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224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2"/>
          <p:cNvSpPr txBox="1">
            <a:spLocks noGrp="1"/>
          </p:cNvSpPr>
          <p:nvPr>
            <p:ph type="title"/>
          </p:nvPr>
        </p:nvSpPr>
        <p:spPr>
          <a:xfrm>
            <a:off x="1077750" y="3247288"/>
            <a:ext cx="3136200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FIRST PEDIATRIC PATIENT TO RECEIVE CAR T-CELL THERAPY</a:t>
            </a:r>
          </a:p>
        </p:txBody>
      </p:sp>
      <p:sp>
        <p:nvSpPr>
          <p:cNvPr id="595" name="Google Shape;595;p52"/>
          <p:cNvSpPr txBox="1">
            <a:spLocks noGrp="1"/>
          </p:cNvSpPr>
          <p:nvPr>
            <p:ph type="subTitle" idx="1"/>
          </p:nvPr>
        </p:nvSpPr>
        <p:spPr>
          <a:xfrm>
            <a:off x="4539149" y="3247413"/>
            <a:ext cx="3690447" cy="9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Emily’s CAR T journey began in march 2012</a:t>
            </a:r>
          </a:p>
          <a:p>
            <a:pPr marL="28575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It has been 12 years since Emily was declared cancer-free</a:t>
            </a:r>
          </a:p>
        </p:txBody>
      </p:sp>
      <p:pic>
        <p:nvPicPr>
          <p:cNvPr id="596" name="Google Shape;596;p5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16078" y="376782"/>
            <a:ext cx="4711848" cy="2650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52"/>
          <p:cNvCxnSpPr>
            <a:cxnSpLocks/>
          </p:cNvCxnSpPr>
          <p:nvPr/>
        </p:nvCxnSpPr>
        <p:spPr>
          <a:xfrm>
            <a:off x="4367000" y="3307013"/>
            <a:ext cx="0" cy="1071349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D8774DF-24C0-4D15-B877-69FD78215762}"/>
              </a:ext>
            </a:extLst>
          </p:cNvPr>
          <p:cNvGrpSpPr/>
          <p:nvPr/>
        </p:nvGrpSpPr>
        <p:grpSpPr>
          <a:xfrm>
            <a:off x="-706950" y="2523736"/>
            <a:ext cx="3225104" cy="2028795"/>
            <a:chOff x="-706950" y="2523736"/>
            <a:chExt cx="3225104" cy="20287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6E10B6-AF14-4C10-8519-C34C44AE7137}"/>
                </a:ext>
              </a:extLst>
            </p:cNvPr>
            <p:cNvGrpSpPr/>
            <p:nvPr/>
          </p:nvGrpSpPr>
          <p:grpSpPr>
            <a:xfrm>
              <a:off x="-706950" y="2571750"/>
              <a:ext cx="3225104" cy="1980781"/>
              <a:chOff x="-706950" y="2571750"/>
              <a:chExt cx="3225104" cy="198078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14A5874-0496-4D09-A498-B6E248AFC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06950" y="2571750"/>
                <a:ext cx="3225104" cy="1935062"/>
              </a:xfrm>
              <a:prstGeom prst="rect">
                <a:avLst/>
              </a:prstGeom>
            </p:spPr>
          </p:pic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E3D1012-2DB9-4E64-A9AB-551A0538CFA5}"/>
                  </a:ext>
                </a:extLst>
              </p:cNvPr>
              <p:cNvSpPr/>
              <p:nvPr/>
            </p:nvSpPr>
            <p:spPr>
              <a:xfrm>
                <a:off x="172122" y="4506812"/>
                <a:ext cx="905628" cy="45719"/>
              </a:xfrm>
              <a:prstGeom prst="ellipse">
                <a:avLst/>
              </a:prstGeom>
              <a:solidFill>
                <a:srgbClr val="96B2D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A662955-288A-4283-B6BB-BB88AC87D94C}"/>
                </a:ext>
              </a:extLst>
            </p:cNvPr>
            <p:cNvSpPr/>
            <p:nvPr/>
          </p:nvSpPr>
          <p:spPr>
            <a:xfrm>
              <a:off x="254819" y="2523736"/>
              <a:ext cx="798051" cy="96028"/>
            </a:xfrm>
            <a:prstGeom prst="ellipse">
              <a:avLst/>
            </a:prstGeom>
            <a:solidFill>
              <a:srgbClr val="838D8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>
            <a:spLocks noGrp="1"/>
          </p:cNvSpPr>
          <p:nvPr>
            <p:ph type="title"/>
          </p:nvPr>
        </p:nvSpPr>
        <p:spPr>
          <a:xfrm>
            <a:off x="720000" y="421663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 Light"/>
                <a:ea typeface="Lato Light"/>
                <a:cs typeface="Lato Light"/>
                <a:sym typeface="Lato Light"/>
              </a:rPr>
              <a:t>LIMITATIONS</a:t>
            </a:r>
            <a:endParaRPr dirty="0"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5D93EF-0248-4CD5-A3C6-E046C955E2E3}"/>
              </a:ext>
            </a:extLst>
          </p:cNvPr>
          <p:cNvSpPr txBox="1"/>
          <p:nvPr/>
        </p:nvSpPr>
        <p:spPr>
          <a:xfrm>
            <a:off x="720000" y="1556087"/>
            <a:ext cx="4863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Difficulty in producing CAR T cells for every patient who needs them</a:t>
            </a: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Montserrat Medium" panose="020B0604020202020204" charset="0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Relapse remains a concern, often occurring within a year of treatment</a:t>
            </a: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Montserrat Medium" panose="020B0604020202020204" charset="0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Neurotoxicity</a:t>
            </a: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Montserrat Medium" panose="020B0604020202020204" charset="0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B cell aplasia: destruction of normal B cells in addition to cancerous ones</a:t>
            </a: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Montserrat Medium" panose="020B0604020202020204" charset="0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Montserrat Medium" panose="020B0604020202020204" charset="0"/>
              </a:rPr>
              <a:t>Cytokine release syndrome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0DEC7-3AAE-4880-910C-D2DEE6A8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313" y="1732626"/>
            <a:ext cx="2832818" cy="23245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1121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 txBox="1">
            <a:spLocks noGrp="1"/>
          </p:cNvSpPr>
          <p:nvPr>
            <p:ph type="subTitle" idx="1"/>
          </p:nvPr>
        </p:nvSpPr>
        <p:spPr>
          <a:xfrm>
            <a:off x="718743" y="1060350"/>
            <a:ext cx="49455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Did you know that over 50% of organ transplants fail due to immune rejection?</a:t>
            </a:r>
            <a:endParaRPr dirty="0"/>
          </a:p>
        </p:txBody>
      </p:sp>
      <p:pic>
        <p:nvPicPr>
          <p:cNvPr id="534" name="Google Shape;534;p49"/>
          <p:cNvPicPr preferRelativeResize="0"/>
          <p:nvPr/>
        </p:nvPicPr>
        <p:blipFill rotWithShape="1">
          <a:blip r:embed="rId3">
            <a:alphaModFix/>
          </a:blip>
          <a:srcRect l="19345" t="1380" r="17985" b="1380"/>
          <a:stretch/>
        </p:blipFill>
        <p:spPr>
          <a:xfrm>
            <a:off x="6784120" y="1048625"/>
            <a:ext cx="1383977" cy="14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9"/>
          <p:cNvPicPr preferRelativeResize="0"/>
          <p:nvPr/>
        </p:nvPicPr>
        <p:blipFill rotWithShape="1">
          <a:blip r:embed="rId4">
            <a:alphaModFix/>
          </a:blip>
          <a:srcRect l="27301" r="6240"/>
          <a:stretch/>
        </p:blipFill>
        <p:spPr>
          <a:xfrm flipH="1">
            <a:off x="5664243" y="1473850"/>
            <a:ext cx="2189501" cy="21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532;p49">
            <a:extLst>
              <a:ext uri="{FF2B5EF4-FFF2-40B4-BE49-F238E27FC236}">
                <a16:creationId xmlns:a16="http://schemas.microsoft.com/office/drawing/2014/main" id="{58A94872-E77F-4432-B138-8167784B13A1}"/>
              </a:ext>
            </a:extLst>
          </p:cNvPr>
          <p:cNvSpPr txBox="1">
            <a:spLocks/>
          </p:cNvSpPr>
          <p:nvPr/>
        </p:nvSpPr>
        <p:spPr>
          <a:xfrm>
            <a:off x="675712" y="2598693"/>
            <a:ext cx="49455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2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-US" b="1" dirty="0"/>
              <a:t>“Imagine if we could eliminate this risk entirely.”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build="p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CBEE-8689-4F98-AAB5-B81AF393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4703" y="549954"/>
            <a:ext cx="5959320" cy="2465100"/>
          </a:xfrm>
        </p:spPr>
        <p:txBody>
          <a:bodyPr/>
          <a:lstStyle/>
          <a:p>
            <a:r>
              <a:rPr lang="en-US" sz="4800" dirty="0"/>
              <a:t>AUTOLOGOUS STEM CELL THERAPIES</a:t>
            </a:r>
          </a:p>
        </p:txBody>
      </p:sp>
      <p:pic>
        <p:nvPicPr>
          <p:cNvPr id="7" name="WhatsApp Video 2024-05-18 at 9.31.17 AM">
            <a:hlinkClick r:id="" action="ppaction://media"/>
            <a:extLst>
              <a:ext uri="{FF2B5EF4-FFF2-40B4-BE49-F238E27FC236}">
                <a16:creationId xmlns:a16="http://schemas.microsoft.com/office/drawing/2014/main" id="{CA3370A8-410C-452D-A8FF-A9D2BFD0F0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01296" y="1981200"/>
            <a:ext cx="4234008" cy="2396608"/>
          </a:xfrm>
          <a:prstGeom prst="flowChartAlternateProcess">
            <a:avLst/>
          </a:prstGeom>
        </p:spPr>
      </p:pic>
      <p:pic>
        <p:nvPicPr>
          <p:cNvPr id="5" name="Google Shape;1368;p74">
            <a:extLst>
              <a:ext uri="{FF2B5EF4-FFF2-40B4-BE49-F238E27FC236}">
                <a16:creationId xmlns:a16="http://schemas.microsoft.com/office/drawing/2014/main" id="{6A8C65D6-04BD-4D31-9299-BC142A0C292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24703" y="-293902"/>
            <a:ext cx="891874" cy="936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503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>
            <a:spLocks noGrp="1"/>
          </p:cNvSpPr>
          <p:nvPr>
            <p:ph type="title"/>
          </p:nvPr>
        </p:nvSpPr>
        <p:spPr>
          <a:xfrm>
            <a:off x="1371600" y="222741"/>
            <a:ext cx="64008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3200" dirty="0"/>
              <a:t>AUTOLOGOUS STEM CELL THERAPIES</a:t>
            </a:r>
            <a:endParaRPr dirty="0"/>
          </a:p>
        </p:txBody>
      </p:sp>
      <p:sp>
        <p:nvSpPr>
          <p:cNvPr id="313" name="Google Shape;313;p42"/>
          <p:cNvSpPr txBox="1">
            <a:spLocks noGrp="1"/>
          </p:cNvSpPr>
          <p:nvPr>
            <p:ph type="body" idx="1"/>
          </p:nvPr>
        </p:nvSpPr>
        <p:spPr>
          <a:xfrm>
            <a:off x="637474" y="1099166"/>
            <a:ext cx="5179126" cy="3797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81000" indent="-228600" algn="just">
              <a:buFont typeface="+mj-lt"/>
              <a:buAutoNum type="arabicPeriod"/>
            </a:pPr>
            <a:r>
              <a:rPr lang="en-US" sz="1200" dirty="0"/>
              <a:t>Stem cells are unique cells with the ability to renew themselves and differentiate into various cell types.</a:t>
            </a:r>
          </a:p>
          <a:p>
            <a:pPr marL="381000" indent="-228600" algn="just">
              <a:buFont typeface="+mj-lt"/>
              <a:buAutoNum type="arabicPeriod"/>
            </a:pPr>
            <a:r>
              <a:rPr lang="en-US" sz="1200" dirty="0"/>
              <a:t>Autologous stem cell therapy, uses a patient’s own cells, significantly reducing the risk of rejection and improving treatment outcomes.</a:t>
            </a:r>
          </a:p>
          <a:p>
            <a:pPr marL="381000" indent="-228600" algn="just">
              <a:buFont typeface="+mj-lt"/>
              <a:buAutoNum type="arabicPeriod"/>
            </a:pPr>
            <a:endParaRPr lang="en-US" sz="1200" dirty="0">
              <a:latin typeface="Montserrat Medium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81000" indent="-228600">
              <a:buFont typeface="+mj-lt"/>
              <a:buAutoNum type="arabicPeriod"/>
            </a:pPr>
            <a:r>
              <a:rPr lang="en-US" sz="1200" dirty="0"/>
              <a:t>Advantages of Autologous Stem Cell Therapy are:</a:t>
            </a:r>
          </a:p>
          <a:p>
            <a:pPr algn="just"/>
            <a:r>
              <a:rPr lang="en-US" sz="1200" dirty="0"/>
              <a:t>Reduced Risk of Rejection</a:t>
            </a:r>
          </a:p>
          <a:p>
            <a:pPr algn="just"/>
            <a:r>
              <a:rPr lang="en-US" sz="1200" dirty="0"/>
              <a:t>Personalized Treatment</a:t>
            </a:r>
          </a:p>
          <a:p>
            <a:pPr algn="just"/>
            <a:r>
              <a:rPr lang="en-US" sz="1200" dirty="0"/>
              <a:t>Fewer Side Effects</a:t>
            </a:r>
          </a:p>
          <a:p>
            <a:pPr algn="just"/>
            <a:endParaRPr lang="en-US" sz="1200" dirty="0">
              <a:latin typeface="Montserrat Medium" panose="020B0604020202020204" charset="0"/>
            </a:endParaRPr>
          </a:p>
          <a:p>
            <a:pPr marL="495300" indent="-342900">
              <a:buFont typeface="+mj-lt"/>
              <a:buAutoNum type="arabicPeriod" startAt="4"/>
            </a:pPr>
            <a:r>
              <a:rPr lang="en-US" sz="1200" dirty="0"/>
              <a:t>Can be used for:</a:t>
            </a:r>
          </a:p>
          <a:p>
            <a:r>
              <a:rPr lang="en-US" sz="1200" dirty="0"/>
              <a:t>Orthopedic Injuries</a:t>
            </a:r>
          </a:p>
          <a:p>
            <a:r>
              <a:rPr lang="en-US" sz="1200" dirty="0"/>
              <a:t>Hematological Conditions</a:t>
            </a:r>
          </a:p>
          <a:p>
            <a:r>
              <a:rPr lang="en-US" sz="1200" dirty="0"/>
              <a:t>Cardiovascular Diseases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87151E-4E78-49EB-A29D-DE80C3B9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50091"/>
            <a:ext cx="2692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8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1158225" y="1910771"/>
            <a:ext cx="3138300" cy="870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r>
              <a:rPr lang="en-US" sz="3600" dirty="0"/>
              <a:t>Autologous Stem Cell Therapy for Knee Cartilage Repair</a:t>
            </a:r>
          </a:p>
        </p:txBody>
      </p:sp>
      <p:pic>
        <p:nvPicPr>
          <p:cNvPr id="381" name="Google Shape;381;p45"/>
          <p:cNvPicPr preferRelativeResize="0"/>
          <p:nvPr/>
        </p:nvPicPr>
        <p:blipFill rotWithShape="1">
          <a:blip r:embed="rId3">
            <a:alphaModFix/>
          </a:blip>
          <a:srcRect l="15796" t="37680" r="15789" b="23092"/>
          <a:stretch/>
        </p:blipFill>
        <p:spPr>
          <a:xfrm>
            <a:off x="-758761" y="3491576"/>
            <a:ext cx="2195425" cy="12587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1E5D91A-7D63-4A6F-8042-7B079C366820}"/>
              </a:ext>
            </a:extLst>
          </p:cNvPr>
          <p:cNvGraphicFramePr/>
          <p:nvPr/>
        </p:nvGraphicFramePr>
        <p:xfrm>
          <a:off x="3871827" y="87376"/>
          <a:ext cx="6396638" cy="4517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72"/>
          <p:cNvPicPr preferRelativeResize="0"/>
          <p:nvPr/>
        </p:nvPicPr>
        <p:blipFill rotWithShape="1">
          <a:blip r:embed="rId3">
            <a:alphaModFix/>
          </a:blip>
          <a:srcRect l="2117" t="16584" r="32136" b="24377"/>
          <a:stretch/>
        </p:blipFill>
        <p:spPr>
          <a:xfrm rot="-5400000" flipH="1">
            <a:off x="6486526" y="142874"/>
            <a:ext cx="2800348" cy="25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72"/>
          <p:cNvSpPr txBox="1">
            <a:spLocks noGrp="1"/>
          </p:cNvSpPr>
          <p:nvPr>
            <p:ph type="title"/>
          </p:nvPr>
        </p:nvSpPr>
        <p:spPr>
          <a:xfrm>
            <a:off x="876750" y="1037575"/>
            <a:ext cx="39342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033" name="Google Shape;1033;p72"/>
          <p:cNvSpPr txBox="1">
            <a:spLocks noGrp="1"/>
          </p:cNvSpPr>
          <p:nvPr>
            <p:ph type="subTitle" idx="1"/>
          </p:nvPr>
        </p:nvSpPr>
        <p:spPr>
          <a:xfrm>
            <a:off x="876750" y="2331275"/>
            <a:ext cx="3934200" cy="13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 dirty="0">
                <a:latin typeface="Lato Light"/>
                <a:ea typeface="Lato Light"/>
                <a:cs typeface="Lato Light"/>
                <a:sym typeface="Lato Light"/>
              </a:rPr>
              <a:t>DO YOU HAVE</a:t>
            </a:r>
            <a:r>
              <a:rPr lang="en" sz="2100" b="1" dirty="0">
                <a:latin typeface="Lato"/>
                <a:ea typeface="Lato"/>
                <a:cs typeface="Lato"/>
                <a:sym typeface="Lato"/>
              </a:rPr>
              <a:t> ANY QUESTIONS? </a:t>
            </a:r>
            <a:endParaRPr sz="210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7" name="Google Shape;1037;p72"/>
          <p:cNvSpPr txBox="1"/>
          <p:nvPr/>
        </p:nvSpPr>
        <p:spPr>
          <a:xfrm>
            <a:off x="5177850" y="2515625"/>
            <a:ext cx="3089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Please keep this slide for attribution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7030DF-DB65-4B06-9F99-7EA8414749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2" b="18563"/>
          <a:stretch/>
        </p:blipFill>
        <p:spPr>
          <a:xfrm>
            <a:off x="5088890" y="1086992"/>
            <a:ext cx="2997164" cy="344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bout DNA Day by Slidesgo">
  <a:themeElements>
    <a:clrScheme name="Simple Light">
      <a:dk1>
        <a:srgbClr val="240916"/>
      </a:dk1>
      <a:lt1>
        <a:srgbClr val="FFFFFF"/>
      </a:lt1>
      <a:dk2>
        <a:srgbClr val="2A165D"/>
      </a:dk2>
      <a:lt2>
        <a:srgbClr val="95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5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418</Words>
  <Application>Microsoft Office PowerPoint</Application>
  <PresentationFormat>On-screen Show (16:9)</PresentationFormat>
  <Paragraphs>81</Paragraphs>
  <Slides>14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Lato Light</vt:lpstr>
      <vt:lpstr>Lato</vt:lpstr>
      <vt:lpstr>Arial</vt:lpstr>
      <vt:lpstr>Montserrat Medium</vt:lpstr>
      <vt:lpstr>Lato Black</vt:lpstr>
      <vt:lpstr>About DNA Day by Slidesgo</vt:lpstr>
      <vt:lpstr>PERSONALIZED MEDICINE AND  CELL-BASED THERAPIES</vt:lpstr>
      <vt:lpstr>TABLE OF CONTENT</vt:lpstr>
      <vt:lpstr>CELL BASED THERAPIES</vt:lpstr>
      <vt:lpstr>PowerPoint Presentation</vt:lpstr>
      <vt:lpstr>CAR T CELLS THERAPY</vt:lpstr>
      <vt:lpstr>CAR T CELLS THERAPY</vt:lpstr>
      <vt:lpstr>ADMINISTRATION OF CAR T CELLS</vt:lpstr>
      <vt:lpstr>FIRST PEDIATRIC PATIENT TO RECEIVE CAR T-CELL THERAPY</vt:lpstr>
      <vt:lpstr>LIMITATIONS</vt:lpstr>
      <vt:lpstr>PowerPoint Presentation</vt:lpstr>
      <vt:lpstr>AUTOLOGOUS STEM CELL THERAPIES</vt:lpstr>
      <vt:lpstr>AUTOLOGOUS STEM CELL THERAPIES</vt:lpstr>
      <vt:lpstr>Autologous Stem Cell Therapy for Knee Cartilage Repair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MEDICINE AND  CELL THERAPY</dc:title>
  <dc:creator>Imrana</dc:creator>
  <cp:lastModifiedBy>Esha Zaman</cp:lastModifiedBy>
  <cp:revision>16</cp:revision>
  <dcterms:modified xsi:type="dcterms:W3CDTF">2026-10-15T19:11:52Z</dcterms:modified>
</cp:coreProperties>
</file>